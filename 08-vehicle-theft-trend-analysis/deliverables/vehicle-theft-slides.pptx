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1"/>
    <p:restoredTop sz="97718"/>
  </p:normalViewPr>
  <p:slideViewPr>
    <p:cSldViewPr snapToGrid="0">
      <p:cViewPr>
        <p:scale>
          <a:sx n="130" d="100"/>
          <a:sy n="130" d="100"/>
        </p:scale>
        <p:origin x="1232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8057F9-FDD5-4203-A15B-330923CC488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AC62A8-F0F0-4E1B-848F-667DB22E74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Vehicle thefts have increased nationally</a:t>
          </a:r>
        </a:p>
      </dgm:t>
    </dgm:pt>
    <dgm:pt modelId="{E3D3CCD4-44A5-411C-9787-16562CEAFF76}" type="parTrans" cxnId="{A8DA6AAC-52C5-410E-B3BA-9663C4A4BC41}">
      <dgm:prSet/>
      <dgm:spPr/>
      <dgm:t>
        <a:bodyPr/>
        <a:lstStyle/>
        <a:p>
          <a:endParaRPr lang="en-US"/>
        </a:p>
      </dgm:t>
    </dgm:pt>
    <dgm:pt modelId="{E0717B6D-6156-40C0-B0E5-0F464067F53F}" type="sibTrans" cxnId="{A8DA6AAC-52C5-410E-B3BA-9663C4A4BC41}">
      <dgm:prSet/>
      <dgm:spPr/>
      <dgm:t>
        <a:bodyPr/>
        <a:lstStyle/>
        <a:p>
          <a:endParaRPr lang="en-US"/>
        </a:p>
      </dgm:t>
    </dgm:pt>
    <dgm:pt modelId="{D96C8D16-C6E2-42DF-AE01-C1FDA836DD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Kia and Hyundai thefts show a distinct growth pattern</a:t>
          </a:r>
        </a:p>
      </dgm:t>
    </dgm:pt>
    <dgm:pt modelId="{07F53771-65EE-4288-8C03-B3A17990331F}" type="parTrans" cxnId="{84F3EC6D-EC79-4543-9C05-BCA073927762}">
      <dgm:prSet/>
      <dgm:spPr/>
      <dgm:t>
        <a:bodyPr/>
        <a:lstStyle/>
        <a:p>
          <a:endParaRPr lang="en-US"/>
        </a:p>
      </dgm:t>
    </dgm:pt>
    <dgm:pt modelId="{DF2A4043-0A38-40BE-8417-A314BB38C8F6}" type="sibTrans" cxnId="{84F3EC6D-EC79-4543-9C05-BCA073927762}">
      <dgm:prSet/>
      <dgm:spPr/>
      <dgm:t>
        <a:bodyPr/>
        <a:lstStyle/>
        <a:p>
          <a:endParaRPr lang="en-US"/>
        </a:p>
      </dgm:t>
    </dgm:pt>
    <dgm:pt modelId="{25319036-B018-4DBC-B015-9687361952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Impact is concentrated in specific cities</a:t>
          </a:r>
        </a:p>
      </dgm:t>
    </dgm:pt>
    <dgm:pt modelId="{D60456A4-D170-4986-89B9-48533505873F}" type="parTrans" cxnId="{11BA0F56-24FB-4CD2-830D-E0E16A3B0308}">
      <dgm:prSet/>
      <dgm:spPr/>
      <dgm:t>
        <a:bodyPr/>
        <a:lstStyle/>
        <a:p>
          <a:endParaRPr lang="en-US"/>
        </a:p>
      </dgm:t>
    </dgm:pt>
    <dgm:pt modelId="{BC861B20-810E-4641-9A8B-CEDDEB3B084F}" type="sibTrans" cxnId="{11BA0F56-24FB-4CD2-830D-E0E16A3B0308}">
      <dgm:prSet/>
      <dgm:spPr/>
      <dgm:t>
        <a:bodyPr/>
        <a:lstStyle/>
        <a:p>
          <a:endParaRPr lang="en-US"/>
        </a:p>
      </dgm:t>
    </dgm:pt>
    <dgm:pt modelId="{AECAB633-1F3E-4DE5-A66D-D094A43AC546}" type="pres">
      <dgm:prSet presAssocID="{7A8057F9-FDD5-4203-A15B-330923CC488B}" presName="root" presStyleCnt="0">
        <dgm:presLayoutVars>
          <dgm:dir/>
          <dgm:resizeHandles val="exact"/>
        </dgm:presLayoutVars>
      </dgm:prSet>
      <dgm:spPr/>
    </dgm:pt>
    <dgm:pt modelId="{9C19FC4C-9675-4544-84C1-F390F4AFB031}" type="pres">
      <dgm:prSet presAssocID="{4DAC62A8-F0F0-4E1B-848F-667DB22E7409}" presName="compNode" presStyleCnt="0"/>
      <dgm:spPr/>
    </dgm:pt>
    <dgm:pt modelId="{9563D430-571E-470B-9C3D-A818AF2AA3C6}" type="pres">
      <dgm:prSet presAssocID="{4DAC62A8-F0F0-4E1B-848F-667DB22E7409}" presName="bgRect" presStyleLbl="bgShp" presStyleIdx="0" presStyleCnt="3"/>
      <dgm:spPr/>
    </dgm:pt>
    <dgm:pt modelId="{93A71F53-75AD-4E29-9697-C94EEC1639C3}" type="pres">
      <dgm:prSet presAssocID="{4DAC62A8-F0F0-4E1B-848F-667DB22E74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520A2C26-F3BB-4D69-8A8B-B30D450DFD55}" type="pres">
      <dgm:prSet presAssocID="{4DAC62A8-F0F0-4E1B-848F-667DB22E7409}" presName="spaceRect" presStyleCnt="0"/>
      <dgm:spPr/>
    </dgm:pt>
    <dgm:pt modelId="{24A13D0F-243C-426D-AA0C-72E34272153F}" type="pres">
      <dgm:prSet presAssocID="{4DAC62A8-F0F0-4E1B-848F-667DB22E7409}" presName="parTx" presStyleLbl="revTx" presStyleIdx="0" presStyleCnt="3">
        <dgm:presLayoutVars>
          <dgm:chMax val="0"/>
          <dgm:chPref val="0"/>
        </dgm:presLayoutVars>
      </dgm:prSet>
      <dgm:spPr/>
    </dgm:pt>
    <dgm:pt modelId="{6C14D6BD-EB27-4749-8695-839BF21A15BB}" type="pres">
      <dgm:prSet presAssocID="{E0717B6D-6156-40C0-B0E5-0F464067F53F}" presName="sibTrans" presStyleCnt="0"/>
      <dgm:spPr/>
    </dgm:pt>
    <dgm:pt modelId="{528D150C-8292-485A-AB61-7D4FBE74CE9A}" type="pres">
      <dgm:prSet presAssocID="{D96C8D16-C6E2-42DF-AE01-C1FDA836DD2E}" presName="compNode" presStyleCnt="0"/>
      <dgm:spPr/>
    </dgm:pt>
    <dgm:pt modelId="{49A2DF1B-77ED-4B43-BC6F-A9C61A6A0CCD}" type="pres">
      <dgm:prSet presAssocID="{D96C8D16-C6E2-42DF-AE01-C1FDA836DD2E}" presName="bgRect" presStyleLbl="bgShp" presStyleIdx="1" presStyleCnt="3"/>
      <dgm:spPr/>
    </dgm:pt>
    <dgm:pt modelId="{9301195B-DD68-479D-8028-C2E10A5AB76E}" type="pres">
      <dgm:prSet presAssocID="{D96C8D16-C6E2-42DF-AE01-C1FDA836DD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B15768C-312B-4B35-B5CE-21F593E3FEDC}" type="pres">
      <dgm:prSet presAssocID="{D96C8D16-C6E2-42DF-AE01-C1FDA836DD2E}" presName="spaceRect" presStyleCnt="0"/>
      <dgm:spPr/>
    </dgm:pt>
    <dgm:pt modelId="{9E93681A-5DF4-443D-B739-93FAC02728E7}" type="pres">
      <dgm:prSet presAssocID="{D96C8D16-C6E2-42DF-AE01-C1FDA836DD2E}" presName="parTx" presStyleLbl="revTx" presStyleIdx="1" presStyleCnt="3">
        <dgm:presLayoutVars>
          <dgm:chMax val="0"/>
          <dgm:chPref val="0"/>
        </dgm:presLayoutVars>
      </dgm:prSet>
      <dgm:spPr/>
    </dgm:pt>
    <dgm:pt modelId="{296BB08E-9867-4A3E-BC68-DF4C46FB11B9}" type="pres">
      <dgm:prSet presAssocID="{DF2A4043-0A38-40BE-8417-A314BB38C8F6}" presName="sibTrans" presStyleCnt="0"/>
      <dgm:spPr/>
    </dgm:pt>
    <dgm:pt modelId="{F297FF28-F916-4277-B61D-FA88C8B43261}" type="pres">
      <dgm:prSet presAssocID="{25319036-B018-4DBC-B015-968736195298}" presName="compNode" presStyleCnt="0"/>
      <dgm:spPr/>
    </dgm:pt>
    <dgm:pt modelId="{B76AABC7-C610-4CC8-9AAB-738BCDF6F8A1}" type="pres">
      <dgm:prSet presAssocID="{25319036-B018-4DBC-B015-968736195298}" presName="bgRect" presStyleLbl="bgShp" presStyleIdx="2" presStyleCnt="3"/>
      <dgm:spPr/>
    </dgm:pt>
    <dgm:pt modelId="{16FBD37C-B165-4DD1-8CDF-EFACEF45CD75}" type="pres">
      <dgm:prSet presAssocID="{25319036-B018-4DBC-B015-96873619529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2689DEA1-72D5-43C1-9D2A-C64C7CB50496}" type="pres">
      <dgm:prSet presAssocID="{25319036-B018-4DBC-B015-968736195298}" presName="spaceRect" presStyleCnt="0"/>
      <dgm:spPr/>
    </dgm:pt>
    <dgm:pt modelId="{CA045F3E-CCEB-4308-B33D-9F899B2AC68A}" type="pres">
      <dgm:prSet presAssocID="{25319036-B018-4DBC-B015-96873619529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E0DC70B-CF36-422F-9927-6E08BFB6E630}" type="presOf" srcId="{D96C8D16-C6E2-42DF-AE01-C1FDA836DD2E}" destId="{9E93681A-5DF4-443D-B739-93FAC02728E7}" srcOrd="0" destOrd="0" presId="urn:microsoft.com/office/officeart/2018/2/layout/IconVerticalSolidList"/>
    <dgm:cxn modelId="{5789E22D-997B-4889-BA60-4B97FCE72B29}" type="presOf" srcId="{7A8057F9-FDD5-4203-A15B-330923CC488B}" destId="{AECAB633-1F3E-4DE5-A66D-D094A43AC546}" srcOrd="0" destOrd="0" presId="urn:microsoft.com/office/officeart/2018/2/layout/IconVerticalSolidList"/>
    <dgm:cxn modelId="{11BA0F56-24FB-4CD2-830D-E0E16A3B0308}" srcId="{7A8057F9-FDD5-4203-A15B-330923CC488B}" destId="{25319036-B018-4DBC-B015-968736195298}" srcOrd="2" destOrd="0" parTransId="{D60456A4-D170-4986-89B9-48533505873F}" sibTransId="{BC861B20-810E-4641-9A8B-CEDDEB3B084F}"/>
    <dgm:cxn modelId="{84F3EC6D-EC79-4543-9C05-BCA073927762}" srcId="{7A8057F9-FDD5-4203-A15B-330923CC488B}" destId="{D96C8D16-C6E2-42DF-AE01-C1FDA836DD2E}" srcOrd="1" destOrd="0" parTransId="{07F53771-65EE-4288-8C03-B3A17990331F}" sibTransId="{DF2A4043-0A38-40BE-8417-A314BB38C8F6}"/>
    <dgm:cxn modelId="{3939CE6F-85E2-4586-8690-354054492C7B}" type="presOf" srcId="{25319036-B018-4DBC-B015-968736195298}" destId="{CA045F3E-CCEB-4308-B33D-9F899B2AC68A}" srcOrd="0" destOrd="0" presId="urn:microsoft.com/office/officeart/2018/2/layout/IconVerticalSolidList"/>
    <dgm:cxn modelId="{8005CDA1-4D65-45CE-BE07-AC73000B52E7}" type="presOf" srcId="{4DAC62A8-F0F0-4E1B-848F-667DB22E7409}" destId="{24A13D0F-243C-426D-AA0C-72E34272153F}" srcOrd="0" destOrd="0" presId="urn:microsoft.com/office/officeart/2018/2/layout/IconVerticalSolidList"/>
    <dgm:cxn modelId="{A8DA6AAC-52C5-410E-B3BA-9663C4A4BC41}" srcId="{7A8057F9-FDD5-4203-A15B-330923CC488B}" destId="{4DAC62A8-F0F0-4E1B-848F-667DB22E7409}" srcOrd="0" destOrd="0" parTransId="{E3D3CCD4-44A5-411C-9787-16562CEAFF76}" sibTransId="{E0717B6D-6156-40C0-B0E5-0F464067F53F}"/>
    <dgm:cxn modelId="{9FFC1A0D-F450-4CB8-A50D-6F3B7263FC90}" type="presParOf" srcId="{AECAB633-1F3E-4DE5-A66D-D094A43AC546}" destId="{9C19FC4C-9675-4544-84C1-F390F4AFB031}" srcOrd="0" destOrd="0" presId="urn:microsoft.com/office/officeart/2018/2/layout/IconVerticalSolidList"/>
    <dgm:cxn modelId="{4F6C17CC-5B05-41C1-B568-1958FB1979B1}" type="presParOf" srcId="{9C19FC4C-9675-4544-84C1-F390F4AFB031}" destId="{9563D430-571E-470B-9C3D-A818AF2AA3C6}" srcOrd="0" destOrd="0" presId="urn:microsoft.com/office/officeart/2018/2/layout/IconVerticalSolidList"/>
    <dgm:cxn modelId="{7518F374-9D78-4A80-96A2-D6CB0D253B63}" type="presParOf" srcId="{9C19FC4C-9675-4544-84C1-F390F4AFB031}" destId="{93A71F53-75AD-4E29-9697-C94EEC1639C3}" srcOrd="1" destOrd="0" presId="urn:microsoft.com/office/officeart/2018/2/layout/IconVerticalSolidList"/>
    <dgm:cxn modelId="{B6463647-39CF-47E4-8534-0FE95D402602}" type="presParOf" srcId="{9C19FC4C-9675-4544-84C1-F390F4AFB031}" destId="{520A2C26-F3BB-4D69-8A8B-B30D450DFD55}" srcOrd="2" destOrd="0" presId="urn:microsoft.com/office/officeart/2018/2/layout/IconVerticalSolidList"/>
    <dgm:cxn modelId="{62404E53-75D8-4B2D-8C2F-EEBEC1C33A7F}" type="presParOf" srcId="{9C19FC4C-9675-4544-84C1-F390F4AFB031}" destId="{24A13D0F-243C-426D-AA0C-72E34272153F}" srcOrd="3" destOrd="0" presId="urn:microsoft.com/office/officeart/2018/2/layout/IconVerticalSolidList"/>
    <dgm:cxn modelId="{0B04D3CE-929A-4D27-B5CD-6E344EC3F59B}" type="presParOf" srcId="{AECAB633-1F3E-4DE5-A66D-D094A43AC546}" destId="{6C14D6BD-EB27-4749-8695-839BF21A15BB}" srcOrd="1" destOrd="0" presId="urn:microsoft.com/office/officeart/2018/2/layout/IconVerticalSolidList"/>
    <dgm:cxn modelId="{1639BC47-4F4F-46D8-AFAA-BFA003F7A394}" type="presParOf" srcId="{AECAB633-1F3E-4DE5-A66D-D094A43AC546}" destId="{528D150C-8292-485A-AB61-7D4FBE74CE9A}" srcOrd="2" destOrd="0" presId="urn:microsoft.com/office/officeart/2018/2/layout/IconVerticalSolidList"/>
    <dgm:cxn modelId="{380773BD-AE12-4393-A83C-B4F68DF45DD1}" type="presParOf" srcId="{528D150C-8292-485A-AB61-7D4FBE74CE9A}" destId="{49A2DF1B-77ED-4B43-BC6F-A9C61A6A0CCD}" srcOrd="0" destOrd="0" presId="urn:microsoft.com/office/officeart/2018/2/layout/IconVerticalSolidList"/>
    <dgm:cxn modelId="{D2132BF0-1EE9-4D10-AD51-B258B6E376F8}" type="presParOf" srcId="{528D150C-8292-485A-AB61-7D4FBE74CE9A}" destId="{9301195B-DD68-479D-8028-C2E10A5AB76E}" srcOrd="1" destOrd="0" presId="urn:microsoft.com/office/officeart/2018/2/layout/IconVerticalSolidList"/>
    <dgm:cxn modelId="{6911A56A-2D93-4CC0-A6D2-7E90C3BB6952}" type="presParOf" srcId="{528D150C-8292-485A-AB61-7D4FBE74CE9A}" destId="{4B15768C-312B-4B35-B5CE-21F593E3FEDC}" srcOrd="2" destOrd="0" presId="urn:microsoft.com/office/officeart/2018/2/layout/IconVerticalSolidList"/>
    <dgm:cxn modelId="{9FCE21C4-3810-4E13-AED5-60301C001CFB}" type="presParOf" srcId="{528D150C-8292-485A-AB61-7D4FBE74CE9A}" destId="{9E93681A-5DF4-443D-B739-93FAC02728E7}" srcOrd="3" destOrd="0" presId="urn:microsoft.com/office/officeart/2018/2/layout/IconVerticalSolidList"/>
    <dgm:cxn modelId="{75869A58-8A82-4383-8A0C-598B4CAB9C13}" type="presParOf" srcId="{AECAB633-1F3E-4DE5-A66D-D094A43AC546}" destId="{296BB08E-9867-4A3E-BC68-DF4C46FB11B9}" srcOrd="3" destOrd="0" presId="urn:microsoft.com/office/officeart/2018/2/layout/IconVerticalSolidList"/>
    <dgm:cxn modelId="{D6EBA4F4-EEAB-4365-8F92-A7A0042B339F}" type="presParOf" srcId="{AECAB633-1F3E-4DE5-A66D-D094A43AC546}" destId="{F297FF28-F916-4277-B61D-FA88C8B43261}" srcOrd="4" destOrd="0" presId="urn:microsoft.com/office/officeart/2018/2/layout/IconVerticalSolidList"/>
    <dgm:cxn modelId="{3CF7949F-E69D-4C31-8755-85D03541EF5B}" type="presParOf" srcId="{F297FF28-F916-4277-B61D-FA88C8B43261}" destId="{B76AABC7-C610-4CC8-9AAB-738BCDF6F8A1}" srcOrd="0" destOrd="0" presId="urn:microsoft.com/office/officeart/2018/2/layout/IconVerticalSolidList"/>
    <dgm:cxn modelId="{BFEEC094-C88B-4BAB-B9B3-FF43DE1A96E1}" type="presParOf" srcId="{F297FF28-F916-4277-B61D-FA88C8B43261}" destId="{16FBD37C-B165-4DD1-8CDF-EFACEF45CD75}" srcOrd="1" destOrd="0" presId="urn:microsoft.com/office/officeart/2018/2/layout/IconVerticalSolidList"/>
    <dgm:cxn modelId="{326E7CD5-9863-4133-830F-D7CF6FFC2529}" type="presParOf" srcId="{F297FF28-F916-4277-B61D-FA88C8B43261}" destId="{2689DEA1-72D5-43C1-9D2A-C64C7CB50496}" srcOrd="2" destOrd="0" presId="urn:microsoft.com/office/officeart/2018/2/layout/IconVerticalSolidList"/>
    <dgm:cxn modelId="{655EBB44-104D-450C-A409-3D2845F9FDCE}" type="presParOf" srcId="{F297FF28-F916-4277-B61D-FA88C8B43261}" destId="{CA045F3E-CCEB-4308-B33D-9F899B2AC6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834719-F30F-4D71-85FA-DFFA8587631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D7B284-C4FC-4F32-B712-11EB28B6C2DD}">
      <dgm:prSet/>
      <dgm:spPr/>
      <dgm:t>
        <a:bodyPr/>
        <a:lstStyle/>
        <a:p>
          <a:r>
            <a:rPr lang="en-US"/>
            <a:t>Expand steering-wheel lock distribution in high-risk areas</a:t>
          </a:r>
        </a:p>
      </dgm:t>
    </dgm:pt>
    <dgm:pt modelId="{2F76F206-2FFF-41AC-BAD1-27EE4E467F1D}" type="parTrans" cxnId="{70F13851-A346-4E2F-9400-95988B32C8AF}">
      <dgm:prSet/>
      <dgm:spPr/>
      <dgm:t>
        <a:bodyPr/>
        <a:lstStyle/>
        <a:p>
          <a:endParaRPr lang="en-US"/>
        </a:p>
      </dgm:t>
    </dgm:pt>
    <dgm:pt modelId="{DDA54E41-40DD-4691-B036-06C59C8CC984}" type="sibTrans" cxnId="{70F13851-A346-4E2F-9400-95988B32C8A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9C5F779-9164-4DAF-B248-86F48DF2ED92}">
      <dgm:prSet/>
      <dgm:spPr/>
      <dgm:t>
        <a:bodyPr/>
        <a:lstStyle/>
        <a:p>
          <a:r>
            <a:rPr lang="en-US"/>
            <a:t>Adjust patrol allocation during peak theft periods</a:t>
          </a:r>
        </a:p>
      </dgm:t>
    </dgm:pt>
    <dgm:pt modelId="{4AC52058-17EB-4D58-89AE-230760ECB90C}" type="parTrans" cxnId="{1A6F0CA2-71AF-496D-AFB3-3D3527EAC711}">
      <dgm:prSet/>
      <dgm:spPr/>
      <dgm:t>
        <a:bodyPr/>
        <a:lstStyle/>
        <a:p>
          <a:endParaRPr lang="en-US"/>
        </a:p>
      </dgm:t>
    </dgm:pt>
    <dgm:pt modelId="{1F7D4528-63AC-49D0-9401-ED6F55DB7751}" type="sibTrans" cxnId="{1A6F0CA2-71AF-496D-AFB3-3D3527EAC71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64952E6-5212-4668-808A-889C3BB8696A}">
      <dgm:prSet/>
      <dgm:spPr/>
      <dgm:t>
        <a:bodyPr/>
        <a:lstStyle/>
        <a:p>
          <a:r>
            <a:rPr lang="en-US"/>
            <a:t>Deploy localized public awareness campaigns</a:t>
          </a:r>
        </a:p>
      </dgm:t>
    </dgm:pt>
    <dgm:pt modelId="{8F8209F6-6E39-438D-9356-D7F544220BE3}" type="parTrans" cxnId="{1927CF75-6BFC-4233-9C33-54EC51AFD59F}">
      <dgm:prSet/>
      <dgm:spPr/>
      <dgm:t>
        <a:bodyPr/>
        <a:lstStyle/>
        <a:p>
          <a:endParaRPr lang="en-US"/>
        </a:p>
      </dgm:t>
    </dgm:pt>
    <dgm:pt modelId="{BF097C47-A48A-4389-811F-3EC529928E3F}" type="sibTrans" cxnId="{1927CF75-6BFC-4233-9C33-54EC51AFD59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2F6C623-63F3-8142-8CD5-5744D0811666}" type="pres">
      <dgm:prSet presAssocID="{F5834719-F30F-4D71-85FA-DFFA8587631B}" presName="Name0" presStyleCnt="0">
        <dgm:presLayoutVars>
          <dgm:animLvl val="lvl"/>
          <dgm:resizeHandles val="exact"/>
        </dgm:presLayoutVars>
      </dgm:prSet>
      <dgm:spPr/>
    </dgm:pt>
    <dgm:pt modelId="{162F2D58-31CB-CF41-9CE2-3D24232DA773}" type="pres">
      <dgm:prSet presAssocID="{F7D7B284-C4FC-4F32-B712-11EB28B6C2DD}" presName="compositeNode" presStyleCnt="0">
        <dgm:presLayoutVars>
          <dgm:bulletEnabled val="1"/>
        </dgm:presLayoutVars>
      </dgm:prSet>
      <dgm:spPr/>
    </dgm:pt>
    <dgm:pt modelId="{6812C39F-EFE0-334C-9311-3F3C734B0D52}" type="pres">
      <dgm:prSet presAssocID="{F7D7B284-C4FC-4F32-B712-11EB28B6C2DD}" presName="bgRect" presStyleLbl="bgAccFollowNode1" presStyleIdx="0" presStyleCnt="3"/>
      <dgm:spPr/>
    </dgm:pt>
    <dgm:pt modelId="{861FF8BD-CA40-C647-891A-FFB9A02B8766}" type="pres">
      <dgm:prSet presAssocID="{DDA54E41-40DD-4691-B036-06C59C8CC98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4A06C327-BEC6-AF42-B987-CCCB384C6544}" type="pres">
      <dgm:prSet presAssocID="{F7D7B284-C4FC-4F32-B712-11EB28B6C2DD}" presName="bottomLine" presStyleLbl="alignNode1" presStyleIdx="1" presStyleCnt="6">
        <dgm:presLayoutVars/>
      </dgm:prSet>
      <dgm:spPr/>
    </dgm:pt>
    <dgm:pt modelId="{9EFABA0D-A938-EF45-B9DB-64D5D9946EEF}" type="pres">
      <dgm:prSet presAssocID="{F7D7B284-C4FC-4F32-B712-11EB28B6C2DD}" presName="nodeText" presStyleLbl="bgAccFollowNode1" presStyleIdx="0" presStyleCnt="3">
        <dgm:presLayoutVars>
          <dgm:bulletEnabled val="1"/>
        </dgm:presLayoutVars>
      </dgm:prSet>
      <dgm:spPr/>
    </dgm:pt>
    <dgm:pt modelId="{F0C0AC93-07F2-FB4F-B088-E9FF3D24CB2A}" type="pres">
      <dgm:prSet presAssocID="{DDA54E41-40DD-4691-B036-06C59C8CC984}" presName="sibTrans" presStyleCnt="0"/>
      <dgm:spPr/>
    </dgm:pt>
    <dgm:pt modelId="{014A0A5D-6E72-FA4D-A8DE-19291B67CC7E}" type="pres">
      <dgm:prSet presAssocID="{19C5F779-9164-4DAF-B248-86F48DF2ED92}" presName="compositeNode" presStyleCnt="0">
        <dgm:presLayoutVars>
          <dgm:bulletEnabled val="1"/>
        </dgm:presLayoutVars>
      </dgm:prSet>
      <dgm:spPr/>
    </dgm:pt>
    <dgm:pt modelId="{2DEFD5C3-EFE2-4748-A013-3272AED877EE}" type="pres">
      <dgm:prSet presAssocID="{19C5F779-9164-4DAF-B248-86F48DF2ED92}" presName="bgRect" presStyleLbl="bgAccFollowNode1" presStyleIdx="1" presStyleCnt="3"/>
      <dgm:spPr/>
    </dgm:pt>
    <dgm:pt modelId="{47BCCB05-B62F-D94F-8B26-FF1C01251DE2}" type="pres">
      <dgm:prSet presAssocID="{1F7D4528-63AC-49D0-9401-ED6F55DB7751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9A59E0F-D77A-F44E-B4A1-581C98E62A05}" type="pres">
      <dgm:prSet presAssocID="{19C5F779-9164-4DAF-B248-86F48DF2ED92}" presName="bottomLine" presStyleLbl="alignNode1" presStyleIdx="3" presStyleCnt="6">
        <dgm:presLayoutVars/>
      </dgm:prSet>
      <dgm:spPr/>
    </dgm:pt>
    <dgm:pt modelId="{4D332084-694D-D447-B1CA-7C273170E57D}" type="pres">
      <dgm:prSet presAssocID="{19C5F779-9164-4DAF-B248-86F48DF2ED92}" presName="nodeText" presStyleLbl="bgAccFollowNode1" presStyleIdx="1" presStyleCnt="3">
        <dgm:presLayoutVars>
          <dgm:bulletEnabled val="1"/>
        </dgm:presLayoutVars>
      </dgm:prSet>
      <dgm:spPr/>
    </dgm:pt>
    <dgm:pt modelId="{8E8716A9-AF96-6841-AE1E-4F483A9E5AD7}" type="pres">
      <dgm:prSet presAssocID="{1F7D4528-63AC-49D0-9401-ED6F55DB7751}" presName="sibTrans" presStyleCnt="0"/>
      <dgm:spPr/>
    </dgm:pt>
    <dgm:pt modelId="{3DDECAB2-07C6-354B-BF4C-C43B2EABAB79}" type="pres">
      <dgm:prSet presAssocID="{164952E6-5212-4668-808A-889C3BB8696A}" presName="compositeNode" presStyleCnt="0">
        <dgm:presLayoutVars>
          <dgm:bulletEnabled val="1"/>
        </dgm:presLayoutVars>
      </dgm:prSet>
      <dgm:spPr/>
    </dgm:pt>
    <dgm:pt modelId="{DD1B79DE-0E4E-4E49-B096-A491E3B6B7A4}" type="pres">
      <dgm:prSet presAssocID="{164952E6-5212-4668-808A-889C3BB8696A}" presName="bgRect" presStyleLbl="bgAccFollowNode1" presStyleIdx="2" presStyleCnt="3"/>
      <dgm:spPr/>
    </dgm:pt>
    <dgm:pt modelId="{54728320-9A50-C944-AAA4-309E14510CE3}" type="pres">
      <dgm:prSet presAssocID="{BF097C47-A48A-4389-811F-3EC529928E3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5870D227-B348-D247-88A2-6B3C7A400B03}" type="pres">
      <dgm:prSet presAssocID="{164952E6-5212-4668-808A-889C3BB8696A}" presName="bottomLine" presStyleLbl="alignNode1" presStyleIdx="5" presStyleCnt="6">
        <dgm:presLayoutVars/>
      </dgm:prSet>
      <dgm:spPr/>
    </dgm:pt>
    <dgm:pt modelId="{1AB4F507-2FBC-5A48-9EC9-558E22CB626B}" type="pres">
      <dgm:prSet presAssocID="{164952E6-5212-4668-808A-889C3BB8696A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2270AA13-BEBB-3548-A9F1-9B24C9DD180D}" type="presOf" srcId="{164952E6-5212-4668-808A-889C3BB8696A}" destId="{DD1B79DE-0E4E-4E49-B096-A491E3B6B7A4}" srcOrd="0" destOrd="0" presId="urn:microsoft.com/office/officeart/2016/7/layout/BasicLinearProcessNumbered"/>
    <dgm:cxn modelId="{FB400821-120D-0248-82D0-0C84BE91A5A4}" type="presOf" srcId="{DDA54E41-40DD-4691-B036-06C59C8CC984}" destId="{861FF8BD-CA40-C647-891A-FFB9A02B8766}" srcOrd="0" destOrd="0" presId="urn:microsoft.com/office/officeart/2016/7/layout/BasicLinearProcessNumbered"/>
    <dgm:cxn modelId="{001E9935-357F-9143-8BDE-D6DC24F29441}" type="presOf" srcId="{F7D7B284-C4FC-4F32-B712-11EB28B6C2DD}" destId="{9EFABA0D-A938-EF45-B9DB-64D5D9946EEF}" srcOrd="1" destOrd="0" presId="urn:microsoft.com/office/officeart/2016/7/layout/BasicLinearProcessNumbered"/>
    <dgm:cxn modelId="{D2A8AA35-35BC-C443-8909-118C54349952}" type="presOf" srcId="{F5834719-F30F-4D71-85FA-DFFA8587631B}" destId="{D2F6C623-63F3-8142-8CD5-5744D0811666}" srcOrd="0" destOrd="0" presId="urn:microsoft.com/office/officeart/2016/7/layout/BasicLinearProcessNumbered"/>
    <dgm:cxn modelId="{70F13851-A346-4E2F-9400-95988B32C8AF}" srcId="{F5834719-F30F-4D71-85FA-DFFA8587631B}" destId="{F7D7B284-C4FC-4F32-B712-11EB28B6C2DD}" srcOrd="0" destOrd="0" parTransId="{2F76F206-2FFF-41AC-BAD1-27EE4E467F1D}" sibTransId="{DDA54E41-40DD-4691-B036-06C59C8CC984}"/>
    <dgm:cxn modelId="{D12F5F60-B313-BF45-B099-338702DB90DB}" type="presOf" srcId="{164952E6-5212-4668-808A-889C3BB8696A}" destId="{1AB4F507-2FBC-5A48-9EC9-558E22CB626B}" srcOrd="1" destOrd="0" presId="urn:microsoft.com/office/officeart/2016/7/layout/BasicLinearProcessNumbered"/>
    <dgm:cxn modelId="{1927CF75-6BFC-4233-9C33-54EC51AFD59F}" srcId="{F5834719-F30F-4D71-85FA-DFFA8587631B}" destId="{164952E6-5212-4668-808A-889C3BB8696A}" srcOrd="2" destOrd="0" parTransId="{8F8209F6-6E39-438D-9356-D7F544220BE3}" sibTransId="{BF097C47-A48A-4389-811F-3EC529928E3F}"/>
    <dgm:cxn modelId="{6BCCE57F-7A49-E84E-83CC-E60706018932}" type="presOf" srcId="{BF097C47-A48A-4389-811F-3EC529928E3F}" destId="{54728320-9A50-C944-AAA4-309E14510CE3}" srcOrd="0" destOrd="0" presId="urn:microsoft.com/office/officeart/2016/7/layout/BasicLinearProcessNumbered"/>
    <dgm:cxn modelId="{1A6F0CA2-71AF-496D-AFB3-3D3527EAC711}" srcId="{F5834719-F30F-4D71-85FA-DFFA8587631B}" destId="{19C5F779-9164-4DAF-B248-86F48DF2ED92}" srcOrd="1" destOrd="0" parTransId="{4AC52058-17EB-4D58-89AE-230760ECB90C}" sibTransId="{1F7D4528-63AC-49D0-9401-ED6F55DB7751}"/>
    <dgm:cxn modelId="{59CF67A4-6FD3-9740-964A-7DB3167AC098}" type="presOf" srcId="{1F7D4528-63AC-49D0-9401-ED6F55DB7751}" destId="{47BCCB05-B62F-D94F-8B26-FF1C01251DE2}" srcOrd="0" destOrd="0" presId="urn:microsoft.com/office/officeart/2016/7/layout/BasicLinearProcessNumbered"/>
    <dgm:cxn modelId="{F3B120BD-FFC5-1C45-A6C6-DA8D143C8C80}" type="presOf" srcId="{19C5F779-9164-4DAF-B248-86F48DF2ED92}" destId="{4D332084-694D-D447-B1CA-7C273170E57D}" srcOrd="1" destOrd="0" presId="urn:microsoft.com/office/officeart/2016/7/layout/BasicLinearProcessNumbered"/>
    <dgm:cxn modelId="{1F1B37E4-8C68-3146-B1F1-CFE111F9D526}" type="presOf" srcId="{F7D7B284-C4FC-4F32-B712-11EB28B6C2DD}" destId="{6812C39F-EFE0-334C-9311-3F3C734B0D52}" srcOrd="0" destOrd="0" presId="urn:microsoft.com/office/officeart/2016/7/layout/BasicLinearProcessNumbered"/>
    <dgm:cxn modelId="{D9481DE5-CF62-1E48-9BE7-AF53F107BC76}" type="presOf" srcId="{19C5F779-9164-4DAF-B248-86F48DF2ED92}" destId="{2DEFD5C3-EFE2-4748-A013-3272AED877EE}" srcOrd="0" destOrd="0" presId="urn:microsoft.com/office/officeart/2016/7/layout/BasicLinearProcessNumbered"/>
    <dgm:cxn modelId="{36A81A26-F6C4-D842-B0F8-6BAF4211854A}" type="presParOf" srcId="{D2F6C623-63F3-8142-8CD5-5744D0811666}" destId="{162F2D58-31CB-CF41-9CE2-3D24232DA773}" srcOrd="0" destOrd="0" presId="urn:microsoft.com/office/officeart/2016/7/layout/BasicLinearProcessNumbered"/>
    <dgm:cxn modelId="{193FE517-96CA-1E4A-8617-63C692CA8175}" type="presParOf" srcId="{162F2D58-31CB-CF41-9CE2-3D24232DA773}" destId="{6812C39F-EFE0-334C-9311-3F3C734B0D52}" srcOrd="0" destOrd="0" presId="urn:microsoft.com/office/officeart/2016/7/layout/BasicLinearProcessNumbered"/>
    <dgm:cxn modelId="{380422DE-9FC5-7641-A716-FC86359118DB}" type="presParOf" srcId="{162F2D58-31CB-CF41-9CE2-3D24232DA773}" destId="{861FF8BD-CA40-C647-891A-FFB9A02B8766}" srcOrd="1" destOrd="0" presId="urn:microsoft.com/office/officeart/2016/7/layout/BasicLinearProcessNumbered"/>
    <dgm:cxn modelId="{E66389B8-DD00-134D-AB2B-2F2DE14D2110}" type="presParOf" srcId="{162F2D58-31CB-CF41-9CE2-3D24232DA773}" destId="{4A06C327-BEC6-AF42-B987-CCCB384C6544}" srcOrd="2" destOrd="0" presId="urn:microsoft.com/office/officeart/2016/7/layout/BasicLinearProcessNumbered"/>
    <dgm:cxn modelId="{038EB258-F170-0F48-9C58-993B924A00C7}" type="presParOf" srcId="{162F2D58-31CB-CF41-9CE2-3D24232DA773}" destId="{9EFABA0D-A938-EF45-B9DB-64D5D9946EEF}" srcOrd="3" destOrd="0" presId="urn:microsoft.com/office/officeart/2016/7/layout/BasicLinearProcessNumbered"/>
    <dgm:cxn modelId="{4AB58DB7-F9F6-F843-93DA-E9287F1AFD53}" type="presParOf" srcId="{D2F6C623-63F3-8142-8CD5-5744D0811666}" destId="{F0C0AC93-07F2-FB4F-B088-E9FF3D24CB2A}" srcOrd="1" destOrd="0" presId="urn:microsoft.com/office/officeart/2016/7/layout/BasicLinearProcessNumbered"/>
    <dgm:cxn modelId="{17A6129E-1C48-0048-BFE8-2BB062CC0A25}" type="presParOf" srcId="{D2F6C623-63F3-8142-8CD5-5744D0811666}" destId="{014A0A5D-6E72-FA4D-A8DE-19291B67CC7E}" srcOrd="2" destOrd="0" presId="urn:microsoft.com/office/officeart/2016/7/layout/BasicLinearProcessNumbered"/>
    <dgm:cxn modelId="{1030F11F-2BCE-D742-9B02-9BB1E1D5BA18}" type="presParOf" srcId="{014A0A5D-6E72-FA4D-A8DE-19291B67CC7E}" destId="{2DEFD5C3-EFE2-4748-A013-3272AED877EE}" srcOrd="0" destOrd="0" presId="urn:microsoft.com/office/officeart/2016/7/layout/BasicLinearProcessNumbered"/>
    <dgm:cxn modelId="{36C1AD3E-F11A-3B49-BB1E-7054F4572407}" type="presParOf" srcId="{014A0A5D-6E72-FA4D-A8DE-19291B67CC7E}" destId="{47BCCB05-B62F-D94F-8B26-FF1C01251DE2}" srcOrd="1" destOrd="0" presId="urn:microsoft.com/office/officeart/2016/7/layout/BasicLinearProcessNumbered"/>
    <dgm:cxn modelId="{80EE985C-5D0C-2443-86AE-18C2163CD7E6}" type="presParOf" srcId="{014A0A5D-6E72-FA4D-A8DE-19291B67CC7E}" destId="{09A59E0F-D77A-F44E-B4A1-581C98E62A05}" srcOrd="2" destOrd="0" presId="urn:microsoft.com/office/officeart/2016/7/layout/BasicLinearProcessNumbered"/>
    <dgm:cxn modelId="{194B8114-8112-484E-88B3-6C10AD8DD887}" type="presParOf" srcId="{014A0A5D-6E72-FA4D-A8DE-19291B67CC7E}" destId="{4D332084-694D-D447-B1CA-7C273170E57D}" srcOrd="3" destOrd="0" presId="urn:microsoft.com/office/officeart/2016/7/layout/BasicLinearProcessNumbered"/>
    <dgm:cxn modelId="{BD7CE9E3-0E46-6445-8997-F8A9A4A7E3B3}" type="presParOf" srcId="{D2F6C623-63F3-8142-8CD5-5744D0811666}" destId="{8E8716A9-AF96-6841-AE1E-4F483A9E5AD7}" srcOrd="3" destOrd="0" presId="urn:microsoft.com/office/officeart/2016/7/layout/BasicLinearProcessNumbered"/>
    <dgm:cxn modelId="{97926FFD-ED41-0246-A6E4-C031FDC3D520}" type="presParOf" srcId="{D2F6C623-63F3-8142-8CD5-5744D0811666}" destId="{3DDECAB2-07C6-354B-BF4C-C43B2EABAB79}" srcOrd="4" destOrd="0" presId="urn:microsoft.com/office/officeart/2016/7/layout/BasicLinearProcessNumbered"/>
    <dgm:cxn modelId="{68B44FD1-90BB-E94E-89DD-0DDB290C838A}" type="presParOf" srcId="{3DDECAB2-07C6-354B-BF4C-C43B2EABAB79}" destId="{DD1B79DE-0E4E-4E49-B096-A491E3B6B7A4}" srcOrd="0" destOrd="0" presId="urn:microsoft.com/office/officeart/2016/7/layout/BasicLinearProcessNumbered"/>
    <dgm:cxn modelId="{64F9B12B-2E93-D441-90B1-D20BDE80C1D2}" type="presParOf" srcId="{3DDECAB2-07C6-354B-BF4C-C43B2EABAB79}" destId="{54728320-9A50-C944-AAA4-309E14510CE3}" srcOrd="1" destOrd="0" presId="urn:microsoft.com/office/officeart/2016/7/layout/BasicLinearProcessNumbered"/>
    <dgm:cxn modelId="{048AEC18-3E9F-0246-B185-9E0A55CC8687}" type="presParOf" srcId="{3DDECAB2-07C6-354B-BF4C-C43B2EABAB79}" destId="{5870D227-B348-D247-88A2-6B3C7A400B03}" srcOrd="2" destOrd="0" presId="urn:microsoft.com/office/officeart/2016/7/layout/BasicLinearProcessNumbered"/>
    <dgm:cxn modelId="{1383A2AD-637C-D14C-B76B-B6482DA5DF71}" type="presParOf" srcId="{3DDECAB2-07C6-354B-BF4C-C43B2EABAB79}" destId="{1AB4F507-2FBC-5A48-9EC9-558E22CB626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3D430-571E-470B-9C3D-A818AF2AA3C6}">
      <dsp:nvSpPr>
        <dsp:cNvPr id="0" name=""/>
        <dsp:cNvSpPr/>
      </dsp:nvSpPr>
      <dsp:spPr>
        <a:xfrm>
          <a:off x="0" y="460"/>
          <a:ext cx="5334197" cy="10768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71F53-75AD-4E29-9697-C94EEC1639C3}">
      <dsp:nvSpPr>
        <dsp:cNvPr id="0" name=""/>
        <dsp:cNvSpPr/>
      </dsp:nvSpPr>
      <dsp:spPr>
        <a:xfrm>
          <a:off x="325741" y="242747"/>
          <a:ext cx="592258" cy="5922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13D0F-243C-426D-AA0C-72E34272153F}">
      <dsp:nvSpPr>
        <dsp:cNvPr id="0" name=""/>
        <dsp:cNvSpPr/>
      </dsp:nvSpPr>
      <dsp:spPr>
        <a:xfrm>
          <a:off x="1243741" y="460"/>
          <a:ext cx="4090455" cy="1076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5" tIns="113965" rIns="113965" bIns="11396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Vehicle thefts have increased nationally</a:t>
          </a:r>
        </a:p>
      </dsp:txBody>
      <dsp:txXfrm>
        <a:off x="1243741" y="460"/>
        <a:ext cx="4090455" cy="1076832"/>
      </dsp:txXfrm>
    </dsp:sp>
    <dsp:sp modelId="{49A2DF1B-77ED-4B43-BC6F-A9C61A6A0CCD}">
      <dsp:nvSpPr>
        <dsp:cNvPr id="0" name=""/>
        <dsp:cNvSpPr/>
      </dsp:nvSpPr>
      <dsp:spPr>
        <a:xfrm>
          <a:off x="0" y="1346501"/>
          <a:ext cx="5334197" cy="10768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1195B-DD68-479D-8028-C2E10A5AB76E}">
      <dsp:nvSpPr>
        <dsp:cNvPr id="0" name=""/>
        <dsp:cNvSpPr/>
      </dsp:nvSpPr>
      <dsp:spPr>
        <a:xfrm>
          <a:off x="325741" y="1588788"/>
          <a:ext cx="592258" cy="5922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93681A-5DF4-443D-B739-93FAC02728E7}">
      <dsp:nvSpPr>
        <dsp:cNvPr id="0" name=""/>
        <dsp:cNvSpPr/>
      </dsp:nvSpPr>
      <dsp:spPr>
        <a:xfrm>
          <a:off x="1243741" y="1346501"/>
          <a:ext cx="4090455" cy="1076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5" tIns="113965" rIns="113965" bIns="11396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Kia and Hyundai thefts show a distinct growth pattern</a:t>
          </a:r>
        </a:p>
      </dsp:txBody>
      <dsp:txXfrm>
        <a:off x="1243741" y="1346501"/>
        <a:ext cx="4090455" cy="1076832"/>
      </dsp:txXfrm>
    </dsp:sp>
    <dsp:sp modelId="{B76AABC7-C610-4CC8-9AAB-738BCDF6F8A1}">
      <dsp:nvSpPr>
        <dsp:cNvPr id="0" name=""/>
        <dsp:cNvSpPr/>
      </dsp:nvSpPr>
      <dsp:spPr>
        <a:xfrm>
          <a:off x="0" y="2692542"/>
          <a:ext cx="5334197" cy="10768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BD37C-B165-4DD1-8CDF-EFACEF45CD75}">
      <dsp:nvSpPr>
        <dsp:cNvPr id="0" name=""/>
        <dsp:cNvSpPr/>
      </dsp:nvSpPr>
      <dsp:spPr>
        <a:xfrm>
          <a:off x="325741" y="2934829"/>
          <a:ext cx="592258" cy="5922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045F3E-CCEB-4308-B33D-9F899B2AC68A}">
      <dsp:nvSpPr>
        <dsp:cNvPr id="0" name=""/>
        <dsp:cNvSpPr/>
      </dsp:nvSpPr>
      <dsp:spPr>
        <a:xfrm>
          <a:off x="1243741" y="2692542"/>
          <a:ext cx="4090455" cy="1076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5" tIns="113965" rIns="113965" bIns="11396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Impact is concentrated in specific cities</a:t>
          </a:r>
        </a:p>
      </dsp:txBody>
      <dsp:txXfrm>
        <a:off x="1243741" y="2692542"/>
        <a:ext cx="4090455" cy="10768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2C39F-EFE0-334C-9311-3F3C734B0D52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Expand steering-wheel lock distribution in high-risk areas</a:t>
          </a:r>
        </a:p>
      </dsp:txBody>
      <dsp:txXfrm>
        <a:off x="0" y="1653508"/>
        <a:ext cx="3286125" cy="2610802"/>
      </dsp:txXfrm>
    </dsp:sp>
    <dsp:sp modelId="{861FF8BD-CA40-C647-891A-FFB9A02B8766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4A06C327-BEC6-AF42-B987-CCCB384C6544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2">
            <a:hueOff val="1288722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2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FD5C3-EFE2-4748-A013-3272AED877EE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3367362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Adjust patrol allocation during peak theft periods</a:t>
          </a:r>
        </a:p>
      </dsp:txBody>
      <dsp:txXfrm>
        <a:off x="3614737" y="1653508"/>
        <a:ext cx="3286125" cy="2610802"/>
      </dsp:txXfrm>
    </dsp:sp>
    <dsp:sp modelId="{47BCCB05-B62F-D94F-8B26-FF1C01251DE2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09A59E0F-D77A-F44E-B4A1-581C98E62A05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2">
            <a:hueOff val="3866168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8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B79DE-0E4E-4E49-B096-A491E3B6B7A4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Deploy localized public awareness campaigns</a:t>
          </a:r>
        </a:p>
      </dsp:txBody>
      <dsp:txXfrm>
        <a:off x="7229475" y="1653508"/>
        <a:ext cx="3286125" cy="2610802"/>
      </dsp:txXfrm>
    </dsp:sp>
    <dsp:sp modelId="{54728320-9A50-C944-AAA4-309E14510CE3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2">
            <a:hueOff val="5154890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0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5870D227-B348-D247-88A2-6B3C7A400B03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1FD2-865C-93DE-FD8E-B7A6C11E8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0DD95-BD00-1683-CFCD-213A08539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354-2579-C1D7-C8A7-9CEAF51D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39C0-06B9-FD93-8DBB-903D1D45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81BEC-B637-4A38-0664-E12A91AD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4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617A-30BC-3A3E-9330-9FEB786C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05611-8FD2-6962-CC91-09B933BDA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D5640-13DE-CF81-8A2B-5572E23E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E5C75-B1D2-D413-0511-72FC1D4B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E21B9-F032-37B6-829A-A17D2585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3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9C51-5712-6578-3127-94139DC8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0F94A-DFBC-10F6-1D99-5CC1A6455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8128C-7C41-F798-3266-FE216075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6F1FB-BFCF-2F3C-A279-843A79BF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DF017-33A2-A83D-9961-BD788C25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0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578F-19E9-1786-7627-DCEF5633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1B0E-E7F7-9E22-3C8A-E6AF556FE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AD35E-CACD-29A6-ED07-0FD8C799D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03E25-39A7-8147-A31A-26D2C32D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01358-B75C-54E7-0601-7F96AD3A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0992C-A40F-9827-1354-1CE1D95C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22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9A49-0C46-6E7E-D46B-8B5CCCD9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A9B9A-F518-F397-45E0-32FEF905B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0766E-A1DA-F4C7-E7DB-4EEB4F4CB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73016-0C6C-C910-7F28-406C1DB6C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299BA-4740-A3CF-BD5D-39D1D488C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626C5-78E1-DC6A-2BF9-48E94E511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8D449-ED48-244D-4471-323345A3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5D31EA-B139-FADD-7F80-C780F9B6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4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30B0-C4FD-FA93-D39F-116C6A95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FCB47-1DC9-7DC1-6BA1-32931CE6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5157E-E7B3-1ED3-B444-0B659055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D61F1-27EA-37FF-307C-EF1F7491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1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FD4DB-6877-3427-AB7D-96553A04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69A42-9069-9551-7559-E58B6D1E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A9A5C-2B11-28CC-6D3C-EDC30D31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4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7CDB-57B6-DD36-A4E0-111B20361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B967F-A2DE-D57D-8651-24D352421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0799B-2D97-940C-89B9-3A3214F64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892A5-C007-9DB2-F105-8544461A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C542E-C0D3-60B2-538D-AB1BBC8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786E5-B596-751F-D9AC-3A62F0E2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96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C7558-101B-03F8-4295-7A3B1EA88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DA4A5-7664-FCBC-CF3E-10EE493B3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5FE17-2D9E-CD44-BD66-222A24A8A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74FD0-65E4-B1A8-8AD9-3ABE6429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39EA8-1D9B-E893-7FE5-EAFAC05C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D4F2-2FD2-9B3D-E80B-EEB21E01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0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FA2B-029A-FA78-3FAB-DB91FC11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BB7EA-1FE2-AB02-7208-C7433BF3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CBE21-6C32-EBE2-3CA3-EB73B683A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3165E-B648-5364-1FC0-429635917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A2AE-E4D4-FA77-00EC-07C17A21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10FE6D-53AA-F914-1E0C-4FEAD5A50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7BF9A-C181-8C23-70BC-A21F8B383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B6D04-9B6C-8D77-1C4F-0FED2936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C73AD-F983-02AA-6FFB-E348B5FB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4D38B-4390-4948-05F4-B95D62B4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9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47EB9-F810-A7FE-D98F-5C56B6BD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A63D7-F232-D7B2-1870-286BAFE89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EE70-7249-2F29-4FFB-605930603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7A7EB-96FD-A94B-BE00-84073515223B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AD635-500D-67F3-A080-5EC2D0BB5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AA28-7E8F-2B6D-F33B-0D4438688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C1DF0-B6AB-2E4C-9C51-02CBEF21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F16D2-19CE-12D9-9DB5-CC8BD63A7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Autofit/>
          </a:bodyPr>
          <a:lstStyle/>
          <a:p>
            <a:pPr algn="l"/>
            <a:r>
              <a:rPr lang="en-US" sz="6600" dirty="0"/>
              <a:t>Kia &amp; Hyundai Vehicle Theft Trends: A Public Safety Briefing</a:t>
            </a:r>
            <a:br>
              <a:rPr lang="en-US" dirty="0"/>
            </a:br>
            <a:r>
              <a:rPr lang="en-US" sz="2000" dirty="0"/>
              <a:t>Evidence of a targeted and unevenly distributed theft surge (2019–2022)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09C32-E196-036E-C029-D6E2209CC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648343"/>
          </a:xfrm>
        </p:spPr>
        <p:txBody>
          <a:bodyPr anchor="t">
            <a:normAutofit fontScale="62500" lnSpcReduction="20000"/>
          </a:bodyPr>
          <a:lstStyle/>
          <a:p>
            <a:pPr algn="l"/>
            <a:br>
              <a:rPr lang="en-US" dirty="0"/>
            </a:br>
            <a:r>
              <a:rPr lang="en-US" dirty="0"/>
              <a:t>• Jon Steen</a:t>
            </a:r>
          </a:p>
          <a:p>
            <a:pPr algn="l"/>
            <a:r>
              <a:rPr lang="en-US" dirty="0"/>
              <a:t>• MSDS, Bellevue University</a:t>
            </a:r>
          </a:p>
          <a:p>
            <a:pPr algn="l"/>
            <a:r>
              <a:rPr lang="en-US" dirty="0"/>
              <a:t>• DSC 640: Data Presentation and Visualization</a:t>
            </a:r>
          </a:p>
          <a:p>
            <a:pPr algn="l"/>
            <a:r>
              <a:rPr lang="en-US" dirty="0"/>
              <a:t>• Instructor: Benjamin Schneider</a:t>
            </a:r>
          </a:p>
          <a:p>
            <a:pPr algn="l"/>
            <a:r>
              <a:rPr lang="en-US" dirty="0"/>
              <a:t>• Feb 1, 2026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88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9C86E-6FB7-AE74-5093-24CFF9D8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Why Focus on Kia and Hyundai Theft?</a:t>
            </a:r>
            <a:endParaRPr lang="en-US" sz="4000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B5CF15F8-827E-AB0B-A003-781B0C65A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895013"/>
              </p:ext>
            </p:extLst>
          </p:nvPr>
        </p:nvGraphicFramePr>
        <p:xfrm>
          <a:off x="761800" y="2470244"/>
          <a:ext cx="533419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Picture 14" descr="Person pointing on a map">
            <a:extLst>
              <a:ext uri="{FF2B5EF4-FFF2-40B4-BE49-F238E27FC236}">
                <a16:creationId xmlns:a16="http://schemas.microsoft.com/office/drawing/2014/main" id="{0EAF26D4-06FF-1AF8-8D23-FE334578E9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276" r="2988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7290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AED2F-F87E-38AE-9A45-1D6AF44C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Briefing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742EF-C17D-E4FA-BAB9-21CDB7973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1"/>
              <a:t>Audience:</a:t>
            </a:r>
            <a:r>
              <a:rPr lang="en-US" sz="2000"/>
              <a:t> City officials and public safety leadership</a:t>
            </a:r>
          </a:p>
          <a:p>
            <a:r>
              <a:rPr lang="en-US" sz="2000" b="1"/>
              <a:t>Purpose:</a:t>
            </a:r>
            <a:r>
              <a:rPr lang="en-US" sz="2000"/>
              <a:t> Identify whether Kia/Hyundai thefts warrant targeted intervention</a:t>
            </a:r>
          </a:p>
          <a:p>
            <a:r>
              <a:rPr lang="en-US" sz="2000" b="1"/>
              <a:t>Call to Action:</a:t>
            </a:r>
            <a:r>
              <a:rPr lang="en-US" sz="2000"/>
              <a:t> Approve focused prevention measures in high-impact areas</a:t>
            </a:r>
          </a:p>
        </p:txBody>
      </p:sp>
      <p:pic>
        <p:nvPicPr>
          <p:cNvPr id="5" name="Picture 4" descr="Large car parking lot from above">
            <a:extLst>
              <a:ext uri="{FF2B5EF4-FFF2-40B4-BE49-F238E27FC236}">
                <a16:creationId xmlns:a16="http://schemas.microsoft.com/office/drawing/2014/main" id="{C7A17BF1-E89F-54EE-2DBE-99A20721E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9" r="3648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88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C48FE-08A8-B31D-726F-B62A8A838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Auto Thefts Are Rising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 descr="A graph of a graph showing the number of thefts&#10;&#10;AI-generated content may be incorrect.">
            <a:extLst>
              <a:ext uri="{FF2B5EF4-FFF2-40B4-BE49-F238E27FC236}">
                <a16:creationId xmlns:a16="http://schemas.microsoft.com/office/drawing/2014/main" id="{184CEA0D-7413-2042-2605-215EAA7F3F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5238" y="1181987"/>
            <a:ext cx="7608304" cy="456498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125656-9D8A-CB92-3F94-1A7C55692D5B}"/>
              </a:ext>
            </a:extLst>
          </p:cNvPr>
          <p:cNvSpPr txBox="1"/>
          <p:nvPr/>
        </p:nvSpPr>
        <p:spPr>
          <a:xfrm>
            <a:off x="2529643" y="5761973"/>
            <a:ext cx="36394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Auto thefts increased across agencies between 2019 and 2022.</a:t>
            </a:r>
          </a:p>
        </p:txBody>
      </p:sp>
    </p:spTree>
    <p:extLst>
      <p:ext uri="{BB962C8B-B14F-4D97-AF65-F5344CB8AC3E}">
        <p14:creationId xmlns:p14="http://schemas.microsoft.com/office/powerpoint/2010/main" val="348868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D7D71-88AF-8022-E01B-6EE9E59A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Kia and Hyundai Theft Growth Exceeds Baseline Trends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a graph showing the cost of a vehicle&#10;&#10;AI-generated content may be incorrect.">
            <a:extLst>
              <a:ext uri="{FF2B5EF4-FFF2-40B4-BE49-F238E27FC236}">
                <a16:creationId xmlns:a16="http://schemas.microsoft.com/office/drawing/2014/main" id="{FF2B259C-456C-75A6-8A10-62160F7AE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238" y="1391215"/>
            <a:ext cx="7608304" cy="41465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8CAA0-B207-8A80-2228-41ED6CFB8088}"/>
              </a:ext>
            </a:extLst>
          </p:cNvPr>
          <p:cNvSpPr txBox="1"/>
          <p:nvPr/>
        </p:nvSpPr>
        <p:spPr>
          <a:xfrm>
            <a:off x="2478653" y="5761973"/>
            <a:ext cx="3741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Kia and Hyundai thefts accelerate sharply beginning in mid-2022.</a:t>
            </a:r>
          </a:p>
        </p:txBody>
      </p:sp>
    </p:spTree>
    <p:extLst>
      <p:ext uri="{BB962C8B-B14F-4D97-AF65-F5344CB8AC3E}">
        <p14:creationId xmlns:p14="http://schemas.microsoft.com/office/powerpoint/2010/main" val="307360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C72A3-0E3C-DA83-4D3D-F6207FBF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EE6F8DC-6A1C-6ED4-0862-A24CA1E08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19E90-4CCA-A52F-92AA-228BFB75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622006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Impact Is Concentrated, Not Uniform</a:t>
            </a:r>
            <a:endParaRPr lang="en-US" sz="2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217498-5DA7-CAFC-A197-260F4C6AB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C66EC8-622A-20ED-2D00-1D3355CEC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01E9AA2-08DE-6E9C-7C7E-8A397034FF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2619" y="1181987"/>
            <a:ext cx="7173541" cy="456498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E113EBBC-0701-A777-B8CB-032F10D57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9A325-F3AD-B555-14F7-655026DB1558}"/>
              </a:ext>
            </a:extLst>
          </p:cNvPr>
          <p:cNvSpPr txBox="1"/>
          <p:nvPr/>
        </p:nvSpPr>
        <p:spPr>
          <a:xfrm>
            <a:off x="2134976" y="5761973"/>
            <a:ext cx="44288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 limited number of cities account for a disproportionate share of incidents.</a:t>
            </a:r>
          </a:p>
        </p:txBody>
      </p:sp>
    </p:spTree>
    <p:extLst>
      <p:ext uri="{BB962C8B-B14F-4D97-AF65-F5344CB8AC3E}">
        <p14:creationId xmlns:p14="http://schemas.microsoft.com/office/powerpoint/2010/main" val="353708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46148-A844-53C0-D0B3-13BC837D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3802085-778A-AFE3-9E21-E711F485F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ADA9F-3298-1139-EFFB-4CF17695A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Kia/Hyundai Theft Share Varies by City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4FA207-C7AA-F655-4640-505E30165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39E2E2-ED94-B720-FFA8-F09ADCABB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F50B838-58B2-9A9A-34E2-58C9F087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5238" y="1562401"/>
            <a:ext cx="7608304" cy="380415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09239082-E67B-257C-8212-D91956531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FCCB9-ECE6-EB32-917B-423545D37F3B}"/>
              </a:ext>
            </a:extLst>
          </p:cNvPr>
          <p:cNvSpPr txBox="1"/>
          <p:nvPr/>
        </p:nvSpPr>
        <p:spPr>
          <a:xfrm>
            <a:off x="1908146" y="5761973"/>
            <a:ext cx="488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 several cities, Kia and Hyundai thefts make up a notably higher share of total thefts.</a:t>
            </a:r>
          </a:p>
        </p:txBody>
      </p:sp>
    </p:spTree>
    <p:extLst>
      <p:ext uri="{BB962C8B-B14F-4D97-AF65-F5344CB8AC3E}">
        <p14:creationId xmlns:p14="http://schemas.microsoft.com/office/powerpoint/2010/main" val="183416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AF500-1360-1E96-F14A-D7BE24320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ACCCDF8-C17E-BED5-F918-19084DB0B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73E3D-18C1-963D-4721-33050246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Case Study: Milwaukee</a:t>
            </a: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D35D41-ED82-D582-FCF5-9960EE26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F0B11A-1BAE-AA88-DB22-AEEC659A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EA467DD-07A1-4A10-482A-B741D690C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5239" y="1181987"/>
            <a:ext cx="7608301" cy="456498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5F84165F-0BAC-F41F-D9FC-0E06FE45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499FB-E031-EA00-A075-0F891BBDE951}"/>
              </a:ext>
            </a:extLst>
          </p:cNvPr>
          <p:cNvSpPr txBox="1"/>
          <p:nvPr/>
        </p:nvSpPr>
        <p:spPr>
          <a:xfrm>
            <a:off x="2074598" y="5761973"/>
            <a:ext cx="45495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Kia/Hyundai thefts increased rapidly while other vehicle thefts remained stable.</a:t>
            </a:r>
          </a:p>
        </p:txBody>
      </p:sp>
    </p:spTree>
    <p:extLst>
      <p:ext uri="{BB962C8B-B14F-4D97-AF65-F5344CB8AC3E}">
        <p14:creationId xmlns:p14="http://schemas.microsoft.com/office/powerpoint/2010/main" val="126174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3DB49-7C1E-8721-55AA-4EB6797B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217B93A-6FAE-74D8-F6E1-7509082E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56759-B2D4-DFD4-2E57-C1C0C8B0D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Milwaukee Theft Distribution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7C195B-CBB7-45AB-4918-9F90541A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67738F-C869-2264-2B48-DF9E131C7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A607432E-03EE-1C31-2714-6CAD1A993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5654" y="1181987"/>
            <a:ext cx="6847471" cy="456498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445E7FB-4894-F3AD-70AA-0F4D57BD8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71CA9-42ED-063B-56E3-1B8C8E895435}"/>
              </a:ext>
            </a:extLst>
          </p:cNvPr>
          <p:cNvSpPr txBox="1"/>
          <p:nvPr/>
        </p:nvSpPr>
        <p:spPr>
          <a:xfrm>
            <a:off x="1800679" y="5761973"/>
            <a:ext cx="5097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By the end of the period, Kia/Hyundai vehicles accounted for nearly half of reported thefts.</a:t>
            </a:r>
          </a:p>
        </p:txBody>
      </p:sp>
    </p:spTree>
    <p:extLst>
      <p:ext uri="{BB962C8B-B14F-4D97-AF65-F5344CB8AC3E}">
        <p14:creationId xmlns:p14="http://schemas.microsoft.com/office/powerpoint/2010/main" val="378263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30939-D7EA-3352-C9E3-C9514D77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Policy Implications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8298DA2-0E15-82F5-C596-90AC8E8B1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The issue is targeted and location-specific</a:t>
            </a:r>
          </a:p>
          <a:p>
            <a:r>
              <a:rPr lang="en-US" sz="2000"/>
              <a:t>Broad, citywide responses may be inefficient</a:t>
            </a:r>
          </a:p>
          <a:p>
            <a:r>
              <a:rPr lang="en-US" sz="2000"/>
              <a:t>Focused prevention aligns better with observed patterns</a:t>
            </a:r>
          </a:p>
        </p:txBody>
      </p:sp>
      <p:pic>
        <p:nvPicPr>
          <p:cNvPr id="5" name="Picture 4" descr="3D design of a city in white">
            <a:extLst>
              <a:ext uri="{FF2B5EF4-FFF2-40B4-BE49-F238E27FC236}">
                <a16:creationId xmlns:a16="http://schemas.microsoft.com/office/drawing/2014/main" id="{18F4CBAA-0739-9E8B-1F5B-0060B67501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43" r="2635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9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creen with many dots&#10;&#10;AI-generated content may be incorrect.">
            <a:extLst>
              <a:ext uri="{FF2B5EF4-FFF2-40B4-BE49-F238E27FC236}">
                <a16:creationId xmlns:a16="http://schemas.microsoft.com/office/drawing/2014/main" id="{EA98B96F-9144-F786-8324-F69D3A6064A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F57DD-A652-AD3A-5F89-9EAF9C39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Recommended Actions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22A7DE-ED00-44FD-1F2D-0FD67B2CD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6750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50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C5B72-6F3E-1C5D-9FBF-80C868557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28" y="1147158"/>
            <a:ext cx="6038470" cy="4713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Closing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4BC51-229F-B7D9-73FA-F277EC1B0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590" y="1687486"/>
            <a:ext cx="3300156" cy="36368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supports targeted intervention over generalized response.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5C147-26BC-C636-33E5-FF78F408D794}"/>
              </a:ext>
            </a:extLst>
          </p:cNvPr>
          <p:cNvSpPr txBox="1"/>
          <p:nvPr/>
        </p:nvSpPr>
        <p:spPr>
          <a:xfrm>
            <a:off x="1078828" y="6285853"/>
            <a:ext cx="3183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Sources: Municipal records; Motherboard / VICE News</a:t>
            </a:r>
          </a:p>
        </p:txBody>
      </p:sp>
    </p:spTree>
    <p:extLst>
      <p:ext uri="{BB962C8B-B14F-4D97-AF65-F5344CB8AC3E}">
        <p14:creationId xmlns:p14="http://schemas.microsoft.com/office/powerpoint/2010/main" val="3813395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292</Words>
  <Application>Microsoft Macintosh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Kia &amp; Hyundai Vehicle Theft Trends: A Public Safety Briefing Evidence of a targeted and unevenly distributed theft surge (2019–2022)</vt:lpstr>
      <vt:lpstr>Why Focus on Kia and Hyundai Theft?</vt:lpstr>
      <vt:lpstr>Briefing Context</vt:lpstr>
      <vt:lpstr>Overall Auto Thefts Are Rising</vt:lpstr>
      <vt:lpstr>Kia and Hyundai Theft Growth Exceeds Baseline Trends</vt:lpstr>
      <vt:lpstr>Impact Is Concentrated, Not Uniform</vt:lpstr>
      <vt:lpstr>Kia/Hyundai Theft Share Varies by City</vt:lpstr>
      <vt:lpstr>Case Study: Milwaukee</vt:lpstr>
      <vt:lpstr>Milwaukee Theft Distribution</vt:lpstr>
      <vt:lpstr>Policy Implications</vt:lpstr>
      <vt:lpstr>Recommended Actions</vt:lpstr>
      <vt:lpstr>Closing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Steen, Jonathan E</dc:creator>
  <cp:lastModifiedBy>Steen, Jonathan E</cp:lastModifiedBy>
  <cp:revision>7</cp:revision>
  <dcterms:created xsi:type="dcterms:W3CDTF">2026-02-01T23:46:29Z</dcterms:created>
  <dcterms:modified xsi:type="dcterms:W3CDTF">2026-02-02T00:30:19Z</dcterms:modified>
</cp:coreProperties>
</file>