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5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12"/>
    <p:restoredTop sz="94693"/>
  </p:normalViewPr>
  <p:slideViewPr>
    <p:cSldViewPr snapToGrid="0">
      <p:cViewPr varScale="1">
        <p:scale>
          <a:sx n="196" d="100"/>
          <a:sy n="196" d="100"/>
        </p:scale>
        <p:origin x="3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22148B-CAB5-433B-A9B9-034F8F7BD49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CB178B1-CBD9-42A6-AEED-F7949DA5CECF}">
      <dgm:prSet custT="1"/>
      <dgm:spPr/>
      <dgm:t>
        <a:bodyPr/>
        <a:lstStyle/>
        <a:p>
          <a:r>
            <a:rPr lang="en-US" sz="1400" dirty="0"/>
            <a:t>AI-Generated Content</a:t>
          </a:r>
        </a:p>
        <a:p>
          <a:endParaRPr lang="en-US" sz="1400" dirty="0"/>
        </a:p>
      </dgm:t>
    </dgm:pt>
    <dgm:pt modelId="{1596A33C-879E-4EB6-AC19-B36C1FBE16FF}" type="parTrans" cxnId="{E6CADD25-BCFE-4C50-ADB2-63D48D4620D3}">
      <dgm:prSet/>
      <dgm:spPr/>
      <dgm:t>
        <a:bodyPr/>
        <a:lstStyle/>
        <a:p>
          <a:endParaRPr lang="en-US"/>
        </a:p>
      </dgm:t>
    </dgm:pt>
    <dgm:pt modelId="{D4B8FA89-EEA1-44BD-B088-E9EFED557D34}" type="sibTrans" cxnId="{E6CADD25-BCFE-4C50-ADB2-63D48D4620D3}">
      <dgm:prSet/>
      <dgm:spPr/>
      <dgm:t>
        <a:bodyPr/>
        <a:lstStyle/>
        <a:p>
          <a:endParaRPr lang="en-US"/>
        </a:p>
      </dgm:t>
    </dgm:pt>
    <dgm:pt modelId="{B991FA70-6EF0-46F3-91FA-5621C6D7C252}">
      <dgm:prSet/>
      <dgm:spPr/>
      <dgm:t>
        <a:bodyPr/>
        <a:lstStyle/>
        <a:p>
          <a:r>
            <a:rPr lang="en-US" dirty="0"/>
            <a:t>Leverages my fine-tuned GPT-3.5 model to generate randomized, syntactically correct code snippets on demand. No static databases.</a:t>
          </a:r>
        </a:p>
      </dgm:t>
    </dgm:pt>
    <dgm:pt modelId="{3775D446-447E-4294-A41C-AE55254BA104}" type="parTrans" cxnId="{6EB9F10C-5365-4BA9-A770-BA57996980C2}">
      <dgm:prSet/>
      <dgm:spPr/>
      <dgm:t>
        <a:bodyPr/>
        <a:lstStyle/>
        <a:p>
          <a:endParaRPr lang="en-US"/>
        </a:p>
      </dgm:t>
    </dgm:pt>
    <dgm:pt modelId="{21BD8EB0-C5A4-48EA-98AD-9A4147429E5C}" type="sibTrans" cxnId="{6EB9F10C-5365-4BA9-A770-BA57996980C2}">
      <dgm:prSet/>
      <dgm:spPr/>
      <dgm:t>
        <a:bodyPr/>
        <a:lstStyle/>
        <a:p>
          <a:endParaRPr lang="en-US"/>
        </a:p>
      </dgm:t>
    </dgm:pt>
    <dgm:pt modelId="{FF6C3869-2CB8-46BA-899E-086BD72CFD7E}">
      <dgm:prSet custT="1"/>
      <dgm:spPr/>
      <dgm:t>
        <a:bodyPr/>
        <a:lstStyle/>
        <a:p>
          <a:r>
            <a:rPr lang="en-US" sz="1400" dirty="0"/>
            <a:t>Real-Time Metrics</a:t>
          </a:r>
        </a:p>
      </dgm:t>
    </dgm:pt>
    <dgm:pt modelId="{F7A95E22-2A88-479C-8F6D-CF18E5579EAF}" type="parTrans" cxnId="{1F354751-27F2-43D1-A9D8-D027DDB20503}">
      <dgm:prSet/>
      <dgm:spPr/>
      <dgm:t>
        <a:bodyPr/>
        <a:lstStyle/>
        <a:p>
          <a:endParaRPr lang="en-US"/>
        </a:p>
      </dgm:t>
    </dgm:pt>
    <dgm:pt modelId="{C2E81D1F-B7A1-4905-ABD8-73548F787D62}" type="sibTrans" cxnId="{1F354751-27F2-43D1-A9D8-D027DDB20503}">
      <dgm:prSet/>
      <dgm:spPr/>
      <dgm:t>
        <a:bodyPr/>
        <a:lstStyle/>
        <a:p>
          <a:endParaRPr lang="en-US"/>
        </a:p>
      </dgm:t>
    </dgm:pt>
    <dgm:pt modelId="{BA70F1CB-65E0-4BC1-8A2C-9AF5A7DAAA4E}">
      <dgm:prSet/>
      <dgm:spPr/>
      <dgm:t>
        <a:bodyPr/>
        <a:lstStyle/>
        <a:p>
          <a:r>
            <a:rPr lang="en-US" dirty="0"/>
            <a:t>Tracks WPM, accuracy, and error count character-by-character using a custom JavaScript implementation embedded in Streamlit.</a:t>
          </a:r>
        </a:p>
      </dgm:t>
    </dgm:pt>
    <dgm:pt modelId="{BD71AC83-8F70-41CF-8B90-DA60FBF86253}" type="parTrans" cxnId="{C0B007AD-8B44-46FE-B6A7-C82FA2020C85}">
      <dgm:prSet/>
      <dgm:spPr/>
      <dgm:t>
        <a:bodyPr/>
        <a:lstStyle/>
        <a:p>
          <a:endParaRPr lang="en-US"/>
        </a:p>
      </dgm:t>
    </dgm:pt>
    <dgm:pt modelId="{F6C945D7-2853-4E20-AEBF-FD8D1477D1D5}" type="sibTrans" cxnId="{C0B007AD-8B44-46FE-B6A7-C82FA2020C85}">
      <dgm:prSet/>
      <dgm:spPr/>
      <dgm:t>
        <a:bodyPr/>
        <a:lstStyle/>
        <a:p>
          <a:endParaRPr lang="en-US"/>
        </a:p>
      </dgm:t>
    </dgm:pt>
    <dgm:pt modelId="{FD5759F4-904A-2A43-839D-91DFD7B4E1B1}" type="pres">
      <dgm:prSet presAssocID="{D022148B-CAB5-433B-A9B9-034F8F7BD498}" presName="vert0" presStyleCnt="0">
        <dgm:presLayoutVars>
          <dgm:dir/>
          <dgm:animOne val="branch"/>
          <dgm:animLvl val="lvl"/>
        </dgm:presLayoutVars>
      </dgm:prSet>
      <dgm:spPr/>
    </dgm:pt>
    <dgm:pt modelId="{A304F287-70CB-804C-985C-4AC1A714A328}" type="pres">
      <dgm:prSet presAssocID="{0CB178B1-CBD9-42A6-AEED-F7949DA5CECF}" presName="thickLine" presStyleLbl="alignNode1" presStyleIdx="0" presStyleCnt="2"/>
      <dgm:spPr/>
    </dgm:pt>
    <dgm:pt modelId="{81E0DE38-B7EC-2942-B346-344D3D5F8EF1}" type="pres">
      <dgm:prSet presAssocID="{0CB178B1-CBD9-42A6-AEED-F7949DA5CECF}" presName="horz1" presStyleCnt="0"/>
      <dgm:spPr/>
    </dgm:pt>
    <dgm:pt modelId="{A1EAAA8C-1F10-1041-A00F-F9BE8A2EE60D}" type="pres">
      <dgm:prSet presAssocID="{0CB178B1-CBD9-42A6-AEED-F7949DA5CECF}" presName="tx1" presStyleLbl="revTx" presStyleIdx="0" presStyleCnt="4"/>
      <dgm:spPr/>
    </dgm:pt>
    <dgm:pt modelId="{295E76F0-3431-F54F-9716-9DB720AAB39F}" type="pres">
      <dgm:prSet presAssocID="{0CB178B1-CBD9-42A6-AEED-F7949DA5CECF}" presName="vert1" presStyleCnt="0"/>
      <dgm:spPr/>
    </dgm:pt>
    <dgm:pt modelId="{BE6C1241-6372-0E44-8ABA-A1B3D6911822}" type="pres">
      <dgm:prSet presAssocID="{B991FA70-6EF0-46F3-91FA-5621C6D7C252}" presName="vertSpace2a" presStyleCnt="0"/>
      <dgm:spPr/>
    </dgm:pt>
    <dgm:pt modelId="{C18CCF40-E19A-3A4A-A54A-CF7277E78FF2}" type="pres">
      <dgm:prSet presAssocID="{B991FA70-6EF0-46F3-91FA-5621C6D7C252}" presName="horz2" presStyleCnt="0"/>
      <dgm:spPr/>
    </dgm:pt>
    <dgm:pt modelId="{9CE75B41-AFCE-1E46-B0AF-86D88D4E9C4D}" type="pres">
      <dgm:prSet presAssocID="{B991FA70-6EF0-46F3-91FA-5621C6D7C252}" presName="horzSpace2" presStyleCnt="0"/>
      <dgm:spPr/>
    </dgm:pt>
    <dgm:pt modelId="{A45BF96E-C4D3-D947-AF6D-AA6B25EC3BFD}" type="pres">
      <dgm:prSet presAssocID="{B991FA70-6EF0-46F3-91FA-5621C6D7C252}" presName="tx2" presStyleLbl="revTx" presStyleIdx="1" presStyleCnt="4"/>
      <dgm:spPr/>
    </dgm:pt>
    <dgm:pt modelId="{942D319F-ABBD-C141-93D8-B99AE7016A6D}" type="pres">
      <dgm:prSet presAssocID="{B991FA70-6EF0-46F3-91FA-5621C6D7C252}" presName="vert2" presStyleCnt="0"/>
      <dgm:spPr/>
    </dgm:pt>
    <dgm:pt modelId="{7BD5853B-1895-C34E-8D92-4249042937AA}" type="pres">
      <dgm:prSet presAssocID="{B991FA70-6EF0-46F3-91FA-5621C6D7C252}" presName="thinLine2b" presStyleLbl="callout" presStyleIdx="0" presStyleCnt="2"/>
      <dgm:spPr/>
    </dgm:pt>
    <dgm:pt modelId="{D94E183E-D97C-1842-B5D9-D8C38787A61A}" type="pres">
      <dgm:prSet presAssocID="{B991FA70-6EF0-46F3-91FA-5621C6D7C252}" presName="vertSpace2b" presStyleCnt="0"/>
      <dgm:spPr/>
    </dgm:pt>
    <dgm:pt modelId="{1117C85C-2962-7141-9571-600CCF33521D}" type="pres">
      <dgm:prSet presAssocID="{FF6C3869-2CB8-46BA-899E-086BD72CFD7E}" presName="thickLine" presStyleLbl="alignNode1" presStyleIdx="1" presStyleCnt="2"/>
      <dgm:spPr/>
    </dgm:pt>
    <dgm:pt modelId="{157F0BDC-F318-DC42-9DB1-96E145FA9F20}" type="pres">
      <dgm:prSet presAssocID="{FF6C3869-2CB8-46BA-899E-086BD72CFD7E}" presName="horz1" presStyleCnt="0"/>
      <dgm:spPr/>
    </dgm:pt>
    <dgm:pt modelId="{E4D539E2-A870-604D-944C-017683E9C099}" type="pres">
      <dgm:prSet presAssocID="{FF6C3869-2CB8-46BA-899E-086BD72CFD7E}" presName="tx1" presStyleLbl="revTx" presStyleIdx="2" presStyleCnt="4"/>
      <dgm:spPr/>
    </dgm:pt>
    <dgm:pt modelId="{4308C2C9-16AF-B747-86E1-1112284F3844}" type="pres">
      <dgm:prSet presAssocID="{FF6C3869-2CB8-46BA-899E-086BD72CFD7E}" presName="vert1" presStyleCnt="0"/>
      <dgm:spPr/>
    </dgm:pt>
    <dgm:pt modelId="{E3D3B191-C710-7049-88A5-BEC2AEE4F930}" type="pres">
      <dgm:prSet presAssocID="{BA70F1CB-65E0-4BC1-8A2C-9AF5A7DAAA4E}" presName="vertSpace2a" presStyleCnt="0"/>
      <dgm:spPr/>
    </dgm:pt>
    <dgm:pt modelId="{0EBDF9D7-0C0C-714F-8F7A-70F169A7B6C6}" type="pres">
      <dgm:prSet presAssocID="{BA70F1CB-65E0-4BC1-8A2C-9AF5A7DAAA4E}" presName="horz2" presStyleCnt="0"/>
      <dgm:spPr/>
    </dgm:pt>
    <dgm:pt modelId="{AD2BBD66-9DD7-5D4E-A509-EB2AE4A11428}" type="pres">
      <dgm:prSet presAssocID="{BA70F1CB-65E0-4BC1-8A2C-9AF5A7DAAA4E}" presName="horzSpace2" presStyleCnt="0"/>
      <dgm:spPr/>
    </dgm:pt>
    <dgm:pt modelId="{CC31482E-50F5-D241-A8C8-1A0836A1D5F6}" type="pres">
      <dgm:prSet presAssocID="{BA70F1CB-65E0-4BC1-8A2C-9AF5A7DAAA4E}" presName="tx2" presStyleLbl="revTx" presStyleIdx="3" presStyleCnt="4"/>
      <dgm:spPr/>
    </dgm:pt>
    <dgm:pt modelId="{A535C4DF-586B-9740-B20D-D6F3FA136ADE}" type="pres">
      <dgm:prSet presAssocID="{BA70F1CB-65E0-4BC1-8A2C-9AF5A7DAAA4E}" presName="vert2" presStyleCnt="0"/>
      <dgm:spPr/>
    </dgm:pt>
    <dgm:pt modelId="{19B30E03-8510-B44E-A527-16D666DE0912}" type="pres">
      <dgm:prSet presAssocID="{BA70F1CB-65E0-4BC1-8A2C-9AF5A7DAAA4E}" presName="thinLine2b" presStyleLbl="callout" presStyleIdx="1" presStyleCnt="2"/>
      <dgm:spPr/>
    </dgm:pt>
    <dgm:pt modelId="{5652A3E7-6625-234C-881F-0B38E6DE16C9}" type="pres">
      <dgm:prSet presAssocID="{BA70F1CB-65E0-4BC1-8A2C-9AF5A7DAAA4E}" presName="vertSpace2b" presStyleCnt="0"/>
      <dgm:spPr/>
    </dgm:pt>
  </dgm:ptLst>
  <dgm:cxnLst>
    <dgm:cxn modelId="{6EB9F10C-5365-4BA9-A770-BA57996980C2}" srcId="{0CB178B1-CBD9-42A6-AEED-F7949DA5CECF}" destId="{B991FA70-6EF0-46F3-91FA-5621C6D7C252}" srcOrd="0" destOrd="0" parTransId="{3775D446-447E-4294-A41C-AE55254BA104}" sibTransId="{21BD8EB0-C5A4-48EA-98AD-9A4147429E5C}"/>
    <dgm:cxn modelId="{FEEF1621-9C90-5047-BAE5-FE4609E6376E}" type="presOf" srcId="{BA70F1CB-65E0-4BC1-8A2C-9AF5A7DAAA4E}" destId="{CC31482E-50F5-D241-A8C8-1A0836A1D5F6}" srcOrd="0" destOrd="0" presId="urn:microsoft.com/office/officeart/2008/layout/LinedList"/>
    <dgm:cxn modelId="{E6CADD25-BCFE-4C50-ADB2-63D48D4620D3}" srcId="{D022148B-CAB5-433B-A9B9-034F8F7BD498}" destId="{0CB178B1-CBD9-42A6-AEED-F7949DA5CECF}" srcOrd="0" destOrd="0" parTransId="{1596A33C-879E-4EB6-AC19-B36C1FBE16FF}" sibTransId="{D4B8FA89-EEA1-44BD-B088-E9EFED557D34}"/>
    <dgm:cxn modelId="{1F354751-27F2-43D1-A9D8-D027DDB20503}" srcId="{D022148B-CAB5-433B-A9B9-034F8F7BD498}" destId="{FF6C3869-2CB8-46BA-899E-086BD72CFD7E}" srcOrd="1" destOrd="0" parTransId="{F7A95E22-2A88-479C-8F6D-CF18E5579EAF}" sibTransId="{C2E81D1F-B7A1-4905-ABD8-73548F787D62}"/>
    <dgm:cxn modelId="{51EB77A0-3517-5149-A817-006D712FCECC}" type="presOf" srcId="{FF6C3869-2CB8-46BA-899E-086BD72CFD7E}" destId="{E4D539E2-A870-604D-944C-017683E9C099}" srcOrd="0" destOrd="0" presId="urn:microsoft.com/office/officeart/2008/layout/LinedList"/>
    <dgm:cxn modelId="{C0B007AD-8B44-46FE-B6A7-C82FA2020C85}" srcId="{FF6C3869-2CB8-46BA-899E-086BD72CFD7E}" destId="{BA70F1CB-65E0-4BC1-8A2C-9AF5A7DAAA4E}" srcOrd="0" destOrd="0" parTransId="{BD71AC83-8F70-41CF-8B90-DA60FBF86253}" sibTransId="{F6C945D7-2853-4E20-AEBF-FD8D1477D1D5}"/>
    <dgm:cxn modelId="{A042BFDD-8DE1-FD41-B9B1-EC45BE6BEC27}" type="presOf" srcId="{0CB178B1-CBD9-42A6-AEED-F7949DA5CECF}" destId="{A1EAAA8C-1F10-1041-A00F-F9BE8A2EE60D}" srcOrd="0" destOrd="0" presId="urn:microsoft.com/office/officeart/2008/layout/LinedList"/>
    <dgm:cxn modelId="{C161CBDE-55F4-364A-A7B7-BEA54DD9E394}" type="presOf" srcId="{D022148B-CAB5-433B-A9B9-034F8F7BD498}" destId="{FD5759F4-904A-2A43-839D-91DFD7B4E1B1}" srcOrd="0" destOrd="0" presId="urn:microsoft.com/office/officeart/2008/layout/LinedList"/>
    <dgm:cxn modelId="{005763FC-962A-6A4B-9B33-E5A7660367E2}" type="presOf" srcId="{B991FA70-6EF0-46F3-91FA-5621C6D7C252}" destId="{A45BF96E-C4D3-D947-AF6D-AA6B25EC3BFD}" srcOrd="0" destOrd="0" presId="urn:microsoft.com/office/officeart/2008/layout/LinedList"/>
    <dgm:cxn modelId="{53EC1CB3-B297-3E4F-8D8D-B9D76FA8DABF}" type="presParOf" srcId="{FD5759F4-904A-2A43-839D-91DFD7B4E1B1}" destId="{A304F287-70CB-804C-985C-4AC1A714A328}" srcOrd="0" destOrd="0" presId="urn:microsoft.com/office/officeart/2008/layout/LinedList"/>
    <dgm:cxn modelId="{30E1FDBE-1C2D-574D-8DBB-447C229975B8}" type="presParOf" srcId="{FD5759F4-904A-2A43-839D-91DFD7B4E1B1}" destId="{81E0DE38-B7EC-2942-B346-344D3D5F8EF1}" srcOrd="1" destOrd="0" presId="urn:microsoft.com/office/officeart/2008/layout/LinedList"/>
    <dgm:cxn modelId="{2483D2FE-A86A-5D48-A561-FECC1C6D8B5C}" type="presParOf" srcId="{81E0DE38-B7EC-2942-B346-344D3D5F8EF1}" destId="{A1EAAA8C-1F10-1041-A00F-F9BE8A2EE60D}" srcOrd="0" destOrd="0" presId="urn:microsoft.com/office/officeart/2008/layout/LinedList"/>
    <dgm:cxn modelId="{DA14B74B-7CF9-7D47-8E04-792B64C79EFB}" type="presParOf" srcId="{81E0DE38-B7EC-2942-B346-344D3D5F8EF1}" destId="{295E76F0-3431-F54F-9716-9DB720AAB39F}" srcOrd="1" destOrd="0" presId="urn:microsoft.com/office/officeart/2008/layout/LinedList"/>
    <dgm:cxn modelId="{2AD0326E-DE0F-744D-8DFF-EBAE9F802905}" type="presParOf" srcId="{295E76F0-3431-F54F-9716-9DB720AAB39F}" destId="{BE6C1241-6372-0E44-8ABA-A1B3D6911822}" srcOrd="0" destOrd="0" presId="urn:microsoft.com/office/officeart/2008/layout/LinedList"/>
    <dgm:cxn modelId="{2208D8B8-C92F-8E4B-AF0C-1A273787E5C2}" type="presParOf" srcId="{295E76F0-3431-F54F-9716-9DB720AAB39F}" destId="{C18CCF40-E19A-3A4A-A54A-CF7277E78FF2}" srcOrd="1" destOrd="0" presId="urn:microsoft.com/office/officeart/2008/layout/LinedList"/>
    <dgm:cxn modelId="{87CC68E4-D18A-234B-B26A-3910D465B97C}" type="presParOf" srcId="{C18CCF40-E19A-3A4A-A54A-CF7277E78FF2}" destId="{9CE75B41-AFCE-1E46-B0AF-86D88D4E9C4D}" srcOrd="0" destOrd="0" presId="urn:microsoft.com/office/officeart/2008/layout/LinedList"/>
    <dgm:cxn modelId="{04A2B575-C4F5-B541-855C-C6347378825E}" type="presParOf" srcId="{C18CCF40-E19A-3A4A-A54A-CF7277E78FF2}" destId="{A45BF96E-C4D3-D947-AF6D-AA6B25EC3BFD}" srcOrd="1" destOrd="0" presId="urn:microsoft.com/office/officeart/2008/layout/LinedList"/>
    <dgm:cxn modelId="{D6AEF12C-CA76-CF47-A809-4630065FC7D6}" type="presParOf" srcId="{C18CCF40-E19A-3A4A-A54A-CF7277E78FF2}" destId="{942D319F-ABBD-C141-93D8-B99AE7016A6D}" srcOrd="2" destOrd="0" presId="urn:microsoft.com/office/officeart/2008/layout/LinedList"/>
    <dgm:cxn modelId="{A0199874-9D3B-7642-AD3D-5133E0645EB0}" type="presParOf" srcId="{295E76F0-3431-F54F-9716-9DB720AAB39F}" destId="{7BD5853B-1895-C34E-8D92-4249042937AA}" srcOrd="2" destOrd="0" presId="urn:microsoft.com/office/officeart/2008/layout/LinedList"/>
    <dgm:cxn modelId="{993DF887-AD00-6F4E-8FA3-5D0CC4123B76}" type="presParOf" srcId="{295E76F0-3431-F54F-9716-9DB720AAB39F}" destId="{D94E183E-D97C-1842-B5D9-D8C38787A61A}" srcOrd="3" destOrd="0" presId="urn:microsoft.com/office/officeart/2008/layout/LinedList"/>
    <dgm:cxn modelId="{52ACD377-C79C-144F-9C6F-D60699A47895}" type="presParOf" srcId="{FD5759F4-904A-2A43-839D-91DFD7B4E1B1}" destId="{1117C85C-2962-7141-9571-600CCF33521D}" srcOrd="2" destOrd="0" presId="urn:microsoft.com/office/officeart/2008/layout/LinedList"/>
    <dgm:cxn modelId="{29DC3FCD-6495-BF4E-A0AC-2A9CEB4AD940}" type="presParOf" srcId="{FD5759F4-904A-2A43-839D-91DFD7B4E1B1}" destId="{157F0BDC-F318-DC42-9DB1-96E145FA9F20}" srcOrd="3" destOrd="0" presId="urn:microsoft.com/office/officeart/2008/layout/LinedList"/>
    <dgm:cxn modelId="{354E2B11-D3FE-C040-A9AC-D69A40DDD11B}" type="presParOf" srcId="{157F0BDC-F318-DC42-9DB1-96E145FA9F20}" destId="{E4D539E2-A870-604D-944C-017683E9C099}" srcOrd="0" destOrd="0" presId="urn:microsoft.com/office/officeart/2008/layout/LinedList"/>
    <dgm:cxn modelId="{A7BA0348-D07A-7F42-9BB6-89031A7A8FA9}" type="presParOf" srcId="{157F0BDC-F318-DC42-9DB1-96E145FA9F20}" destId="{4308C2C9-16AF-B747-86E1-1112284F3844}" srcOrd="1" destOrd="0" presId="urn:microsoft.com/office/officeart/2008/layout/LinedList"/>
    <dgm:cxn modelId="{73969181-D84F-F149-B848-ADAD638E165C}" type="presParOf" srcId="{4308C2C9-16AF-B747-86E1-1112284F3844}" destId="{E3D3B191-C710-7049-88A5-BEC2AEE4F930}" srcOrd="0" destOrd="0" presId="urn:microsoft.com/office/officeart/2008/layout/LinedList"/>
    <dgm:cxn modelId="{D35527DC-12CC-564A-82C7-9355342D0D27}" type="presParOf" srcId="{4308C2C9-16AF-B747-86E1-1112284F3844}" destId="{0EBDF9D7-0C0C-714F-8F7A-70F169A7B6C6}" srcOrd="1" destOrd="0" presId="urn:microsoft.com/office/officeart/2008/layout/LinedList"/>
    <dgm:cxn modelId="{06B4708F-50DA-D543-A75B-CB510E1815C6}" type="presParOf" srcId="{0EBDF9D7-0C0C-714F-8F7A-70F169A7B6C6}" destId="{AD2BBD66-9DD7-5D4E-A509-EB2AE4A11428}" srcOrd="0" destOrd="0" presId="urn:microsoft.com/office/officeart/2008/layout/LinedList"/>
    <dgm:cxn modelId="{1B17A8A5-C060-7849-9055-4F931726CB05}" type="presParOf" srcId="{0EBDF9D7-0C0C-714F-8F7A-70F169A7B6C6}" destId="{CC31482E-50F5-D241-A8C8-1A0836A1D5F6}" srcOrd="1" destOrd="0" presId="urn:microsoft.com/office/officeart/2008/layout/LinedList"/>
    <dgm:cxn modelId="{96EC3C7E-54DC-664F-81BC-285EA7A85ABC}" type="presParOf" srcId="{0EBDF9D7-0C0C-714F-8F7A-70F169A7B6C6}" destId="{A535C4DF-586B-9740-B20D-D6F3FA136ADE}" srcOrd="2" destOrd="0" presId="urn:microsoft.com/office/officeart/2008/layout/LinedList"/>
    <dgm:cxn modelId="{68510D94-4710-1642-92E8-792A27729E59}" type="presParOf" srcId="{4308C2C9-16AF-B747-86E1-1112284F3844}" destId="{19B30E03-8510-B44E-A527-16D666DE0912}" srcOrd="2" destOrd="0" presId="urn:microsoft.com/office/officeart/2008/layout/LinedList"/>
    <dgm:cxn modelId="{BCD91BCB-C009-E141-A8AC-741C954EDF46}" type="presParOf" srcId="{4308C2C9-16AF-B747-86E1-1112284F3844}" destId="{5652A3E7-6625-234C-881F-0B38E6DE16C9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4B5C412-C543-47EB-81B0-BCA4AF3234BE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CD9FAA-1F27-461D-9027-B1D04C430B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Frontend:</a:t>
          </a:r>
          <a:r>
            <a:rPr lang="en-US" dirty="0"/>
            <a:t> Streamlit (Python) handles state management and UI layout.</a:t>
          </a:r>
        </a:p>
      </dgm:t>
    </dgm:pt>
    <dgm:pt modelId="{6A947038-A6A3-4F33-AD99-02A4DDABD64E}" type="parTrans" cxnId="{9198A9DB-D136-4FE0-869F-8B429F8D56ED}">
      <dgm:prSet/>
      <dgm:spPr/>
      <dgm:t>
        <a:bodyPr/>
        <a:lstStyle/>
        <a:p>
          <a:endParaRPr lang="en-US"/>
        </a:p>
      </dgm:t>
    </dgm:pt>
    <dgm:pt modelId="{6D480C9D-9286-4EBD-99A4-D085A7DCDCEC}" type="sibTrans" cxnId="{9198A9DB-D136-4FE0-869F-8B429F8D56E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D1FD4AF-B075-41A6-937D-80F9D600E7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Backend Logic:</a:t>
          </a:r>
          <a:r>
            <a:rPr lang="en-US"/>
            <a:t> OpenAI API (`ft:gpt-3.5-turbo`) generates content dynamically.</a:t>
          </a:r>
        </a:p>
      </dgm:t>
    </dgm:pt>
    <dgm:pt modelId="{E509216B-9B89-4003-9687-211953B68B14}" type="parTrans" cxnId="{F919BBD7-D389-44E1-A6DB-E702E31B6C64}">
      <dgm:prSet/>
      <dgm:spPr/>
      <dgm:t>
        <a:bodyPr/>
        <a:lstStyle/>
        <a:p>
          <a:endParaRPr lang="en-US"/>
        </a:p>
      </dgm:t>
    </dgm:pt>
    <dgm:pt modelId="{C3495BAB-D4AD-49B9-8A34-862079FC4989}" type="sibTrans" cxnId="{F919BBD7-D389-44E1-A6DB-E702E31B6C6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31AE848-84D2-40A4-9CCE-8B47AE1EF63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Bridge:</a:t>
          </a:r>
          <a:r>
            <a:rPr lang="en-US" dirty="0"/>
            <a:t> `streamlit.components.v1` renders a custom HTML/JS isolated </a:t>
          </a:r>
          <a:r>
            <a:rPr lang="en-US" dirty="0" err="1"/>
            <a:t>iframe</a:t>
          </a:r>
          <a:r>
            <a:rPr lang="en-US" dirty="0"/>
            <a:t>.</a:t>
          </a:r>
        </a:p>
      </dgm:t>
    </dgm:pt>
    <dgm:pt modelId="{84E7DA98-989B-42F5-B320-287CA6C559EC}" type="parTrans" cxnId="{B141CEE7-F453-44AD-B310-BD3933826FA0}">
      <dgm:prSet/>
      <dgm:spPr/>
      <dgm:t>
        <a:bodyPr/>
        <a:lstStyle/>
        <a:p>
          <a:endParaRPr lang="en-US"/>
        </a:p>
      </dgm:t>
    </dgm:pt>
    <dgm:pt modelId="{15B414BF-AD12-4461-BAA7-221490FFF224}" type="sibTrans" cxnId="{B141CEE7-F453-44AD-B310-BD3933826FA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A2B1552-9D24-4E9D-923F-8BD7D51D59F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Data Flow:</a:t>
          </a:r>
          <a:r>
            <a:rPr lang="en-US"/>
            <a:t> Python fetches snippet -&gt; Sends to JS -&gt; JS captures events -&gt; Returns metrics to Python.</a:t>
          </a:r>
        </a:p>
      </dgm:t>
    </dgm:pt>
    <dgm:pt modelId="{4BCF1421-F80B-4E75-87B0-FD1E68FEA4A8}" type="parTrans" cxnId="{AEA0C323-68BF-40C3-AAF5-448D41884EDE}">
      <dgm:prSet/>
      <dgm:spPr/>
      <dgm:t>
        <a:bodyPr/>
        <a:lstStyle/>
        <a:p>
          <a:endParaRPr lang="en-US"/>
        </a:p>
      </dgm:t>
    </dgm:pt>
    <dgm:pt modelId="{A1C5E2D6-56C7-4331-AF8D-5E5677832BA3}" type="sibTrans" cxnId="{AEA0C323-68BF-40C3-AAF5-448D41884EDE}">
      <dgm:prSet/>
      <dgm:spPr/>
      <dgm:t>
        <a:bodyPr/>
        <a:lstStyle/>
        <a:p>
          <a:endParaRPr lang="en-US"/>
        </a:p>
      </dgm:t>
    </dgm:pt>
    <dgm:pt modelId="{DF59B701-D401-4B33-AA1F-305D29FE240E}" type="pres">
      <dgm:prSet presAssocID="{24B5C412-C543-47EB-81B0-BCA4AF3234BE}" presName="root" presStyleCnt="0">
        <dgm:presLayoutVars>
          <dgm:dir/>
          <dgm:resizeHandles val="exact"/>
        </dgm:presLayoutVars>
      </dgm:prSet>
      <dgm:spPr/>
    </dgm:pt>
    <dgm:pt modelId="{E749794E-A3F7-4DBE-AB1F-DE2222F8FFEF}" type="pres">
      <dgm:prSet presAssocID="{24B5C412-C543-47EB-81B0-BCA4AF3234BE}" presName="container" presStyleCnt="0">
        <dgm:presLayoutVars>
          <dgm:dir/>
          <dgm:resizeHandles val="exact"/>
        </dgm:presLayoutVars>
      </dgm:prSet>
      <dgm:spPr/>
    </dgm:pt>
    <dgm:pt modelId="{0AA3E34A-384B-43C2-B884-0B55894D59F6}" type="pres">
      <dgm:prSet presAssocID="{AACD9FAA-1F27-461D-9027-B1D04C430BA6}" presName="compNode" presStyleCnt="0"/>
      <dgm:spPr/>
    </dgm:pt>
    <dgm:pt modelId="{EEEB5030-E6F4-44AA-9E03-C143F07B4B58}" type="pres">
      <dgm:prSet presAssocID="{AACD9FAA-1F27-461D-9027-B1D04C430BA6}" presName="iconBgRect" presStyleLbl="bgShp" presStyleIdx="0" presStyleCnt="4"/>
      <dgm:spPr/>
    </dgm:pt>
    <dgm:pt modelId="{5BF1866C-4EB0-46EB-AA0D-7389352EF25C}" type="pres">
      <dgm:prSet presAssocID="{AACD9FAA-1F27-461D-9027-B1D04C430BA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95FB7772-B8A2-44DE-B2CC-6737112B56F9}" type="pres">
      <dgm:prSet presAssocID="{AACD9FAA-1F27-461D-9027-B1D04C430BA6}" presName="spaceRect" presStyleCnt="0"/>
      <dgm:spPr/>
    </dgm:pt>
    <dgm:pt modelId="{CC1391A0-4A80-4341-9507-BCF5EB72B915}" type="pres">
      <dgm:prSet presAssocID="{AACD9FAA-1F27-461D-9027-B1D04C430BA6}" presName="textRect" presStyleLbl="revTx" presStyleIdx="0" presStyleCnt="4">
        <dgm:presLayoutVars>
          <dgm:chMax val="1"/>
          <dgm:chPref val="1"/>
        </dgm:presLayoutVars>
      </dgm:prSet>
      <dgm:spPr/>
    </dgm:pt>
    <dgm:pt modelId="{B93E725C-6041-402D-B675-854630E307BD}" type="pres">
      <dgm:prSet presAssocID="{6D480C9D-9286-4EBD-99A4-D085A7DCDCEC}" presName="sibTrans" presStyleLbl="sibTrans2D1" presStyleIdx="0" presStyleCnt="0"/>
      <dgm:spPr/>
    </dgm:pt>
    <dgm:pt modelId="{2805E1B4-F490-4F86-A0D2-DA487A15AD55}" type="pres">
      <dgm:prSet presAssocID="{BD1FD4AF-B075-41A6-937D-80F9D600E744}" presName="compNode" presStyleCnt="0"/>
      <dgm:spPr/>
    </dgm:pt>
    <dgm:pt modelId="{7AE604E2-711A-4082-923A-360DF0374929}" type="pres">
      <dgm:prSet presAssocID="{BD1FD4AF-B075-41A6-937D-80F9D600E744}" presName="iconBgRect" presStyleLbl="bgShp" presStyleIdx="1" presStyleCnt="4"/>
      <dgm:spPr/>
    </dgm:pt>
    <dgm:pt modelId="{70E2D889-D6A9-4AE1-B3D9-CE7F133D3B6A}" type="pres">
      <dgm:prSet presAssocID="{BD1FD4AF-B075-41A6-937D-80F9D600E74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8BD948F5-3C74-475C-BD8A-D3A28B1E2022}" type="pres">
      <dgm:prSet presAssocID="{BD1FD4AF-B075-41A6-937D-80F9D600E744}" presName="spaceRect" presStyleCnt="0"/>
      <dgm:spPr/>
    </dgm:pt>
    <dgm:pt modelId="{54E875F0-0F24-48BE-8E79-794ABA933D59}" type="pres">
      <dgm:prSet presAssocID="{BD1FD4AF-B075-41A6-937D-80F9D600E744}" presName="textRect" presStyleLbl="revTx" presStyleIdx="1" presStyleCnt="4">
        <dgm:presLayoutVars>
          <dgm:chMax val="1"/>
          <dgm:chPref val="1"/>
        </dgm:presLayoutVars>
      </dgm:prSet>
      <dgm:spPr/>
    </dgm:pt>
    <dgm:pt modelId="{9D934263-09B3-43B4-94F2-BFCEBC34B975}" type="pres">
      <dgm:prSet presAssocID="{C3495BAB-D4AD-49B9-8A34-862079FC4989}" presName="sibTrans" presStyleLbl="sibTrans2D1" presStyleIdx="0" presStyleCnt="0"/>
      <dgm:spPr/>
    </dgm:pt>
    <dgm:pt modelId="{9D7A0EBA-D5BF-43A9-B175-4079BA7B2ED1}" type="pres">
      <dgm:prSet presAssocID="{F31AE848-84D2-40A4-9CCE-8B47AE1EF632}" presName="compNode" presStyleCnt="0"/>
      <dgm:spPr/>
    </dgm:pt>
    <dgm:pt modelId="{B391A911-B05E-43B5-A850-93FD25B8A26E}" type="pres">
      <dgm:prSet presAssocID="{F31AE848-84D2-40A4-9CCE-8B47AE1EF632}" presName="iconBgRect" presStyleLbl="bgShp" presStyleIdx="2" presStyleCnt="4"/>
      <dgm:spPr/>
    </dgm:pt>
    <dgm:pt modelId="{9394B472-D9FE-4C20-AC2B-D81274B5EFDC}" type="pres">
      <dgm:prSet presAssocID="{F31AE848-84D2-40A4-9CCE-8B47AE1EF632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C4C068E3-5B80-4F6A-B9AC-E56CA5AB67EC}" type="pres">
      <dgm:prSet presAssocID="{F31AE848-84D2-40A4-9CCE-8B47AE1EF632}" presName="spaceRect" presStyleCnt="0"/>
      <dgm:spPr/>
    </dgm:pt>
    <dgm:pt modelId="{517DC8B9-7D8D-4482-B28A-A06876452F0D}" type="pres">
      <dgm:prSet presAssocID="{F31AE848-84D2-40A4-9CCE-8B47AE1EF632}" presName="textRect" presStyleLbl="revTx" presStyleIdx="2" presStyleCnt="4">
        <dgm:presLayoutVars>
          <dgm:chMax val="1"/>
          <dgm:chPref val="1"/>
        </dgm:presLayoutVars>
      </dgm:prSet>
      <dgm:spPr/>
    </dgm:pt>
    <dgm:pt modelId="{054424B7-F743-448B-B384-8D5408452574}" type="pres">
      <dgm:prSet presAssocID="{15B414BF-AD12-4461-BAA7-221490FFF224}" presName="sibTrans" presStyleLbl="sibTrans2D1" presStyleIdx="0" presStyleCnt="0"/>
      <dgm:spPr/>
    </dgm:pt>
    <dgm:pt modelId="{F74EE163-2AEE-44AA-A835-821B27F96866}" type="pres">
      <dgm:prSet presAssocID="{5A2B1552-9D24-4E9D-923F-8BD7D51D59F3}" presName="compNode" presStyleCnt="0"/>
      <dgm:spPr/>
    </dgm:pt>
    <dgm:pt modelId="{07FBAA40-299E-448E-A7E2-9A7D88576623}" type="pres">
      <dgm:prSet presAssocID="{5A2B1552-9D24-4E9D-923F-8BD7D51D59F3}" presName="iconBgRect" presStyleLbl="bgShp" presStyleIdx="3" presStyleCnt="4"/>
      <dgm:spPr/>
    </dgm:pt>
    <dgm:pt modelId="{271C0BA9-22AB-46A3-99CE-D818E154CABD}" type="pres">
      <dgm:prSet presAssocID="{5A2B1552-9D24-4E9D-923F-8BD7D51D59F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39505DDD-3BA4-42F7-A01A-3345D25DB823}" type="pres">
      <dgm:prSet presAssocID="{5A2B1552-9D24-4E9D-923F-8BD7D51D59F3}" presName="spaceRect" presStyleCnt="0"/>
      <dgm:spPr/>
    </dgm:pt>
    <dgm:pt modelId="{30B4B967-D2AD-4CB3-BA30-93E915959506}" type="pres">
      <dgm:prSet presAssocID="{5A2B1552-9D24-4E9D-923F-8BD7D51D59F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597AD818-EB1D-4AA0-A01B-CCA8A2082506}" type="presOf" srcId="{BD1FD4AF-B075-41A6-937D-80F9D600E744}" destId="{54E875F0-0F24-48BE-8E79-794ABA933D59}" srcOrd="0" destOrd="0" presId="urn:microsoft.com/office/officeart/2018/2/layout/IconCircleList"/>
    <dgm:cxn modelId="{AEA0C323-68BF-40C3-AAF5-448D41884EDE}" srcId="{24B5C412-C543-47EB-81B0-BCA4AF3234BE}" destId="{5A2B1552-9D24-4E9D-923F-8BD7D51D59F3}" srcOrd="3" destOrd="0" parTransId="{4BCF1421-F80B-4E75-87B0-FD1E68FEA4A8}" sibTransId="{A1C5E2D6-56C7-4331-AF8D-5E5677832BA3}"/>
    <dgm:cxn modelId="{3ECF4A37-379D-4831-9B0B-E9B77C296FF4}" type="presOf" srcId="{15B414BF-AD12-4461-BAA7-221490FFF224}" destId="{054424B7-F743-448B-B384-8D5408452574}" srcOrd="0" destOrd="0" presId="urn:microsoft.com/office/officeart/2018/2/layout/IconCircleList"/>
    <dgm:cxn modelId="{1414CE39-B2B4-4614-8A4B-EC0980386BC7}" type="presOf" srcId="{24B5C412-C543-47EB-81B0-BCA4AF3234BE}" destId="{DF59B701-D401-4B33-AA1F-305D29FE240E}" srcOrd="0" destOrd="0" presId="urn:microsoft.com/office/officeart/2018/2/layout/IconCircleList"/>
    <dgm:cxn modelId="{541E763F-021B-4BE2-8943-ED646579C885}" type="presOf" srcId="{6D480C9D-9286-4EBD-99A4-D085A7DCDCEC}" destId="{B93E725C-6041-402D-B675-854630E307BD}" srcOrd="0" destOrd="0" presId="urn:microsoft.com/office/officeart/2018/2/layout/IconCircleList"/>
    <dgm:cxn modelId="{8AF35F87-2352-4199-B7C6-516104A8E629}" type="presOf" srcId="{C3495BAB-D4AD-49B9-8A34-862079FC4989}" destId="{9D934263-09B3-43B4-94F2-BFCEBC34B975}" srcOrd="0" destOrd="0" presId="urn:microsoft.com/office/officeart/2018/2/layout/IconCircleList"/>
    <dgm:cxn modelId="{7BA36390-A6E9-4C7E-8DD6-44FB6F26DD09}" type="presOf" srcId="{AACD9FAA-1F27-461D-9027-B1D04C430BA6}" destId="{CC1391A0-4A80-4341-9507-BCF5EB72B915}" srcOrd="0" destOrd="0" presId="urn:microsoft.com/office/officeart/2018/2/layout/IconCircleList"/>
    <dgm:cxn modelId="{97F60BB3-DF05-406E-994D-311E16849FAE}" type="presOf" srcId="{F31AE848-84D2-40A4-9CCE-8B47AE1EF632}" destId="{517DC8B9-7D8D-4482-B28A-A06876452F0D}" srcOrd="0" destOrd="0" presId="urn:microsoft.com/office/officeart/2018/2/layout/IconCircleList"/>
    <dgm:cxn modelId="{7183D6CF-6EC4-4C2B-AD10-9B8C493C433E}" type="presOf" srcId="{5A2B1552-9D24-4E9D-923F-8BD7D51D59F3}" destId="{30B4B967-D2AD-4CB3-BA30-93E915959506}" srcOrd="0" destOrd="0" presId="urn:microsoft.com/office/officeart/2018/2/layout/IconCircleList"/>
    <dgm:cxn modelId="{F919BBD7-D389-44E1-A6DB-E702E31B6C64}" srcId="{24B5C412-C543-47EB-81B0-BCA4AF3234BE}" destId="{BD1FD4AF-B075-41A6-937D-80F9D600E744}" srcOrd="1" destOrd="0" parTransId="{E509216B-9B89-4003-9687-211953B68B14}" sibTransId="{C3495BAB-D4AD-49B9-8A34-862079FC4989}"/>
    <dgm:cxn modelId="{9198A9DB-D136-4FE0-869F-8B429F8D56ED}" srcId="{24B5C412-C543-47EB-81B0-BCA4AF3234BE}" destId="{AACD9FAA-1F27-461D-9027-B1D04C430BA6}" srcOrd="0" destOrd="0" parTransId="{6A947038-A6A3-4F33-AD99-02A4DDABD64E}" sibTransId="{6D480C9D-9286-4EBD-99A4-D085A7DCDCEC}"/>
    <dgm:cxn modelId="{B141CEE7-F453-44AD-B310-BD3933826FA0}" srcId="{24B5C412-C543-47EB-81B0-BCA4AF3234BE}" destId="{F31AE848-84D2-40A4-9CCE-8B47AE1EF632}" srcOrd="2" destOrd="0" parTransId="{84E7DA98-989B-42F5-B320-287CA6C559EC}" sibTransId="{15B414BF-AD12-4461-BAA7-221490FFF224}"/>
    <dgm:cxn modelId="{9B6E2D6E-49C4-43EE-8E41-307D6DA90B46}" type="presParOf" srcId="{DF59B701-D401-4B33-AA1F-305D29FE240E}" destId="{E749794E-A3F7-4DBE-AB1F-DE2222F8FFEF}" srcOrd="0" destOrd="0" presId="urn:microsoft.com/office/officeart/2018/2/layout/IconCircleList"/>
    <dgm:cxn modelId="{50CE78E1-6410-46A8-AEA3-C19C5E72F28A}" type="presParOf" srcId="{E749794E-A3F7-4DBE-AB1F-DE2222F8FFEF}" destId="{0AA3E34A-384B-43C2-B884-0B55894D59F6}" srcOrd="0" destOrd="0" presId="urn:microsoft.com/office/officeart/2018/2/layout/IconCircleList"/>
    <dgm:cxn modelId="{9AEA69B2-E074-4051-BAF2-072DA0C5D1C3}" type="presParOf" srcId="{0AA3E34A-384B-43C2-B884-0B55894D59F6}" destId="{EEEB5030-E6F4-44AA-9E03-C143F07B4B58}" srcOrd="0" destOrd="0" presId="urn:microsoft.com/office/officeart/2018/2/layout/IconCircleList"/>
    <dgm:cxn modelId="{81DDBA8F-5EAE-46E7-8E54-E214445682D6}" type="presParOf" srcId="{0AA3E34A-384B-43C2-B884-0B55894D59F6}" destId="{5BF1866C-4EB0-46EB-AA0D-7389352EF25C}" srcOrd="1" destOrd="0" presId="urn:microsoft.com/office/officeart/2018/2/layout/IconCircleList"/>
    <dgm:cxn modelId="{B1BD00F8-3DEE-46BF-8BDD-DEEF4A122071}" type="presParOf" srcId="{0AA3E34A-384B-43C2-B884-0B55894D59F6}" destId="{95FB7772-B8A2-44DE-B2CC-6737112B56F9}" srcOrd="2" destOrd="0" presId="urn:microsoft.com/office/officeart/2018/2/layout/IconCircleList"/>
    <dgm:cxn modelId="{CC1748FA-E7D5-479F-9027-93C4417C6FCF}" type="presParOf" srcId="{0AA3E34A-384B-43C2-B884-0B55894D59F6}" destId="{CC1391A0-4A80-4341-9507-BCF5EB72B915}" srcOrd="3" destOrd="0" presId="urn:microsoft.com/office/officeart/2018/2/layout/IconCircleList"/>
    <dgm:cxn modelId="{206947B8-6140-4FBE-9566-E15EEBDB2E20}" type="presParOf" srcId="{E749794E-A3F7-4DBE-AB1F-DE2222F8FFEF}" destId="{B93E725C-6041-402D-B675-854630E307BD}" srcOrd="1" destOrd="0" presId="urn:microsoft.com/office/officeart/2018/2/layout/IconCircleList"/>
    <dgm:cxn modelId="{3C322FCC-D8B8-4FF3-84B1-A794D0788824}" type="presParOf" srcId="{E749794E-A3F7-4DBE-AB1F-DE2222F8FFEF}" destId="{2805E1B4-F490-4F86-A0D2-DA487A15AD55}" srcOrd="2" destOrd="0" presId="urn:microsoft.com/office/officeart/2018/2/layout/IconCircleList"/>
    <dgm:cxn modelId="{E232CB87-D438-4D5F-91AD-59E95A319C9E}" type="presParOf" srcId="{2805E1B4-F490-4F86-A0D2-DA487A15AD55}" destId="{7AE604E2-711A-4082-923A-360DF0374929}" srcOrd="0" destOrd="0" presId="urn:microsoft.com/office/officeart/2018/2/layout/IconCircleList"/>
    <dgm:cxn modelId="{0248876E-9106-4148-BF80-083401D3B965}" type="presParOf" srcId="{2805E1B4-F490-4F86-A0D2-DA487A15AD55}" destId="{70E2D889-D6A9-4AE1-B3D9-CE7F133D3B6A}" srcOrd="1" destOrd="0" presId="urn:microsoft.com/office/officeart/2018/2/layout/IconCircleList"/>
    <dgm:cxn modelId="{64B9C59C-D230-4E0D-9FBF-3E0010D09EA3}" type="presParOf" srcId="{2805E1B4-F490-4F86-A0D2-DA487A15AD55}" destId="{8BD948F5-3C74-475C-BD8A-D3A28B1E2022}" srcOrd="2" destOrd="0" presId="urn:microsoft.com/office/officeart/2018/2/layout/IconCircleList"/>
    <dgm:cxn modelId="{7E263ED6-2BC6-45A4-A733-1D61E2458068}" type="presParOf" srcId="{2805E1B4-F490-4F86-A0D2-DA487A15AD55}" destId="{54E875F0-0F24-48BE-8E79-794ABA933D59}" srcOrd="3" destOrd="0" presId="urn:microsoft.com/office/officeart/2018/2/layout/IconCircleList"/>
    <dgm:cxn modelId="{CF1F7F54-39DE-4291-A5F7-9C45AB5618BA}" type="presParOf" srcId="{E749794E-A3F7-4DBE-AB1F-DE2222F8FFEF}" destId="{9D934263-09B3-43B4-94F2-BFCEBC34B975}" srcOrd="3" destOrd="0" presId="urn:microsoft.com/office/officeart/2018/2/layout/IconCircleList"/>
    <dgm:cxn modelId="{008410F2-0076-4A06-8CF5-D8E7077E84BC}" type="presParOf" srcId="{E749794E-A3F7-4DBE-AB1F-DE2222F8FFEF}" destId="{9D7A0EBA-D5BF-43A9-B175-4079BA7B2ED1}" srcOrd="4" destOrd="0" presId="urn:microsoft.com/office/officeart/2018/2/layout/IconCircleList"/>
    <dgm:cxn modelId="{C27A5319-EE7F-4D52-8CA0-84EAD38FCB41}" type="presParOf" srcId="{9D7A0EBA-D5BF-43A9-B175-4079BA7B2ED1}" destId="{B391A911-B05E-43B5-A850-93FD25B8A26E}" srcOrd="0" destOrd="0" presId="urn:microsoft.com/office/officeart/2018/2/layout/IconCircleList"/>
    <dgm:cxn modelId="{0DE00879-9566-413D-A7F7-D896E3CE9E6C}" type="presParOf" srcId="{9D7A0EBA-D5BF-43A9-B175-4079BA7B2ED1}" destId="{9394B472-D9FE-4C20-AC2B-D81274B5EFDC}" srcOrd="1" destOrd="0" presId="urn:microsoft.com/office/officeart/2018/2/layout/IconCircleList"/>
    <dgm:cxn modelId="{504C9053-1BCE-48C1-ACF8-5B0AC1237FAD}" type="presParOf" srcId="{9D7A0EBA-D5BF-43A9-B175-4079BA7B2ED1}" destId="{C4C068E3-5B80-4F6A-B9AC-E56CA5AB67EC}" srcOrd="2" destOrd="0" presId="urn:microsoft.com/office/officeart/2018/2/layout/IconCircleList"/>
    <dgm:cxn modelId="{D2D8E46F-161C-41A0-9349-087315A23765}" type="presParOf" srcId="{9D7A0EBA-D5BF-43A9-B175-4079BA7B2ED1}" destId="{517DC8B9-7D8D-4482-B28A-A06876452F0D}" srcOrd="3" destOrd="0" presId="urn:microsoft.com/office/officeart/2018/2/layout/IconCircleList"/>
    <dgm:cxn modelId="{20924013-839E-4987-94A8-EFEEC7029DCF}" type="presParOf" srcId="{E749794E-A3F7-4DBE-AB1F-DE2222F8FFEF}" destId="{054424B7-F743-448B-B384-8D5408452574}" srcOrd="5" destOrd="0" presId="urn:microsoft.com/office/officeart/2018/2/layout/IconCircleList"/>
    <dgm:cxn modelId="{FB78B9EF-A0FD-40EF-8C2E-6C1B9260D8EE}" type="presParOf" srcId="{E749794E-A3F7-4DBE-AB1F-DE2222F8FFEF}" destId="{F74EE163-2AEE-44AA-A835-821B27F96866}" srcOrd="6" destOrd="0" presId="urn:microsoft.com/office/officeart/2018/2/layout/IconCircleList"/>
    <dgm:cxn modelId="{493EC39F-4832-46D7-A36A-CEACAB3F9E53}" type="presParOf" srcId="{F74EE163-2AEE-44AA-A835-821B27F96866}" destId="{07FBAA40-299E-448E-A7E2-9A7D88576623}" srcOrd="0" destOrd="0" presId="urn:microsoft.com/office/officeart/2018/2/layout/IconCircleList"/>
    <dgm:cxn modelId="{F325339B-3D7A-4C00-B953-646C0CFDF140}" type="presParOf" srcId="{F74EE163-2AEE-44AA-A835-821B27F96866}" destId="{271C0BA9-22AB-46A3-99CE-D818E154CABD}" srcOrd="1" destOrd="0" presId="urn:microsoft.com/office/officeart/2018/2/layout/IconCircleList"/>
    <dgm:cxn modelId="{BE74F483-D6A5-420D-97AD-C9B1EC49EF28}" type="presParOf" srcId="{F74EE163-2AEE-44AA-A835-821B27F96866}" destId="{39505DDD-3BA4-42F7-A01A-3345D25DB823}" srcOrd="2" destOrd="0" presId="urn:microsoft.com/office/officeart/2018/2/layout/IconCircleList"/>
    <dgm:cxn modelId="{1970A183-0177-45F4-8014-5560DC3B3CD5}" type="presParOf" srcId="{F74EE163-2AEE-44AA-A835-821B27F96866}" destId="{30B4B967-D2AD-4CB3-BA30-93E91595950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04F287-70CB-804C-985C-4AC1A714A328}">
      <dsp:nvSpPr>
        <dsp:cNvPr id="0" name=""/>
        <dsp:cNvSpPr/>
      </dsp:nvSpPr>
      <dsp:spPr>
        <a:xfrm>
          <a:off x="0" y="0"/>
          <a:ext cx="615183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EAAA8C-1F10-1041-A00F-F9BE8A2EE60D}">
      <dsp:nvSpPr>
        <dsp:cNvPr id="0" name=""/>
        <dsp:cNvSpPr/>
      </dsp:nvSpPr>
      <dsp:spPr>
        <a:xfrm>
          <a:off x="0" y="0"/>
          <a:ext cx="1230366" cy="28537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AI-Generated Content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</dsp:txBody>
      <dsp:txXfrm>
        <a:off x="0" y="0"/>
        <a:ext cx="1230366" cy="2853729"/>
      </dsp:txXfrm>
    </dsp:sp>
    <dsp:sp modelId="{A45BF96E-C4D3-D947-AF6D-AA6B25EC3BFD}">
      <dsp:nvSpPr>
        <dsp:cNvPr id="0" name=""/>
        <dsp:cNvSpPr/>
      </dsp:nvSpPr>
      <dsp:spPr>
        <a:xfrm>
          <a:off x="1322643" y="129588"/>
          <a:ext cx="4829187" cy="2591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Leverages my fine-tuned GPT-3.5 model to generate randomized, syntactically correct code snippets on demand. No static databases.</a:t>
          </a:r>
        </a:p>
      </dsp:txBody>
      <dsp:txXfrm>
        <a:off x="1322643" y="129588"/>
        <a:ext cx="4829187" cy="2591765"/>
      </dsp:txXfrm>
    </dsp:sp>
    <dsp:sp modelId="{7BD5853B-1895-C34E-8D92-4249042937AA}">
      <dsp:nvSpPr>
        <dsp:cNvPr id="0" name=""/>
        <dsp:cNvSpPr/>
      </dsp:nvSpPr>
      <dsp:spPr>
        <a:xfrm>
          <a:off x="1230366" y="2721353"/>
          <a:ext cx="492146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17C85C-2962-7141-9571-600CCF33521D}">
      <dsp:nvSpPr>
        <dsp:cNvPr id="0" name=""/>
        <dsp:cNvSpPr/>
      </dsp:nvSpPr>
      <dsp:spPr>
        <a:xfrm>
          <a:off x="0" y="2853729"/>
          <a:ext cx="6151830" cy="0"/>
        </a:xfrm>
        <a:prstGeom prst="line">
          <a:avLst/>
        </a:prstGeom>
        <a:solidFill>
          <a:schemeClr val="accent2">
            <a:hueOff val="1234227"/>
            <a:satOff val="7845"/>
            <a:lumOff val="-20196"/>
            <a:alphaOff val="0"/>
          </a:schemeClr>
        </a:solidFill>
        <a:ln w="12700" cap="flat" cmpd="sng" algn="ctr">
          <a:solidFill>
            <a:schemeClr val="accent2">
              <a:hueOff val="1234227"/>
              <a:satOff val="7845"/>
              <a:lumOff val="-2019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D539E2-A870-604D-944C-017683E9C099}">
      <dsp:nvSpPr>
        <dsp:cNvPr id="0" name=""/>
        <dsp:cNvSpPr/>
      </dsp:nvSpPr>
      <dsp:spPr>
        <a:xfrm>
          <a:off x="0" y="2853729"/>
          <a:ext cx="1230366" cy="28537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Real-Time Metrics</a:t>
          </a:r>
        </a:p>
      </dsp:txBody>
      <dsp:txXfrm>
        <a:off x="0" y="2853729"/>
        <a:ext cx="1230366" cy="2853729"/>
      </dsp:txXfrm>
    </dsp:sp>
    <dsp:sp modelId="{CC31482E-50F5-D241-A8C8-1A0836A1D5F6}">
      <dsp:nvSpPr>
        <dsp:cNvPr id="0" name=""/>
        <dsp:cNvSpPr/>
      </dsp:nvSpPr>
      <dsp:spPr>
        <a:xfrm>
          <a:off x="1322643" y="2983317"/>
          <a:ext cx="4829187" cy="2591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Tracks WPM, accuracy, and error count character-by-character using a custom JavaScript implementation embedded in Streamlit.</a:t>
          </a:r>
        </a:p>
      </dsp:txBody>
      <dsp:txXfrm>
        <a:off x="1322643" y="2983317"/>
        <a:ext cx="4829187" cy="2591765"/>
      </dsp:txXfrm>
    </dsp:sp>
    <dsp:sp modelId="{19B30E03-8510-B44E-A527-16D666DE0912}">
      <dsp:nvSpPr>
        <dsp:cNvPr id="0" name=""/>
        <dsp:cNvSpPr/>
      </dsp:nvSpPr>
      <dsp:spPr>
        <a:xfrm>
          <a:off x="1230366" y="5575082"/>
          <a:ext cx="492146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EB5030-E6F4-44AA-9E03-C143F07B4B58}">
      <dsp:nvSpPr>
        <dsp:cNvPr id="0" name=""/>
        <dsp:cNvSpPr/>
      </dsp:nvSpPr>
      <dsp:spPr>
        <a:xfrm>
          <a:off x="138073" y="175267"/>
          <a:ext cx="1297586" cy="129758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F1866C-4EB0-46EB-AA0D-7389352EF25C}">
      <dsp:nvSpPr>
        <dsp:cNvPr id="0" name=""/>
        <dsp:cNvSpPr/>
      </dsp:nvSpPr>
      <dsp:spPr>
        <a:xfrm>
          <a:off x="410566" y="447760"/>
          <a:ext cx="752600" cy="7526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1391A0-4A80-4341-9507-BCF5EB72B915}">
      <dsp:nvSpPr>
        <dsp:cNvPr id="0" name=""/>
        <dsp:cNvSpPr/>
      </dsp:nvSpPr>
      <dsp:spPr>
        <a:xfrm>
          <a:off x="1713713" y="175267"/>
          <a:ext cx="3058596" cy="12975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Frontend:</a:t>
          </a:r>
          <a:r>
            <a:rPr lang="en-US" sz="1900" kern="1200" dirty="0"/>
            <a:t> Streamlit (Python) handles state management and UI layout.</a:t>
          </a:r>
        </a:p>
      </dsp:txBody>
      <dsp:txXfrm>
        <a:off x="1713713" y="175267"/>
        <a:ext cx="3058596" cy="1297586"/>
      </dsp:txXfrm>
    </dsp:sp>
    <dsp:sp modelId="{7AE604E2-711A-4082-923A-360DF0374929}">
      <dsp:nvSpPr>
        <dsp:cNvPr id="0" name=""/>
        <dsp:cNvSpPr/>
      </dsp:nvSpPr>
      <dsp:spPr>
        <a:xfrm>
          <a:off x="5305247" y="175267"/>
          <a:ext cx="1297586" cy="129758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E2D889-D6A9-4AE1-B3D9-CE7F133D3B6A}">
      <dsp:nvSpPr>
        <dsp:cNvPr id="0" name=""/>
        <dsp:cNvSpPr/>
      </dsp:nvSpPr>
      <dsp:spPr>
        <a:xfrm>
          <a:off x="5577740" y="447760"/>
          <a:ext cx="752600" cy="7526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E875F0-0F24-48BE-8E79-794ABA933D59}">
      <dsp:nvSpPr>
        <dsp:cNvPr id="0" name=""/>
        <dsp:cNvSpPr/>
      </dsp:nvSpPr>
      <dsp:spPr>
        <a:xfrm>
          <a:off x="6880887" y="175267"/>
          <a:ext cx="3058596" cy="12975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Backend Logic:</a:t>
          </a:r>
          <a:r>
            <a:rPr lang="en-US" sz="1900" kern="1200"/>
            <a:t> OpenAI API (`ft:gpt-3.5-turbo`) generates content dynamically.</a:t>
          </a:r>
        </a:p>
      </dsp:txBody>
      <dsp:txXfrm>
        <a:off x="6880887" y="175267"/>
        <a:ext cx="3058596" cy="1297586"/>
      </dsp:txXfrm>
    </dsp:sp>
    <dsp:sp modelId="{B391A911-B05E-43B5-A850-93FD25B8A26E}">
      <dsp:nvSpPr>
        <dsp:cNvPr id="0" name=""/>
        <dsp:cNvSpPr/>
      </dsp:nvSpPr>
      <dsp:spPr>
        <a:xfrm>
          <a:off x="138073" y="2076191"/>
          <a:ext cx="1297586" cy="129758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94B472-D9FE-4C20-AC2B-D81274B5EFDC}">
      <dsp:nvSpPr>
        <dsp:cNvPr id="0" name=""/>
        <dsp:cNvSpPr/>
      </dsp:nvSpPr>
      <dsp:spPr>
        <a:xfrm>
          <a:off x="410566" y="2348684"/>
          <a:ext cx="752600" cy="7526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7DC8B9-7D8D-4482-B28A-A06876452F0D}">
      <dsp:nvSpPr>
        <dsp:cNvPr id="0" name=""/>
        <dsp:cNvSpPr/>
      </dsp:nvSpPr>
      <dsp:spPr>
        <a:xfrm>
          <a:off x="1713713" y="2076191"/>
          <a:ext cx="3058596" cy="12975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/>
            <a:t>Bridge:</a:t>
          </a:r>
          <a:r>
            <a:rPr lang="en-US" sz="1900" kern="1200" dirty="0"/>
            <a:t> `streamlit.components.v1` renders a custom HTML/JS isolated </a:t>
          </a:r>
          <a:r>
            <a:rPr lang="en-US" sz="1900" kern="1200" dirty="0" err="1"/>
            <a:t>iframe</a:t>
          </a:r>
          <a:r>
            <a:rPr lang="en-US" sz="1900" kern="1200" dirty="0"/>
            <a:t>.</a:t>
          </a:r>
        </a:p>
      </dsp:txBody>
      <dsp:txXfrm>
        <a:off x="1713713" y="2076191"/>
        <a:ext cx="3058596" cy="1297586"/>
      </dsp:txXfrm>
    </dsp:sp>
    <dsp:sp modelId="{07FBAA40-299E-448E-A7E2-9A7D88576623}">
      <dsp:nvSpPr>
        <dsp:cNvPr id="0" name=""/>
        <dsp:cNvSpPr/>
      </dsp:nvSpPr>
      <dsp:spPr>
        <a:xfrm>
          <a:off x="5305247" y="2076191"/>
          <a:ext cx="1297586" cy="129758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1C0BA9-22AB-46A3-99CE-D818E154CABD}">
      <dsp:nvSpPr>
        <dsp:cNvPr id="0" name=""/>
        <dsp:cNvSpPr/>
      </dsp:nvSpPr>
      <dsp:spPr>
        <a:xfrm>
          <a:off x="5577740" y="2348684"/>
          <a:ext cx="752600" cy="7526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4B967-D2AD-4CB3-BA30-93E915959506}">
      <dsp:nvSpPr>
        <dsp:cNvPr id="0" name=""/>
        <dsp:cNvSpPr/>
      </dsp:nvSpPr>
      <dsp:spPr>
        <a:xfrm>
          <a:off x="6880887" y="2076191"/>
          <a:ext cx="3058596" cy="12975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Data Flow:</a:t>
          </a:r>
          <a:r>
            <a:rPr lang="en-US" sz="1900" kern="1200"/>
            <a:t> Python fetches snippet -&gt; Sends to JS -&gt; JS captures events -&gt; Returns metrics to Python.</a:t>
          </a:r>
        </a:p>
      </dsp:txBody>
      <dsp:txXfrm>
        <a:off x="6880887" y="2076191"/>
        <a:ext cx="3058596" cy="12975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1F8066-EB39-1C4A-AD3D-BA725F41F566}" type="datetimeFigureOut">
              <a:rPr lang="en-US" smtClean="0"/>
              <a:t>11/23/25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7F6BA1-2ECF-C347-AB09-C10534EF1D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57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7F6BA1-2ECF-C347-AB09-C10534EF1D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81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95624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9503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25114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5165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11/23/25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47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11/23/25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12557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11/23/25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64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1689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11/23/25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3556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9867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11/23/25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46645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11/23/25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372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14" r:id="rId6"/>
    <p:sldLayoutId id="2147483809" r:id="rId7"/>
    <p:sldLayoutId id="2147483810" r:id="rId8"/>
    <p:sldLayoutId id="2147483811" r:id="rId9"/>
    <p:sldLayoutId id="2147483813" r:id="rId10"/>
    <p:sldLayoutId id="214748381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3.png"/><Relationship Id="rId5" Type="http://schemas.openxmlformats.org/officeDocument/2006/relationships/hyperlink" Target="https://codetypetrainer.streamlit.app/?embed_options=dark_theme" TargetMode="External"/><Relationship Id="rId4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46BEDD-56E6-2808-371A-186ED1B29C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5313400" cy="1978346"/>
          </a:xfrm>
        </p:spPr>
        <p:txBody>
          <a:bodyPr>
            <a:normAutofit/>
          </a:bodyPr>
          <a:lstStyle/>
          <a:p>
            <a:r>
              <a:rPr lang="en-US"/>
              <a:t>CodeType Trainer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FF7F74-CF7C-7C0D-4555-4DA04C0EE0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5313400" cy="241818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400" dirty="0"/>
              <a:t>A Real-Time Syntax Typing Tutor Powered by a fine-tuned OpenAI model</a:t>
            </a:r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r>
              <a:rPr lang="en-US" sz="1400" dirty="0"/>
              <a:t>Jonathan Steen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Bellevue University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DSC670 – Advanced Uses of Generative AI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Instructor: Frank Neugebauer</a:t>
            </a:r>
          </a:p>
          <a:p>
            <a:pPr>
              <a:lnSpc>
                <a:spcPct val="100000"/>
              </a:lnSpc>
            </a:pPr>
            <a:r>
              <a:rPr lang="en-US" sz="1400" dirty="0"/>
              <a:t>November 22, 2025</a:t>
            </a:r>
          </a:p>
          <a:p>
            <a:pPr>
              <a:lnSpc>
                <a:spcPct val="100000"/>
              </a:lnSpc>
            </a:pPr>
            <a:endParaRPr lang="en-US" sz="1400" dirty="0"/>
          </a:p>
        </p:txBody>
      </p:sp>
      <p:sp>
        <p:nvSpPr>
          <p:cNvPr id="29" name="Freeform: Shape 10">
            <a:extLst>
              <a:ext uri="{FF2B5EF4-FFF2-40B4-BE49-F238E27FC236}">
                <a16:creationId xmlns:a16="http://schemas.microsoft.com/office/drawing/2014/main" id="{3D505D40-32E9-4C48-81F8-AD80433BE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-7670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507BF36-B92B-4CAC-BCA7-8364B51E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1701611" y="285553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276237E-3A6D-452F-879C-FB8C77A18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8BC9243-F4BF-48A7-89AE-DFA5B37D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DE414EC-F3DF-412E-9B22-5328DAA99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7" name="Graphic 12">
              <a:extLst>
                <a:ext uri="{FF2B5EF4-FFF2-40B4-BE49-F238E27FC236}">
                  <a16:creationId xmlns:a16="http://schemas.microsoft.com/office/drawing/2014/main" id="{039C06B1-FDEA-47B1-8222-7D622CD72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B834C8C1-9BD1-4635-8E5B-65815F90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Graphic 15">
              <a:extLst>
                <a:ext uri="{FF2B5EF4-FFF2-40B4-BE49-F238E27FC236}">
                  <a16:creationId xmlns:a16="http://schemas.microsoft.com/office/drawing/2014/main" id="{2963D456-B3F4-4EDC-827E-645741F64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3A58845-EFFB-4806-BC6D-47418C15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2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3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5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30" name="Picture 29" descr="A green and black geometric shapes&#10;&#10;AI-generated content may be incorrect.">
            <a:extLst>
              <a:ext uri="{FF2B5EF4-FFF2-40B4-BE49-F238E27FC236}">
                <a16:creationId xmlns:a16="http://schemas.microsoft.com/office/drawing/2014/main" id="{DBACF26F-D9E2-3AAF-D07B-0E10496DD16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82" r="651"/>
          <a:stretch>
            <a:fillRect/>
          </a:stretch>
        </p:blipFill>
        <p:spPr>
          <a:xfrm>
            <a:off x="6522720" y="10"/>
            <a:ext cx="56692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364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3DF77D-67F1-C905-3F28-F8AD21B6A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5566263" cy="1455091"/>
          </a:xfrm>
        </p:spPr>
        <p:txBody>
          <a:bodyPr>
            <a:normAutofit/>
          </a:bodyPr>
          <a:lstStyle/>
          <a:p>
            <a:r>
              <a:rPr lang="en-US" dirty="0"/>
              <a:t>The Problem: Syntax Fluency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09D30-735A-B4AF-5507-9F1A84C50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5566263" cy="3274503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Muscle Memory Gap:</a:t>
            </a:r>
            <a:r>
              <a:rPr lang="en-US" sz="1700"/>
              <a:t> Standard typing tutors use English prose, not code syntax like `{}`, `[]`, or `=&gt;`.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Language Specificity:</a:t>
            </a:r>
            <a:r>
              <a:rPr lang="en-US" sz="1700"/>
              <a:t> Developers need to practice the idiomatic patterns of specific languages (Python vs. JS).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Speed vs. Accuracy:</a:t>
            </a:r>
            <a:r>
              <a:rPr lang="en-US" sz="1700"/>
              <a:t> In live coding interviews or rapid development, syntax errors break flow.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700" b="1"/>
              <a:t>Goal:</a:t>
            </a:r>
            <a:r>
              <a:rPr lang="en-US" sz="1700"/>
              <a:t> Build a tool that generates infinite, valid coding scenarios for practice.</a:t>
            </a:r>
          </a:p>
          <a:p>
            <a:pPr>
              <a:lnSpc>
                <a:spcPct val="100000"/>
              </a:lnSpc>
            </a:pPr>
            <a:endParaRPr lang="en-US" sz="1700"/>
          </a:p>
        </p:txBody>
      </p:sp>
      <p:pic>
        <p:nvPicPr>
          <p:cNvPr id="5" name="Picture 4" descr="Autoradiogram on white paper">
            <a:extLst>
              <a:ext uri="{FF2B5EF4-FFF2-40B4-BE49-F238E27FC236}">
                <a16:creationId xmlns:a16="http://schemas.microsoft.com/office/drawing/2014/main" id="{67E99DEA-E244-8293-0BEF-1F2B66144D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27" r="14872"/>
          <a:stretch>
            <a:fillRect/>
          </a:stretch>
        </p:blipFill>
        <p:spPr>
          <a:xfrm>
            <a:off x="6531789" y="10"/>
            <a:ext cx="5660211" cy="6857990"/>
          </a:xfrm>
          <a:prstGeom prst="rect">
            <a:avLst/>
          </a:prstGeom>
        </p:spPr>
      </p:pic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07084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19578A-F8F5-2AC7-A432-D62236758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638176"/>
            <a:ext cx="4266544" cy="2861770"/>
          </a:xfrm>
        </p:spPr>
        <p:txBody>
          <a:bodyPr anchor="b">
            <a:normAutofit/>
          </a:bodyPr>
          <a:lstStyle/>
          <a:p>
            <a:r>
              <a:rPr lang="en-US" dirty="0"/>
              <a:t>The Solution: CodeType Trainer</a:t>
            </a:r>
          </a:p>
        </p:txBody>
      </p:sp>
      <p:grpSp>
        <p:nvGrpSpPr>
          <p:cNvPr id="11" name="Graphic 78">
            <a:extLst>
              <a:ext uri="{FF2B5EF4-FFF2-40B4-BE49-F238E27FC236}">
                <a16:creationId xmlns:a16="http://schemas.microsoft.com/office/drawing/2014/main" id="{91868ACA-CC8C-4FA4-8E32-6DB1C7DA9E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69585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6" name="Graphic 78">
              <a:extLst>
                <a:ext uri="{FF2B5EF4-FFF2-40B4-BE49-F238E27FC236}">
                  <a16:creationId xmlns:a16="http://schemas.microsoft.com/office/drawing/2014/main" id="{7C343158-D3CD-4482-AAA0-375D2E6667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3" name="Graphic 78">
              <a:extLst>
                <a:ext uri="{FF2B5EF4-FFF2-40B4-BE49-F238E27FC236}">
                  <a16:creationId xmlns:a16="http://schemas.microsoft.com/office/drawing/2014/main" id="{12BFE3E3-92EC-47DC-8E6A-6E77132C2D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7" name="Graphic 78">
                <a:extLst>
                  <a:ext uri="{FF2B5EF4-FFF2-40B4-BE49-F238E27FC236}">
                    <a16:creationId xmlns:a16="http://schemas.microsoft.com/office/drawing/2014/main" id="{1F0F2188-9504-4EAD-A8A2-B1779FB86B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Graphic 78">
                <a:extLst>
                  <a:ext uri="{FF2B5EF4-FFF2-40B4-BE49-F238E27FC236}">
                    <a16:creationId xmlns:a16="http://schemas.microsoft.com/office/drawing/2014/main" id="{14602C7D-08A5-44A5-B005-E79603849E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099F2E62-E605-487B-AC3C-11052444D8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02A21D38-C00D-4E35-8B0F-3E63C4B376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EBB1C8B7-017D-E838-7CC8-37E360AFF7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21328"/>
              </p:ext>
            </p:extLst>
          </p:nvPr>
        </p:nvGraphicFramePr>
        <p:xfrm>
          <a:off x="5402620" y="497732"/>
          <a:ext cx="6151831" cy="57074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33741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D0C83-39FB-004D-58BD-A91794230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AE42B6-C536-966A-CD2F-1FE49F2EEC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3440971"/>
              </p:ext>
            </p:extLst>
          </p:nvPr>
        </p:nvGraphicFramePr>
        <p:xfrm>
          <a:off x="525717" y="2521885"/>
          <a:ext cx="10077557" cy="35490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83608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6DF6A7-5777-082A-ED2D-B29C58C5D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4663649" cy="1455091"/>
          </a:xfrm>
        </p:spPr>
        <p:txBody>
          <a:bodyPr>
            <a:normAutofit/>
          </a:bodyPr>
          <a:lstStyle/>
          <a:p>
            <a:r>
              <a:rPr lang="en-US" dirty="0"/>
              <a:t>Technology Stack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4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5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3A210-8FB1-EB76-DCAD-C979E98B8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4663649" cy="327450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 b="1" dirty="0"/>
              <a:t>Python &amp; Streamlit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Core application logic, session state management, and UI framework.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OpenAI API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Fine-tuned model `ft:gpt-3.5-turbo-0125` for strict output formatting.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Custom prompting as well for extra hardening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HTML5 / JS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Custom component for low-latency event handling (</a:t>
            </a:r>
            <a:r>
              <a:rPr lang="en-US" sz="1400" dirty="0" err="1"/>
              <a:t>keydown</a:t>
            </a:r>
            <a:r>
              <a:rPr lang="en-US" sz="1400" dirty="0"/>
              <a:t> listeners) and visual feedback.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/>
          </a:p>
        </p:txBody>
      </p:sp>
      <p:pic>
        <p:nvPicPr>
          <p:cNvPr id="7" name="Graphic 6" descr="Programmer">
            <a:extLst>
              <a:ext uri="{FF2B5EF4-FFF2-40B4-BE49-F238E27FC236}">
                <a16:creationId xmlns:a16="http://schemas.microsoft.com/office/drawing/2014/main" id="{54845C0F-A2AB-1019-E401-DE4B49DF8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3780" y="553415"/>
            <a:ext cx="5660211" cy="5660211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8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3882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75C52-A250-8FBC-64E8-B6CBCFB6C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4663649" cy="1455091"/>
          </a:xfrm>
        </p:spPr>
        <p:txBody>
          <a:bodyPr>
            <a:normAutofit/>
          </a:bodyPr>
          <a:lstStyle/>
          <a:p>
            <a:r>
              <a:rPr lang="en-US" dirty="0"/>
              <a:t>Live Demo &amp; UX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5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6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7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48FB1F1-F87F-A823-405C-AF25B432D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4663649" cy="327450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Video Demo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Live App</a:t>
            </a:r>
          </a:p>
          <a:p>
            <a:pPr lvl="1" indent="0">
              <a:buNone/>
            </a:pPr>
            <a:r>
              <a:rPr lang="en-US" dirty="0">
                <a:hlinkClick r:id="rId5"/>
              </a:rPr>
              <a:t>https://codetypetrainer.streamlit.app/?embed_options=dark_theme</a:t>
            </a:r>
            <a:endParaRPr lang="en-US" dirty="0"/>
          </a:p>
          <a:p>
            <a:pPr lvl="1" indent="0">
              <a:buNone/>
            </a:pPr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9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CodeType Trainer Demo.mp4">
            <a:hlinkClick r:id="" action="ppaction://media"/>
            <a:extLst>
              <a:ext uri="{FF2B5EF4-FFF2-40B4-BE49-F238E27FC236}">
                <a16:creationId xmlns:a16="http://schemas.microsoft.com/office/drawing/2014/main" id="{2380D45E-A60C-4DD6-2085-594CE3AEC4C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012382" y="-3092"/>
            <a:ext cx="5480793" cy="6850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4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1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1"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AEEDEA-A230-AD92-B3FD-BC27FB7F2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4663649" cy="1455091"/>
          </a:xfrm>
        </p:spPr>
        <p:txBody>
          <a:bodyPr>
            <a:normAutofit/>
          </a:bodyPr>
          <a:lstStyle/>
          <a:p>
            <a:r>
              <a:rPr lang="en-US" dirty="0"/>
              <a:t>Project Summary</a:t>
            </a:r>
          </a:p>
        </p:txBody>
      </p:sp>
      <p:sp>
        <p:nvSpPr>
          <p:cNvPr id="34" name="Freeform: Shape 11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5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6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7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41" name="Content Placeholder 2">
            <a:extLst>
              <a:ext uri="{FF2B5EF4-FFF2-40B4-BE49-F238E27FC236}">
                <a16:creationId xmlns:a16="http://schemas.microsoft.com/office/drawing/2014/main" id="{4AE5FD2B-1961-1D46-9152-09EFAB0AD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717" y="2796427"/>
            <a:ext cx="4663649" cy="3274503"/>
          </a:xfrm>
        </p:spPr>
        <p:txBody>
          <a:bodyPr>
            <a:normAutofit lnSpcReduction="10000"/>
          </a:bodyPr>
          <a:lstStyle/>
          <a:p>
            <a:r>
              <a:rPr lang="en-US" sz="1900" b="1" dirty="0"/>
              <a:t>CodeType Trainer</a:t>
            </a:r>
          </a:p>
          <a:p>
            <a:r>
              <a:rPr lang="en-US" sz="1900" dirty="0"/>
              <a:t>A full-stack application demonstrating the power of integrating Generative AI with traditional web frontend logic.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b="1" dirty="0"/>
              <a:t>Functional</a:t>
            </a:r>
            <a:r>
              <a:rPr lang="en-US" sz="1900" dirty="0"/>
              <a:t>: Real-time syntax practice.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b="1" dirty="0"/>
              <a:t>Technical</a:t>
            </a:r>
            <a:r>
              <a:rPr lang="en-US" sz="1900" dirty="0"/>
              <a:t>: Advanced usage of Streamlit Components.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b="1" dirty="0"/>
              <a:t>AI-Driven</a:t>
            </a:r>
            <a:r>
              <a:rPr lang="en-US" sz="1900" dirty="0"/>
              <a:t>: Custom Fine-Tuned Model.</a:t>
            </a:r>
          </a:p>
        </p:txBody>
      </p:sp>
      <p:pic>
        <p:nvPicPr>
          <p:cNvPr id="42" name="Graphic 41" descr="Robot">
            <a:extLst>
              <a:ext uri="{FF2B5EF4-FFF2-40B4-BE49-F238E27FC236}">
                <a16:creationId xmlns:a16="http://schemas.microsoft.com/office/drawing/2014/main" id="{2D0F6768-3235-71FF-DA9B-D9156108D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3780" y="553415"/>
            <a:ext cx="5660211" cy="5660211"/>
          </a:xfrm>
          <a:prstGeom prst="rect">
            <a:avLst/>
          </a:prstGeom>
        </p:spPr>
      </p:pic>
      <p:sp>
        <p:nvSpPr>
          <p:cNvPr id="43" name="Freeform: Shape 21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5" name="Freeform: Shape 24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6" name="Freeform: Shape 25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7" name="Freeform: Shape 26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8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30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60130929"/>
      </p:ext>
    </p:extLst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Custom 101">
      <a:dk1>
        <a:sysClr val="windowText" lastClr="000000"/>
      </a:dk1>
      <a:lt1>
        <a:sysClr val="window" lastClr="FFFFFF"/>
      </a:lt1>
      <a:dk2>
        <a:srgbClr val="463443"/>
      </a:dk2>
      <a:lt2>
        <a:srgbClr val="F3F0E9"/>
      </a:lt2>
      <a:accent1>
        <a:srgbClr val="D45E5E"/>
      </a:accent1>
      <a:accent2>
        <a:srgbClr val="D49D8C"/>
      </a:accent2>
      <a:accent3>
        <a:srgbClr val="BF873A"/>
      </a:accent3>
      <a:accent4>
        <a:srgbClr val="C05050"/>
      </a:accent4>
      <a:accent5>
        <a:srgbClr val="A89F68"/>
      </a:accent5>
      <a:accent6>
        <a:srgbClr val="8F6B8A"/>
      </a:accent6>
      <a:hlink>
        <a:srgbClr val="D75681"/>
      </a:hlink>
      <a:folHlink>
        <a:srgbClr val="6C9D92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341</Words>
  <Application>Microsoft Macintosh PowerPoint</Application>
  <PresentationFormat>Widescreen</PresentationFormat>
  <Paragraphs>43</Paragraphs>
  <Slides>7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Avenir Next LT Pro</vt:lpstr>
      <vt:lpstr>Avenir Next LT Pro Light</vt:lpstr>
      <vt:lpstr>Georgia Pro Semibold</vt:lpstr>
      <vt:lpstr>RocaVTI</vt:lpstr>
      <vt:lpstr>CodeType Trainer</vt:lpstr>
      <vt:lpstr>The Problem: Syntax Fluency</vt:lpstr>
      <vt:lpstr>The Solution: CodeType Trainer</vt:lpstr>
      <vt:lpstr>System Architecture</vt:lpstr>
      <vt:lpstr>Technology Stack</vt:lpstr>
      <vt:lpstr>Live Demo &amp; UX</vt:lpstr>
      <vt:lpstr>Project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Steen, Jonathan E</dc:creator>
  <cp:lastModifiedBy>Steen, Jonathan E</cp:lastModifiedBy>
  <cp:revision>8</cp:revision>
  <dcterms:created xsi:type="dcterms:W3CDTF">2025-11-24T01:07:48Z</dcterms:created>
  <dcterms:modified xsi:type="dcterms:W3CDTF">2025-11-24T02:12:40Z</dcterms:modified>
</cp:coreProperties>
</file>