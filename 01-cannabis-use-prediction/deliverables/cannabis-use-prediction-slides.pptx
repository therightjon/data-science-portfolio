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9" r:id="rId11"/>
    <p:sldId id="264" r:id="rId12"/>
    <p:sldId id="268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81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8"/>
    <p:restoredTop sz="94656"/>
  </p:normalViewPr>
  <p:slideViewPr>
    <p:cSldViewPr snapToGrid="0">
      <p:cViewPr varScale="1">
        <p:scale>
          <a:sx n="181" d="100"/>
          <a:sy n="181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8" d="100"/>
          <a:sy n="148" d="100"/>
        </p:scale>
        <p:origin x="638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170562-C737-4651-BD24-F705DD26C96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6113FF-397C-44DD-9AAF-18ECDE5F1914}">
      <dgm:prSet/>
      <dgm:spPr/>
      <dgm:t>
        <a:bodyPr/>
        <a:lstStyle/>
        <a:p>
          <a:r>
            <a:rPr lang="en-US"/>
            <a:t>Identify predictors of cannabis use in the Canadian population.</a:t>
          </a:r>
        </a:p>
      </dgm:t>
    </dgm:pt>
    <dgm:pt modelId="{A1C0C01A-4B69-4871-B8AA-CD3D57676F03}" type="parTrans" cxnId="{BC130806-92A3-4E97-B127-0B4006DC6CAF}">
      <dgm:prSet/>
      <dgm:spPr/>
      <dgm:t>
        <a:bodyPr/>
        <a:lstStyle/>
        <a:p>
          <a:endParaRPr lang="en-US"/>
        </a:p>
      </dgm:t>
    </dgm:pt>
    <dgm:pt modelId="{EA415B8F-A6C7-4254-92FF-A5A0FF545934}" type="sibTrans" cxnId="{BC130806-92A3-4E97-B127-0B4006DC6CA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EA60421-0821-46F9-AC66-6F97EF3D4AD6}">
      <dgm:prSet/>
      <dgm:spPr/>
      <dgm:t>
        <a:bodyPr/>
        <a:lstStyle/>
        <a:p>
          <a:r>
            <a:rPr lang="en-US"/>
            <a:t>Build and evaluate models to distinguish users from non-users.</a:t>
          </a:r>
        </a:p>
      </dgm:t>
    </dgm:pt>
    <dgm:pt modelId="{C9CA5143-EF4D-4DAD-B7F0-275F1FAE6C8C}" type="parTrans" cxnId="{7C44771F-DEC6-4BBC-831C-FE8CBC001468}">
      <dgm:prSet/>
      <dgm:spPr/>
      <dgm:t>
        <a:bodyPr/>
        <a:lstStyle/>
        <a:p>
          <a:endParaRPr lang="en-US"/>
        </a:p>
      </dgm:t>
    </dgm:pt>
    <dgm:pt modelId="{4C6ADE96-2931-4F38-8ECC-FF658BAA9129}" type="sibTrans" cxnId="{7C44771F-DEC6-4BBC-831C-FE8CBC00146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8785841-7140-4AC8-94EA-5BCF80CACAA1}">
      <dgm:prSet/>
      <dgm:spPr/>
      <dgm:t>
        <a:bodyPr/>
        <a:lstStyle/>
        <a:p>
          <a:r>
            <a:rPr lang="en-US"/>
            <a:t>Demonstrate the effect of class imbalance and correction strategies.</a:t>
          </a:r>
        </a:p>
      </dgm:t>
    </dgm:pt>
    <dgm:pt modelId="{2CCCEE5B-57CB-44DE-A088-A696E48A4D91}" type="parTrans" cxnId="{A30AE66D-3483-405A-A40C-06C2BB81C765}">
      <dgm:prSet/>
      <dgm:spPr/>
      <dgm:t>
        <a:bodyPr/>
        <a:lstStyle/>
        <a:p>
          <a:endParaRPr lang="en-US"/>
        </a:p>
      </dgm:t>
    </dgm:pt>
    <dgm:pt modelId="{DA471CA9-DA44-4E70-85F2-65F73F57F6A9}" type="sibTrans" cxnId="{A30AE66D-3483-405A-A40C-06C2BB81C76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F55D414-2F22-6447-9BCF-0B85D55C4B3D}" type="pres">
      <dgm:prSet presAssocID="{AA170562-C737-4651-BD24-F705DD26C96B}" presName="Name0" presStyleCnt="0">
        <dgm:presLayoutVars>
          <dgm:animLvl val="lvl"/>
          <dgm:resizeHandles val="exact"/>
        </dgm:presLayoutVars>
      </dgm:prSet>
      <dgm:spPr/>
    </dgm:pt>
    <dgm:pt modelId="{4C443B55-6B63-E142-8A88-EF92A354F580}" type="pres">
      <dgm:prSet presAssocID="{C36113FF-397C-44DD-9AAF-18ECDE5F1914}" presName="compositeNode" presStyleCnt="0">
        <dgm:presLayoutVars>
          <dgm:bulletEnabled val="1"/>
        </dgm:presLayoutVars>
      </dgm:prSet>
      <dgm:spPr/>
    </dgm:pt>
    <dgm:pt modelId="{9D14B63C-9E6D-8C44-A9FA-4A0F8D9A0578}" type="pres">
      <dgm:prSet presAssocID="{C36113FF-397C-44DD-9AAF-18ECDE5F1914}" presName="bgRect" presStyleLbl="bgAccFollowNode1" presStyleIdx="0" presStyleCnt="3"/>
      <dgm:spPr/>
    </dgm:pt>
    <dgm:pt modelId="{F08CD667-A3DB-7749-9290-691CBE064C11}" type="pres">
      <dgm:prSet presAssocID="{EA415B8F-A6C7-4254-92FF-A5A0FF54593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31813D19-171A-EB44-806A-A83AD6E99AC8}" type="pres">
      <dgm:prSet presAssocID="{C36113FF-397C-44DD-9AAF-18ECDE5F1914}" presName="bottomLine" presStyleLbl="alignNode1" presStyleIdx="1" presStyleCnt="6">
        <dgm:presLayoutVars/>
      </dgm:prSet>
      <dgm:spPr/>
    </dgm:pt>
    <dgm:pt modelId="{35B70F45-0B1C-3E40-9ACA-F043AF54A95B}" type="pres">
      <dgm:prSet presAssocID="{C36113FF-397C-44DD-9AAF-18ECDE5F1914}" presName="nodeText" presStyleLbl="bgAccFollowNode1" presStyleIdx="0" presStyleCnt="3">
        <dgm:presLayoutVars>
          <dgm:bulletEnabled val="1"/>
        </dgm:presLayoutVars>
      </dgm:prSet>
      <dgm:spPr/>
    </dgm:pt>
    <dgm:pt modelId="{362FE047-0686-EB44-9042-C2EB67AF6D5A}" type="pres">
      <dgm:prSet presAssocID="{EA415B8F-A6C7-4254-92FF-A5A0FF545934}" presName="sibTrans" presStyleCnt="0"/>
      <dgm:spPr/>
    </dgm:pt>
    <dgm:pt modelId="{9CE807BF-E5FE-5449-BA93-28F28A9EB283}" type="pres">
      <dgm:prSet presAssocID="{9EA60421-0821-46F9-AC66-6F97EF3D4AD6}" presName="compositeNode" presStyleCnt="0">
        <dgm:presLayoutVars>
          <dgm:bulletEnabled val="1"/>
        </dgm:presLayoutVars>
      </dgm:prSet>
      <dgm:spPr/>
    </dgm:pt>
    <dgm:pt modelId="{2DF6B5F3-642C-7645-86C0-0DC42B10685B}" type="pres">
      <dgm:prSet presAssocID="{9EA60421-0821-46F9-AC66-6F97EF3D4AD6}" presName="bgRect" presStyleLbl="bgAccFollowNode1" presStyleIdx="1" presStyleCnt="3"/>
      <dgm:spPr/>
    </dgm:pt>
    <dgm:pt modelId="{574F118F-8D4C-9C48-AF06-D20E258A6975}" type="pres">
      <dgm:prSet presAssocID="{4C6ADE96-2931-4F38-8ECC-FF658BAA912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585676E2-0FFE-4240-AC4C-6D149FE42561}" type="pres">
      <dgm:prSet presAssocID="{9EA60421-0821-46F9-AC66-6F97EF3D4AD6}" presName="bottomLine" presStyleLbl="alignNode1" presStyleIdx="3" presStyleCnt="6">
        <dgm:presLayoutVars/>
      </dgm:prSet>
      <dgm:spPr/>
    </dgm:pt>
    <dgm:pt modelId="{76D79500-2795-F34A-AA14-819591733275}" type="pres">
      <dgm:prSet presAssocID="{9EA60421-0821-46F9-AC66-6F97EF3D4AD6}" presName="nodeText" presStyleLbl="bgAccFollowNode1" presStyleIdx="1" presStyleCnt="3">
        <dgm:presLayoutVars>
          <dgm:bulletEnabled val="1"/>
        </dgm:presLayoutVars>
      </dgm:prSet>
      <dgm:spPr/>
    </dgm:pt>
    <dgm:pt modelId="{384626FF-3CA0-A14F-9A8E-002CB5A40AAB}" type="pres">
      <dgm:prSet presAssocID="{4C6ADE96-2931-4F38-8ECC-FF658BAA9129}" presName="sibTrans" presStyleCnt="0"/>
      <dgm:spPr/>
    </dgm:pt>
    <dgm:pt modelId="{075FF33D-A9D5-D146-AD6A-707CB5785F2E}" type="pres">
      <dgm:prSet presAssocID="{B8785841-7140-4AC8-94EA-5BCF80CACAA1}" presName="compositeNode" presStyleCnt="0">
        <dgm:presLayoutVars>
          <dgm:bulletEnabled val="1"/>
        </dgm:presLayoutVars>
      </dgm:prSet>
      <dgm:spPr/>
    </dgm:pt>
    <dgm:pt modelId="{52D7667C-8891-DE46-B700-228C13D327D6}" type="pres">
      <dgm:prSet presAssocID="{B8785841-7140-4AC8-94EA-5BCF80CACAA1}" presName="bgRect" presStyleLbl="bgAccFollowNode1" presStyleIdx="2" presStyleCnt="3"/>
      <dgm:spPr/>
    </dgm:pt>
    <dgm:pt modelId="{6A05F087-0AE1-814C-B4FE-50AD19FB52E4}" type="pres">
      <dgm:prSet presAssocID="{DA471CA9-DA44-4E70-85F2-65F73F57F6A9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87D320F5-DC0C-6C4E-BDE1-8B776D669D97}" type="pres">
      <dgm:prSet presAssocID="{B8785841-7140-4AC8-94EA-5BCF80CACAA1}" presName="bottomLine" presStyleLbl="alignNode1" presStyleIdx="5" presStyleCnt="6">
        <dgm:presLayoutVars/>
      </dgm:prSet>
      <dgm:spPr/>
    </dgm:pt>
    <dgm:pt modelId="{4BAAC687-E40A-8941-B1B8-50AFFDE8A89D}" type="pres">
      <dgm:prSet presAssocID="{B8785841-7140-4AC8-94EA-5BCF80CACAA1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4D129F02-7484-7244-881A-03ADC4513EF2}" type="presOf" srcId="{C36113FF-397C-44DD-9AAF-18ECDE5F1914}" destId="{35B70F45-0B1C-3E40-9ACA-F043AF54A95B}" srcOrd="1" destOrd="0" presId="urn:microsoft.com/office/officeart/2016/7/layout/BasicLinearProcessNumbered"/>
    <dgm:cxn modelId="{BC130806-92A3-4E97-B127-0B4006DC6CAF}" srcId="{AA170562-C737-4651-BD24-F705DD26C96B}" destId="{C36113FF-397C-44DD-9AAF-18ECDE5F1914}" srcOrd="0" destOrd="0" parTransId="{A1C0C01A-4B69-4871-B8AA-CD3D57676F03}" sibTransId="{EA415B8F-A6C7-4254-92FF-A5A0FF545934}"/>
    <dgm:cxn modelId="{BB7B6219-E780-F34C-AF05-F2E3F83B2AB8}" type="presOf" srcId="{9EA60421-0821-46F9-AC66-6F97EF3D4AD6}" destId="{2DF6B5F3-642C-7645-86C0-0DC42B10685B}" srcOrd="0" destOrd="0" presId="urn:microsoft.com/office/officeart/2016/7/layout/BasicLinearProcessNumbered"/>
    <dgm:cxn modelId="{7C44771F-DEC6-4BBC-831C-FE8CBC001468}" srcId="{AA170562-C737-4651-BD24-F705DD26C96B}" destId="{9EA60421-0821-46F9-AC66-6F97EF3D4AD6}" srcOrd="1" destOrd="0" parTransId="{C9CA5143-EF4D-4DAD-B7F0-275F1FAE6C8C}" sibTransId="{4C6ADE96-2931-4F38-8ECC-FF658BAA9129}"/>
    <dgm:cxn modelId="{302C3B38-E83B-644B-98DD-7F7F8A9E2C54}" type="presOf" srcId="{EA415B8F-A6C7-4254-92FF-A5A0FF545934}" destId="{F08CD667-A3DB-7749-9290-691CBE064C11}" srcOrd="0" destOrd="0" presId="urn:microsoft.com/office/officeart/2016/7/layout/BasicLinearProcessNumbered"/>
    <dgm:cxn modelId="{817E6E53-CA3D-0241-BF64-1E278B6B5865}" type="presOf" srcId="{4C6ADE96-2931-4F38-8ECC-FF658BAA9129}" destId="{574F118F-8D4C-9C48-AF06-D20E258A6975}" srcOrd="0" destOrd="0" presId="urn:microsoft.com/office/officeart/2016/7/layout/BasicLinearProcessNumbered"/>
    <dgm:cxn modelId="{A30AE66D-3483-405A-A40C-06C2BB81C765}" srcId="{AA170562-C737-4651-BD24-F705DD26C96B}" destId="{B8785841-7140-4AC8-94EA-5BCF80CACAA1}" srcOrd="2" destOrd="0" parTransId="{2CCCEE5B-57CB-44DE-A088-A696E48A4D91}" sibTransId="{DA471CA9-DA44-4E70-85F2-65F73F57F6A9}"/>
    <dgm:cxn modelId="{70030179-759B-E946-87F2-34A18DDAA92B}" type="presOf" srcId="{B8785841-7140-4AC8-94EA-5BCF80CACAA1}" destId="{52D7667C-8891-DE46-B700-228C13D327D6}" srcOrd="0" destOrd="0" presId="urn:microsoft.com/office/officeart/2016/7/layout/BasicLinearProcessNumbered"/>
    <dgm:cxn modelId="{E9F6BE81-6B2E-934C-91ED-0564DD86D706}" type="presOf" srcId="{9EA60421-0821-46F9-AC66-6F97EF3D4AD6}" destId="{76D79500-2795-F34A-AA14-819591733275}" srcOrd="1" destOrd="0" presId="urn:microsoft.com/office/officeart/2016/7/layout/BasicLinearProcessNumbered"/>
    <dgm:cxn modelId="{8E2DAC94-67D7-E548-B027-FD9867F0999E}" type="presOf" srcId="{B8785841-7140-4AC8-94EA-5BCF80CACAA1}" destId="{4BAAC687-E40A-8941-B1B8-50AFFDE8A89D}" srcOrd="1" destOrd="0" presId="urn:microsoft.com/office/officeart/2016/7/layout/BasicLinearProcessNumbered"/>
    <dgm:cxn modelId="{694667A0-6B22-D34E-B816-300DE0B94A16}" type="presOf" srcId="{C36113FF-397C-44DD-9AAF-18ECDE5F1914}" destId="{9D14B63C-9E6D-8C44-A9FA-4A0F8D9A0578}" srcOrd="0" destOrd="0" presId="urn:microsoft.com/office/officeart/2016/7/layout/BasicLinearProcessNumbered"/>
    <dgm:cxn modelId="{EAF59BB9-4484-E44D-A9BB-D9019593D67D}" type="presOf" srcId="{DA471CA9-DA44-4E70-85F2-65F73F57F6A9}" destId="{6A05F087-0AE1-814C-B4FE-50AD19FB52E4}" srcOrd="0" destOrd="0" presId="urn:microsoft.com/office/officeart/2016/7/layout/BasicLinearProcessNumbered"/>
    <dgm:cxn modelId="{B4F3EBFC-AC12-A449-A426-A6D5AD40F69F}" type="presOf" srcId="{AA170562-C737-4651-BD24-F705DD26C96B}" destId="{AF55D414-2F22-6447-9BCF-0B85D55C4B3D}" srcOrd="0" destOrd="0" presId="urn:microsoft.com/office/officeart/2016/7/layout/BasicLinearProcessNumbered"/>
    <dgm:cxn modelId="{287E4F88-1460-B64F-93AB-20ABD362EC47}" type="presParOf" srcId="{AF55D414-2F22-6447-9BCF-0B85D55C4B3D}" destId="{4C443B55-6B63-E142-8A88-EF92A354F580}" srcOrd="0" destOrd="0" presId="urn:microsoft.com/office/officeart/2016/7/layout/BasicLinearProcessNumbered"/>
    <dgm:cxn modelId="{031DD920-919E-4742-9FCB-069C9AA1A886}" type="presParOf" srcId="{4C443B55-6B63-E142-8A88-EF92A354F580}" destId="{9D14B63C-9E6D-8C44-A9FA-4A0F8D9A0578}" srcOrd="0" destOrd="0" presId="urn:microsoft.com/office/officeart/2016/7/layout/BasicLinearProcessNumbered"/>
    <dgm:cxn modelId="{AB6547DC-B737-8F4B-99D3-AC0572EBE54B}" type="presParOf" srcId="{4C443B55-6B63-E142-8A88-EF92A354F580}" destId="{F08CD667-A3DB-7749-9290-691CBE064C11}" srcOrd="1" destOrd="0" presId="urn:microsoft.com/office/officeart/2016/7/layout/BasicLinearProcessNumbered"/>
    <dgm:cxn modelId="{59CFDA6F-C57B-FD4E-80A6-2DC74D80141B}" type="presParOf" srcId="{4C443B55-6B63-E142-8A88-EF92A354F580}" destId="{31813D19-171A-EB44-806A-A83AD6E99AC8}" srcOrd="2" destOrd="0" presId="urn:microsoft.com/office/officeart/2016/7/layout/BasicLinearProcessNumbered"/>
    <dgm:cxn modelId="{149801D8-2FB2-CE48-B9AE-8D8A4F4143E3}" type="presParOf" srcId="{4C443B55-6B63-E142-8A88-EF92A354F580}" destId="{35B70F45-0B1C-3E40-9ACA-F043AF54A95B}" srcOrd="3" destOrd="0" presId="urn:microsoft.com/office/officeart/2016/7/layout/BasicLinearProcessNumbered"/>
    <dgm:cxn modelId="{08B1494C-6C1E-7349-BD86-30552FE18BC6}" type="presParOf" srcId="{AF55D414-2F22-6447-9BCF-0B85D55C4B3D}" destId="{362FE047-0686-EB44-9042-C2EB67AF6D5A}" srcOrd="1" destOrd="0" presId="urn:microsoft.com/office/officeart/2016/7/layout/BasicLinearProcessNumbered"/>
    <dgm:cxn modelId="{A508243A-B24F-094E-BDBC-90F865994B4D}" type="presParOf" srcId="{AF55D414-2F22-6447-9BCF-0B85D55C4B3D}" destId="{9CE807BF-E5FE-5449-BA93-28F28A9EB283}" srcOrd="2" destOrd="0" presId="urn:microsoft.com/office/officeart/2016/7/layout/BasicLinearProcessNumbered"/>
    <dgm:cxn modelId="{CF81BDC2-149A-3548-B916-B180F4B3403A}" type="presParOf" srcId="{9CE807BF-E5FE-5449-BA93-28F28A9EB283}" destId="{2DF6B5F3-642C-7645-86C0-0DC42B10685B}" srcOrd="0" destOrd="0" presId="urn:microsoft.com/office/officeart/2016/7/layout/BasicLinearProcessNumbered"/>
    <dgm:cxn modelId="{8890028C-66A8-9448-A51B-5F0A3770CE09}" type="presParOf" srcId="{9CE807BF-E5FE-5449-BA93-28F28A9EB283}" destId="{574F118F-8D4C-9C48-AF06-D20E258A6975}" srcOrd="1" destOrd="0" presId="urn:microsoft.com/office/officeart/2016/7/layout/BasicLinearProcessNumbered"/>
    <dgm:cxn modelId="{404187CF-9A5E-3849-B001-8ADA158B03BA}" type="presParOf" srcId="{9CE807BF-E5FE-5449-BA93-28F28A9EB283}" destId="{585676E2-0FFE-4240-AC4C-6D149FE42561}" srcOrd="2" destOrd="0" presId="urn:microsoft.com/office/officeart/2016/7/layout/BasicLinearProcessNumbered"/>
    <dgm:cxn modelId="{1B49C49A-2842-D548-A92A-A4844500C1AA}" type="presParOf" srcId="{9CE807BF-E5FE-5449-BA93-28F28A9EB283}" destId="{76D79500-2795-F34A-AA14-819591733275}" srcOrd="3" destOrd="0" presId="urn:microsoft.com/office/officeart/2016/7/layout/BasicLinearProcessNumbered"/>
    <dgm:cxn modelId="{DCAE80E2-F7B9-CE4B-869D-5D5E6565F6A7}" type="presParOf" srcId="{AF55D414-2F22-6447-9BCF-0B85D55C4B3D}" destId="{384626FF-3CA0-A14F-9A8E-002CB5A40AAB}" srcOrd="3" destOrd="0" presId="urn:microsoft.com/office/officeart/2016/7/layout/BasicLinearProcessNumbered"/>
    <dgm:cxn modelId="{EA057C63-1B4A-AD4D-B5E2-C7F18EB348B4}" type="presParOf" srcId="{AF55D414-2F22-6447-9BCF-0B85D55C4B3D}" destId="{075FF33D-A9D5-D146-AD6A-707CB5785F2E}" srcOrd="4" destOrd="0" presId="urn:microsoft.com/office/officeart/2016/7/layout/BasicLinearProcessNumbered"/>
    <dgm:cxn modelId="{556545AD-CC9E-DD41-BB64-61CBCD0EE4BE}" type="presParOf" srcId="{075FF33D-A9D5-D146-AD6A-707CB5785F2E}" destId="{52D7667C-8891-DE46-B700-228C13D327D6}" srcOrd="0" destOrd="0" presId="urn:microsoft.com/office/officeart/2016/7/layout/BasicLinearProcessNumbered"/>
    <dgm:cxn modelId="{AFBF217A-FE75-2D4D-A1A7-6DAEF4003B3A}" type="presParOf" srcId="{075FF33D-A9D5-D146-AD6A-707CB5785F2E}" destId="{6A05F087-0AE1-814C-B4FE-50AD19FB52E4}" srcOrd="1" destOrd="0" presId="urn:microsoft.com/office/officeart/2016/7/layout/BasicLinearProcessNumbered"/>
    <dgm:cxn modelId="{7A889398-FF4C-B54A-AF3A-E12CBDA64117}" type="presParOf" srcId="{075FF33D-A9D5-D146-AD6A-707CB5785F2E}" destId="{87D320F5-DC0C-6C4E-BDE1-8B776D669D97}" srcOrd="2" destOrd="0" presId="urn:microsoft.com/office/officeart/2016/7/layout/BasicLinearProcessNumbered"/>
    <dgm:cxn modelId="{163B33CA-CAA5-934E-A34D-618AF2ACD890}" type="presParOf" srcId="{075FF33D-A9D5-D146-AD6A-707CB5785F2E}" destId="{4BAAC687-E40A-8941-B1B8-50AFFDE8A89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7BD2F4-E69B-4BF1-B099-48095EEB11C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18599E4-E26C-42B5-AC30-DA10D96A023F}">
      <dgm:prSet/>
      <dgm:spPr/>
      <dgm:t>
        <a:bodyPr/>
        <a:lstStyle/>
        <a:p>
          <a:r>
            <a:rPr lang="en-US" dirty="0"/>
            <a:t>Standardized column names and corrected typos.</a:t>
          </a:r>
        </a:p>
      </dgm:t>
    </dgm:pt>
    <dgm:pt modelId="{645A87FE-006D-4869-9FF9-D26E47765E56}" type="parTrans" cxnId="{DA60679A-445F-47E0-90D1-9CF4FD560571}">
      <dgm:prSet/>
      <dgm:spPr/>
      <dgm:t>
        <a:bodyPr/>
        <a:lstStyle/>
        <a:p>
          <a:endParaRPr lang="en-US"/>
        </a:p>
      </dgm:t>
    </dgm:pt>
    <dgm:pt modelId="{9B309295-5418-41FE-BD6C-0EB3672002E4}" type="sibTrans" cxnId="{DA60679A-445F-47E0-90D1-9CF4FD560571}">
      <dgm:prSet/>
      <dgm:spPr/>
      <dgm:t>
        <a:bodyPr/>
        <a:lstStyle/>
        <a:p>
          <a:endParaRPr lang="en-US"/>
        </a:p>
      </dgm:t>
    </dgm:pt>
    <dgm:pt modelId="{8F6B61A9-E1AB-4B4C-937C-B336B1843BD2}">
      <dgm:prSet/>
      <dgm:spPr/>
      <dgm:t>
        <a:bodyPr/>
        <a:lstStyle/>
        <a:p>
          <a:r>
            <a:rPr lang="en-US"/>
            <a:t>Decoded categorical variables using a mapping dictionary.</a:t>
          </a:r>
        </a:p>
      </dgm:t>
    </dgm:pt>
    <dgm:pt modelId="{DEB39D3D-8406-4D3D-B3BC-01AEA87693F1}" type="parTrans" cxnId="{F7C980F2-0D4B-4394-9C06-C37D15035633}">
      <dgm:prSet/>
      <dgm:spPr/>
      <dgm:t>
        <a:bodyPr/>
        <a:lstStyle/>
        <a:p>
          <a:endParaRPr lang="en-US"/>
        </a:p>
      </dgm:t>
    </dgm:pt>
    <dgm:pt modelId="{AA2130EE-BC94-4279-9051-1470805214DB}" type="sibTrans" cxnId="{F7C980F2-0D4B-4394-9C06-C37D15035633}">
      <dgm:prSet/>
      <dgm:spPr/>
      <dgm:t>
        <a:bodyPr/>
        <a:lstStyle/>
        <a:p>
          <a:endParaRPr lang="en-US"/>
        </a:p>
      </dgm:t>
    </dgm:pt>
    <dgm:pt modelId="{316870C2-3448-4262-AC83-797DC5CE0F24}">
      <dgm:prSet/>
      <dgm:spPr/>
      <dgm:t>
        <a:bodyPr/>
        <a:lstStyle/>
        <a:p>
          <a:r>
            <a:rPr lang="en-US"/>
            <a:t>Removed sparse, high-leakage, or redundant features.</a:t>
          </a:r>
        </a:p>
      </dgm:t>
    </dgm:pt>
    <dgm:pt modelId="{B8406A52-0A55-46BC-9F60-B8FA9E5F0118}" type="parTrans" cxnId="{EF11AD0B-12A6-4A95-8E6E-5DC1D7FE1772}">
      <dgm:prSet/>
      <dgm:spPr/>
      <dgm:t>
        <a:bodyPr/>
        <a:lstStyle/>
        <a:p>
          <a:endParaRPr lang="en-US"/>
        </a:p>
      </dgm:t>
    </dgm:pt>
    <dgm:pt modelId="{220FBD90-4EA5-48C9-9CBB-AC02E5B0B202}" type="sibTrans" cxnId="{EF11AD0B-12A6-4A95-8E6E-5DC1D7FE1772}">
      <dgm:prSet/>
      <dgm:spPr/>
      <dgm:t>
        <a:bodyPr/>
        <a:lstStyle/>
        <a:p>
          <a:endParaRPr lang="en-US"/>
        </a:p>
      </dgm:t>
    </dgm:pt>
    <dgm:pt modelId="{AB7D1EB9-E734-4F70-BE60-798D7967C4EE}">
      <dgm:prSet/>
      <dgm:spPr/>
      <dgm:t>
        <a:bodyPr/>
        <a:lstStyle/>
        <a:p>
          <a:r>
            <a:rPr lang="en-US" dirty="0"/>
            <a:t>Binarized the target: cannabis user (yes/no).</a:t>
          </a:r>
        </a:p>
      </dgm:t>
    </dgm:pt>
    <dgm:pt modelId="{F4EB9316-1665-4415-9DD4-19B19E46EDBD}" type="parTrans" cxnId="{3B61B2AB-181E-4D93-8B1A-765BD7FC2B42}">
      <dgm:prSet/>
      <dgm:spPr/>
      <dgm:t>
        <a:bodyPr/>
        <a:lstStyle/>
        <a:p>
          <a:endParaRPr lang="en-US"/>
        </a:p>
      </dgm:t>
    </dgm:pt>
    <dgm:pt modelId="{664CDABD-3F3A-4428-BE7D-5D751AF9DD7F}" type="sibTrans" cxnId="{3B61B2AB-181E-4D93-8B1A-765BD7FC2B42}">
      <dgm:prSet/>
      <dgm:spPr/>
      <dgm:t>
        <a:bodyPr/>
        <a:lstStyle/>
        <a:p>
          <a:endParaRPr lang="en-US"/>
        </a:p>
      </dgm:t>
    </dgm:pt>
    <dgm:pt modelId="{52FCE66B-D73D-8947-BC70-B9EAB58253E5}" type="pres">
      <dgm:prSet presAssocID="{6C7BD2F4-E69B-4BF1-B099-48095EEB11C9}" presName="vert0" presStyleCnt="0">
        <dgm:presLayoutVars>
          <dgm:dir/>
          <dgm:animOne val="branch"/>
          <dgm:animLvl val="lvl"/>
        </dgm:presLayoutVars>
      </dgm:prSet>
      <dgm:spPr/>
    </dgm:pt>
    <dgm:pt modelId="{AC39EED5-2F0A-7545-8FDB-5A9B368457CB}" type="pres">
      <dgm:prSet presAssocID="{D18599E4-E26C-42B5-AC30-DA10D96A023F}" presName="thickLine" presStyleLbl="alignNode1" presStyleIdx="0" presStyleCnt="4"/>
      <dgm:spPr/>
    </dgm:pt>
    <dgm:pt modelId="{F732B432-4E7D-5446-9E30-2671C383AFB8}" type="pres">
      <dgm:prSet presAssocID="{D18599E4-E26C-42B5-AC30-DA10D96A023F}" presName="horz1" presStyleCnt="0"/>
      <dgm:spPr/>
    </dgm:pt>
    <dgm:pt modelId="{789F133F-FAC6-7740-88EF-360948D5777A}" type="pres">
      <dgm:prSet presAssocID="{D18599E4-E26C-42B5-AC30-DA10D96A023F}" presName="tx1" presStyleLbl="revTx" presStyleIdx="0" presStyleCnt="4"/>
      <dgm:spPr/>
    </dgm:pt>
    <dgm:pt modelId="{38520405-B7CA-0C41-94D3-C3EDD5D73B88}" type="pres">
      <dgm:prSet presAssocID="{D18599E4-E26C-42B5-AC30-DA10D96A023F}" presName="vert1" presStyleCnt="0"/>
      <dgm:spPr/>
    </dgm:pt>
    <dgm:pt modelId="{20E7BC50-2FB7-C04D-90CE-BA9E42A01D4A}" type="pres">
      <dgm:prSet presAssocID="{8F6B61A9-E1AB-4B4C-937C-B336B1843BD2}" presName="thickLine" presStyleLbl="alignNode1" presStyleIdx="1" presStyleCnt="4"/>
      <dgm:spPr/>
    </dgm:pt>
    <dgm:pt modelId="{A03D698D-A52A-D046-A3C2-553E19278C7C}" type="pres">
      <dgm:prSet presAssocID="{8F6B61A9-E1AB-4B4C-937C-B336B1843BD2}" presName="horz1" presStyleCnt="0"/>
      <dgm:spPr/>
    </dgm:pt>
    <dgm:pt modelId="{B2626623-5545-C147-AE3B-25202FFFB60D}" type="pres">
      <dgm:prSet presAssocID="{8F6B61A9-E1AB-4B4C-937C-B336B1843BD2}" presName="tx1" presStyleLbl="revTx" presStyleIdx="1" presStyleCnt="4"/>
      <dgm:spPr/>
    </dgm:pt>
    <dgm:pt modelId="{DC66CF63-6D35-C147-998D-21083A9BD29E}" type="pres">
      <dgm:prSet presAssocID="{8F6B61A9-E1AB-4B4C-937C-B336B1843BD2}" presName="vert1" presStyleCnt="0"/>
      <dgm:spPr/>
    </dgm:pt>
    <dgm:pt modelId="{6AA86F40-C6CE-E44B-A7C3-B137050AA0B5}" type="pres">
      <dgm:prSet presAssocID="{316870C2-3448-4262-AC83-797DC5CE0F24}" presName="thickLine" presStyleLbl="alignNode1" presStyleIdx="2" presStyleCnt="4"/>
      <dgm:spPr/>
    </dgm:pt>
    <dgm:pt modelId="{89CB8DE4-3078-1C47-B9A5-F243AFB05A25}" type="pres">
      <dgm:prSet presAssocID="{316870C2-3448-4262-AC83-797DC5CE0F24}" presName="horz1" presStyleCnt="0"/>
      <dgm:spPr/>
    </dgm:pt>
    <dgm:pt modelId="{C4BE4DF7-29FC-4C4F-9038-45E93F2BDC7F}" type="pres">
      <dgm:prSet presAssocID="{316870C2-3448-4262-AC83-797DC5CE0F24}" presName="tx1" presStyleLbl="revTx" presStyleIdx="2" presStyleCnt="4"/>
      <dgm:spPr/>
    </dgm:pt>
    <dgm:pt modelId="{FA4DB74C-DE90-1342-9D81-9892E7128C6E}" type="pres">
      <dgm:prSet presAssocID="{316870C2-3448-4262-AC83-797DC5CE0F24}" presName="vert1" presStyleCnt="0"/>
      <dgm:spPr/>
    </dgm:pt>
    <dgm:pt modelId="{F636A671-2D47-F64E-820A-ED854E9B3249}" type="pres">
      <dgm:prSet presAssocID="{AB7D1EB9-E734-4F70-BE60-798D7967C4EE}" presName="thickLine" presStyleLbl="alignNode1" presStyleIdx="3" presStyleCnt="4"/>
      <dgm:spPr/>
    </dgm:pt>
    <dgm:pt modelId="{C54F523C-6E69-784D-923A-AF816BAE9C7B}" type="pres">
      <dgm:prSet presAssocID="{AB7D1EB9-E734-4F70-BE60-798D7967C4EE}" presName="horz1" presStyleCnt="0"/>
      <dgm:spPr/>
    </dgm:pt>
    <dgm:pt modelId="{058CDD4D-D436-3A41-B84A-155572678B10}" type="pres">
      <dgm:prSet presAssocID="{AB7D1EB9-E734-4F70-BE60-798D7967C4EE}" presName="tx1" presStyleLbl="revTx" presStyleIdx="3" presStyleCnt="4"/>
      <dgm:spPr/>
    </dgm:pt>
    <dgm:pt modelId="{3CD36CDB-0E66-EC4E-A4CA-5DD183B3DB9F}" type="pres">
      <dgm:prSet presAssocID="{AB7D1EB9-E734-4F70-BE60-798D7967C4EE}" presName="vert1" presStyleCnt="0"/>
      <dgm:spPr/>
    </dgm:pt>
  </dgm:ptLst>
  <dgm:cxnLst>
    <dgm:cxn modelId="{EF11AD0B-12A6-4A95-8E6E-5DC1D7FE1772}" srcId="{6C7BD2F4-E69B-4BF1-B099-48095EEB11C9}" destId="{316870C2-3448-4262-AC83-797DC5CE0F24}" srcOrd="2" destOrd="0" parTransId="{B8406A52-0A55-46BC-9F60-B8FA9E5F0118}" sibTransId="{220FBD90-4EA5-48C9-9CBB-AC02E5B0B202}"/>
    <dgm:cxn modelId="{C750FE15-B4DC-E641-B850-46218121B99A}" type="presOf" srcId="{6C7BD2F4-E69B-4BF1-B099-48095EEB11C9}" destId="{52FCE66B-D73D-8947-BC70-B9EAB58253E5}" srcOrd="0" destOrd="0" presId="urn:microsoft.com/office/officeart/2008/layout/LinedList"/>
    <dgm:cxn modelId="{11EE7E51-CD78-A841-B16B-686A43680EBB}" type="presOf" srcId="{AB7D1EB9-E734-4F70-BE60-798D7967C4EE}" destId="{058CDD4D-D436-3A41-B84A-155572678B10}" srcOrd="0" destOrd="0" presId="urn:microsoft.com/office/officeart/2008/layout/LinedList"/>
    <dgm:cxn modelId="{DA60679A-445F-47E0-90D1-9CF4FD560571}" srcId="{6C7BD2F4-E69B-4BF1-B099-48095EEB11C9}" destId="{D18599E4-E26C-42B5-AC30-DA10D96A023F}" srcOrd="0" destOrd="0" parTransId="{645A87FE-006D-4869-9FF9-D26E47765E56}" sibTransId="{9B309295-5418-41FE-BD6C-0EB3672002E4}"/>
    <dgm:cxn modelId="{3B61B2AB-181E-4D93-8B1A-765BD7FC2B42}" srcId="{6C7BD2F4-E69B-4BF1-B099-48095EEB11C9}" destId="{AB7D1EB9-E734-4F70-BE60-798D7967C4EE}" srcOrd="3" destOrd="0" parTransId="{F4EB9316-1665-4415-9DD4-19B19E46EDBD}" sibTransId="{664CDABD-3F3A-4428-BE7D-5D751AF9DD7F}"/>
    <dgm:cxn modelId="{B4A75CB0-76B5-9648-9ACF-934E51079688}" type="presOf" srcId="{D18599E4-E26C-42B5-AC30-DA10D96A023F}" destId="{789F133F-FAC6-7740-88EF-360948D5777A}" srcOrd="0" destOrd="0" presId="urn:microsoft.com/office/officeart/2008/layout/LinedList"/>
    <dgm:cxn modelId="{A54A5ED3-81ED-5241-BAC8-BF8E7D6C2AE4}" type="presOf" srcId="{8F6B61A9-E1AB-4B4C-937C-B336B1843BD2}" destId="{B2626623-5545-C147-AE3B-25202FFFB60D}" srcOrd="0" destOrd="0" presId="urn:microsoft.com/office/officeart/2008/layout/LinedList"/>
    <dgm:cxn modelId="{A8318AEA-319B-9E49-8943-86DF6CB1557F}" type="presOf" srcId="{316870C2-3448-4262-AC83-797DC5CE0F24}" destId="{C4BE4DF7-29FC-4C4F-9038-45E93F2BDC7F}" srcOrd="0" destOrd="0" presId="urn:microsoft.com/office/officeart/2008/layout/LinedList"/>
    <dgm:cxn modelId="{F7C980F2-0D4B-4394-9C06-C37D15035633}" srcId="{6C7BD2F4-E69B-4BF1-B099-48095EEB11C9}" destId="{8F6B61A9-E1AB-4B4C-937C-B336B1843BD2}" srcOrd="1" destOrd="0" parTransId="{DEB39D3D-8406-4D3D-B3BC-01AEA87693F1}" sibTransId="{AA2130EE-BC94-4279-9051-1470805214DB}"/>
    <dgm:cxn modelId="{34E02AA9-9088-0444-9ABF-D44B6CF0B40F}" type="presParOf" srcId="{52FCE66B-D73D-8947-BC70-B9EAB58253E5}" destId="{AC39EED5-2F0A-7545-8FDB-5A9B368457CB}" srcOrd="0" destOrd="0" presId="urn:microsoft.com/office/officeart/2008/layout/LinedList"/>
    <dgm:cxn modelId="{FE4E5162-B569-0E4D-A743-75D49F2C0561}" type="presParOf" srcId="{52FCE66B-D73D-8947-BC70-B9EAB58253E5}" destId="{F732B432-4E7D-5446-9E30-2671C383AFB8}" srcOrd="1" destOrd="0" presId="urn:microsoft.com/office/officeart/2008/layout/LinedList"/>
    <dgm:cxn modelId="{11C7E514-FA87-4749-83C5-C7F987EDE779}" type="presParOf" srcId="{F732B432-4E7D-5446-9E30-2671C383AFB8}" destId="{789F133F-FAC6-7740-88EF-360948D5777A}" srcOrd="0" destOrd="0" presId="urn:microsoft.com/office/officeart/2008/layout/LinedList"/>
    <dgm:cxn modelId="{5CDA694E-C50A-A541-B3B1-C27548E37CEC}" type="presParOf" srcId="{F732B432-4E7D-5446-9E30-2671C383AFB8}" destId="{38520405-B7CA-0C41-94D3-C3EDD5D73B88}" srcOrd="1" destOrd="0" presId="urn:microsoft.com/office/officeart/2008/layout/LinedList"/>
    <dgm:cxn modelId="{A1A8CD01-5FA3-3D4B-BE63-565E0D448096}" type="presParOf" srcId="{52FCE66B-D73D-8947-BC70-B9EAB58253E5}" destId="{20E7BC50-2FB7-C04D-90CE-BA9E42A01D4A}" srcOrd="2" destOrd="0" presId="urn:microsoft.com/office/officeart/2008/layout/LinedList"/>
    <dgm:cxn modelId="{7566C53B-687B-6A44-9B8E-D582E8D9272B}" type="presParOf" srcId="{52FCE66B-D73D-8947-BC70-B9EAB58253E5}" destId="{A03D698D-A52A-D046-A3C2-553E19278C7C}" srcOrd="3" destOrd="0" presId="urn:microsoft.com/office/officeart/2008/layout/LinedList"/>
    <dgm:cxn modelId="{87488931-41F7-8848-A2D5-AD01F6A7D642}" type="presParOf" srcId="{A03D698D-A52A-D046-A3C2-553E19278C7C}" destId="{B2626623-5545-C147-AE3B-25202FFFB60D}" srcOrd="0" destOrd="0" presId="urn:microsoft.com/office/officeart/2008/layout/LinedList"/>
    <dgm:cxn modelId="{1DDAADD4-C532-8A4E-8BA7-1E51B88DE2D1}" type="presParOf" srcId="{A03D698D-A52A-D046-A3C2-553E19278C7C}" destId="{DC66CF63-6D35-C147-998D-21083A9BD29E}" srcOrd="1" destOrd="0" presId="urn:microsoft.com/office/officeart/2008/layout/LinedList"/>
    <dgm:cxn modelId="{AF1BD0C8-BC2E-4347-984D-253ACCCC66D6}" type="presParOf" srcId="{52FCE66B-D73D-8947-BC70-B9EAB58253E5}" destId="{6AA86F40-C6CE-E44B-A7C3-B137050AA0B5}" srcOrd="4" destOrd="0" presId="urn:microsoft.com/office/officeart/2008/layout/LinedList"/>
    <dgm:cxn modelId="{73859AE7-EBF9-2B41-9F28-F03015E5951A}" type="presParOf" srcId="{52FCE66B-D73D-8947-BC70-B9EAB58253E5}" destId="{89CB8DE4-3078-1C47-B9A5-F243AFB05A25}" srcOrd="5" destOrd="0" presId="urn:microsoft.com/office/officeart/2008/layout/LinedList"/>
    <dgm:cxn modelId="{B63C3A3E-C5B3-E843-8650-8B4E6A31640A}" type="presParOf" srcId="{89CB8DE4-3078-1C47-B9A5-F243AFB05A25}" destId="{C4BE4DF7-29FC-4C4F-9038-45E93F2BDC7F}" srcOrd="0" destOrd="0" presId="urn:microsoft.com/office/officeart/2008/layout/LinedList"/>
    <dgm:cxn modelId="{42833245-2116-6840-945D-04616BF4AD73}" type="presParOf" srcId="{89CB8DE4-3078-1C47-B9A5-F243AFB05A25}" destId="{FA4DB74C-DE90-1342-9D81-9892E7128C6E}" srcOrd="1" destOrd="0" presId="urn:microsoft.com/office/officeart/2008/layout/LinedList"/>
    <dgm:cxn modelId="{746F6043-6E53-FD43-BB7A-C2843D7EE8BA}" type="presParOf" srcId="{52FCE66B-D73D-8947-BC70-B9EAB58253E5}" destId="{F636A671-2D47-F64E-820A-ED854E9B3249}" srcOrd="6" destOrd="0" presId="urn:microsoft.com/office/officeart/2008/layout/LinedList"/>
    <dgm:cxn modelId="{384B89A2-831B-FD43-A1A4-38E9D60970FC}" type="presParOf" srcId="{52FCE66B-D73D-8947-BC70-B9EAB58253E5}" destId="{C54F523C-6E69-784D-923A-AF816BAE9C7B}" srcOrd="7" destOrd="0" presId="urn:microsoft.com/office/officeart/2008/layout/LinedList"/>
    <dgm:cxn modelId="{F4C82EDD-F58E-5D4E-8DA7-5C90A6D7B149}" type="presParOf" srcId="{C54F523C-6E69-784D-923A-AF816BAE9C7B}" destId="{058CDD4D-D436-3A41-B84A-155572678B10}" srcOrd="0" destOrd="0" presId="urn:microsoft.com/office/officeart/2008/layout/LinedList"/>
    <dgm:cxn modelId="{A208C9EB-803E-2E41-88E0-30E196685E33}" type="presParOf" srcId="{C54F523C-6E69-784D-923A-AF816BAE9C7B}" destId="{3CD36CDB-0E66-EC4E-A4CA-5DD183B3DB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E7C6C3-6FA7-43B5-A0DF-03B19B6FD332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3C3570F-DC52-4BEE-90F4-8DE3B6F2DE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Class distribution: ~85% non-users, 15% users.</a:t>
          </a:r>
        </a:p>
      </dgm:t>
    </dgm:pt>
    <dgm:pt modelId="{DB9E6BDE-9111-4CE2-880F-55DF9C77C894}" type="parTrans" cxnId="{6C95718B-BE33-4C74-9547-108AC1031664}">
      <dgm:prSet/>
      <dgm:spPr/>
      <dgm:t>
        <a:bodyPr/>
        <a:lstStyle/>
        <a:p>
          <a:endParaRPr lang="en-US"/>
        </a:p>
      </dgm:t>
    </dgm:pt>
    <dgm:pt modelId="{8DA0C2F8-11FD-4CC6-B6BA-23787FA9FF3A}" type="sibTrans" cxnId="{6C95718B-BE33-4C74-9547-108AC1031664}">
      <dgm:prSet/>
      <dgm:spPr/>
      <dgm:t>
        <a:bodyPr/>
        <a:lstStyle/>
        <a:p>
          <a:endParaRPr lang="en-US"/>
        </a:p>
      </dgm:t>
    </dgm:pt>
    <dgm:pt modelId="{0F1EC87D-CF42-491C-8CD8-F7C925B905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strong imbalance was observed in the outcome variable.</a:t>
          </a:r>
        </a:p>
      </dgm:t>
    </dgm:pt>
    <dgm:pt modelId="{3C8B4C14-0793-486F-9628-9242267D9A8D}" type="parTrans" cxnId="{247012BE-76A6-4E42-8962-24648B36B1DF}">
      <dgm:prSet/>
      <dgm:spPr/>
      <dgm:t>
        <a:bodyPr/>
        <a:lstStyle/>
        <a:p>
          <a:endParaRPr lang="en-US"/>
        </a:p>
      </dgm:t>
    </dgm:pt>
    <dgm:pt modelId="{73926426-F1F8-4EAA-A7FF-93B76F7E468F}" type="sibTrans" cxnId="{247012BE-76A6-4E42-8962-24648B36B1DF}">
      <dgm:prSet/>
      <dgm:spPr/>
      <dgm:t>
        <a:bodyPr/>
        <a:lstStyle/>
        <a:p>
          <a:endParaRPr lang="en-US"/>
        </a:p>
      </dgm:t>
    </dgm:pt>
    <dgm:pt modelId="{63783B90-62F2-4542-80CA-3969AF206A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Visualization showed higher cannabis use among males, younger adults, and those reporting tobacco use.</a:t>
          </a:r>
        </a:p>
      </dgm:t>
    </dgm:pt>
    <dgm:pt modelId="{0D534069-1449-4CAB-98F0-87C3C242E78F}" type="parTrans" cxnId="{A35B6DC5-ABE3-4AEA-B7ED-26C78B668C82}">
      <dgm:prSet/>
      <dgm:spPr/>
      <dgm:t>
        <a:bodyPr/>
        <a:lstStyle/>
        <a:p>
          <a:endParaRPr lang="en-US"/>
        </a:p>
      </dgm:t>
    </dgm:pt>
    <dgm:pt modelId="{DDBA06A2-53A8-42C2-89A0-1FDE5181193B}" type="sibTrans" cxnId="{A35B6DC5-ABE3-4AEA-B7ED-26C78B668C82}">
      <dgm:prSet/>
      <dgm:spPr/>
      <dgm:t>
        <a:bodyPr/>
        <a:lstStyle/>
        <a:p>
          <a:endParaRPr lang="en-US"/>
        </a:p>
      </dgm:t>
    </dgm:pt>
    <dgm:pt modelId="{9D61EACC-CF3F-4B03-9F39-B3FD5EC123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Correlations were identified with age, tobacco, and mental health.</a:t>
          </a:r>
        </a:p>
      </dgm:t>
    </dgm:pt>
    <dgm:pt modelId="{D680B8ED-3BB6-4E91-A4F6-E7FC645446E1}" type="parTrans" cxnId="{8AA2F0CD-553E-4C24-9623-50050A1007EA}">
      <dgm:prSet/>
      <dgm:spPr/>
      <dgm:t>
        <a:bodyPr/>
        <a:lstStyle/>
        <a:p>
          <a:endParaRPr lang="en-US"/>
        </a:p>
      </dgm:t>
    </dgm:pt>
    <dgm:pt modelId="{A9B26E3D-788B-443B-8458-D76DE4A961D8}" type="sibTrans" cxnId="{8AA2F0CD-553E-4C24-9623-50050A1007EA}">
      <dgm:prSet/>
      <dgm:spPr/>
      <dgm:t>
        <a:bodyPr/>
        <a:lstStyle/>
        <a:p>
          <a:endParaRPr lang="en-US"/>
        </a:p>
      </dgm:t>
    </dgm:pt>
    <dgm:pt modelId="{8163B4B3-8816-4C6D-BFB8-EC52C7D8151A}" type="pres">
      <dgm:prSet presAssocID="{38E7C6C3-6FA7-43B5-A0DF-03B19B6FD332}" presName="root" presStyleCnt="0">
        <dgm:presLayoutVars>
          <dgm:dir/>
          <dgm:resizeHandles val="exact"/>
        </dgm:presLayoutVars>
      </dgm:prSet>
      <dgm:spPr/>
    </dgm:pt>
    <dgm:pt modelId="{4BBCC15A-1FCF-4DE0-9A53-36C7C1DC7BEC}" type="pres">
      <dgm:prSet presAssocID="{D3C3570F-DC52-4BEE-90F4-8DE3B6F2DE3E}" presName="compNode" presStyleCnt="0"/>
      <dgm:spPr/>
    </dgm:pt>
    <dgm:pt modelId="{3663B18C-9FCA-49D7-993C-82587C7D694D}" type="pres">
      <dgm:prSet presAssocID="{D3C3570F-DC52-4BEE-90F4-8DE3B6F2DE3E}" presName="bgRect" presStyleLbl="bgShp" presStyleIdx="0" presStyleCnt="4"/>
      <dgm:spPr/>
    </dgm:pt>
    <dgm:pt modelId="{2B8A5F83-0C71-4036-A0CA-6E083290D833}" type="pres">
      <dgm:prSet presAssocID="{D3C3570F-DC52-4BEE-90F4-8DE3B6F2DE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8596D43B-D9A0-48C5-8A89-490192B5ABA2}" type="pres">
      <dgm:prSet presAssocID="{D3C3570F-DC52-4BEE-90F4-8DE3B6F2DE3E}" presName="spaceRect" presStyleCnt="0"/>
      <dgm:spPr/>
    </dgm:pt>
    <dgm:pt modelId="{B91BCDCB-0712-4655-8B53-9EF5EA554385}" type="pres">
      <dgm:prSet presAssocID="{D3C3570F-DC52-4BEE-90F4-8DE3B6F2DE3E}" presName="parTx" presStyleLbl="revTx" presStyleIdx="0" presStyleCnt="4">
        <dgm:presLayoutVars>
          <dgm:chMax val="0"/>
          <dgm:chPref val="0"/>
        </dgm:presLayoutVars>
      </dgm:prSet>
      <dgm:spPr/>
    </dgm:pt>
    <dgm:pt modelId="{09FE0336-2CB7-43B3-8EC9-AD972BDD0A30}" type="pres">
      <dgm:prSet presAssocID="{8DA0C2F8-11FD-4CC6-B6BA-23787FA9FF3A}" presName="sibTrans" presStyleCnt="0"/>
      <dgm:spPr/>
    </dgm:pt>
    <dgm:pt modelId="{C1BC0BA1-64F8-48D5-A672-EB2D5D46F1E1}" type="pres">
      <dgm:prSet presAssocID="{0F1EC87D-CF42-491C-8CD8-F7C925B9059F}" presName="compNode" presStyleCnt="0"/>
      <dgm:spPr/>
    </dgm:pt>
    <dgm:pt modelId="{F737DF15-932B-4406-ABD6-F249B560CD1D}" type="pres">
      <dgm:prSet presAssocID="{0F1EC87D-CF42-491C-8CD8-F7C925B9059F}" presName="bgRect" presStyleLbl="bgShp" presStyleIdx="1" presStyleCnt="4"/>
      <dgm:spPr/>
    </dgm:pt>
    <dgm:pt modelId="{FFA244A4-279A-4D8B-B9FF-A45E472C9564}" type="pres">
      <dgm:prSet presAssocID="{0F1EC87D-CF42-491C-8CD8-F7C925B9059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AB648BB5-E143-4BFB-A471-517A00101179}" type="pres">
      <dgm:prSet presAssocID="{0F1EC87D-CF42-491C-8CD8-F7C925B9059F}" presName="spaceRect" presStyleCnt="0"/>
      <dgm:spPr/>
    </dgm:pt>
    <dgm:pt modelId="{9745E1E6-5B18-4F8E-A5C8-AC5125975F96}" type="pres">
      <dgm:prSet presAssocID="{0F1EC87D-CF42-491C-8CD8-F7C925B9059F}" presName="parTx" presStyleLbl="revTx" presStyleIdx="1" presStyleCnt="4">
        <dgm:presLayoutVars>
          <dgm:chMax val="0"/>
          <dgm:chPref val="0"/>
        </dgm:presLayoutVars>
      </dgm:prSet>
      <dgm:spPr/>
    </dgm:pt>
    <dgm:pt modelId="{7846A00E-A648-4D93-A91F-EC1271FC89AA}" type="pres">
      <dgm:prSet presAssocID="{73926426-F1F8-4EAA-A7FF-93B76F7E468F}" presName="sibTrans" presStyleCnt="0"/>
      <dgm:spPr/>
    </dgm:pt>
    <dgm:pt modelId="{B6E5D4F8-553E-447B-B5A0-F7073029B90B}" type="pres">
      <dgm:prSet presAssocID="{63783B90-62F2-4542-80CA-3969AF206A1B}" presName="compNode" presStyleCnt="0"/>
      <dgm:spPr/>
    </dgm:pt>
    <dgm:pt modelId="{1B666390-B182-4AF3-A5ED-EBBD5D71B391}" type="pres">
      <dgm:prSet presAssocID="{63783B90-62F2-4542-80CA-3969AF206A1B}" presName="bgRect" presStyleLbl="bgShp" presStyleIdx="2" presStyleCnt="4"/>
      <dgm:spPr/>
    </dgm:pt>
    <dgm:pt modelId="{E29A688B-969D-4789-8812-483906F3DF0F}" type="pres">
      <dgm:prSet presAssocID="{63783B90-62F2-4542-80CA-3969AF206A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moking"/>
        </a:ext>
      </dgm:extLst>
    </dgm:pt>
    <dgm:pt modelId="{27065EE6-B385-41B4-9CF7-F927CA39DDBC}" type="pres">
      <dgm:prSet presAssocID="{63783B90-62F2-4542-80CA-3969AF206A1B}" presName="spaceRect" presStyleCnt="0"/>
      <dgm:spPr/>
    </dgm:pt>
    <dgm:pt modelId="{F16C63A3-CA3F-4369-9CDE-CED7EFDAA847}" type="pres">
      <dgm:prSet presAssocID="{63783B90-62F2-4542-80CA-3969AF206A1B}" presName="parTx" presStyleLbl="revTx" presStyleIdx="2" presStyleCnt="4">
        <dgm:presLayoutVars>
          <dgm:chMax val="0"/>
          <dgm:chPref val="0"/>
        </dgm:presLayoutVars>
      </dgm:prSet>
      <dgm:spPr/>
    </dgm:pt>
    <dgm:pt modelId="{C1DA29FC-CD48-443F-A525-6E7487CC8A1B}" type="pres">
      <dgm:prSet presAssocID="{DDBA06A2-53A8-42C2-89A0-1FDE5181193B}" presName="sibTrans" presStyleCnt="0"/>
      <dgm:spPr/>
    </dgm:pt>
    <dgm:pt modelId="{72F38210-2903-4781-B925-82A26F349184}" type="pres">
      <dgm:prSet presAssocID="{9D61EACC-CF3F-4B03-9F39-B3FD5EC123E9}" presName="compNode" presStyleCnt="0"/>
      <dgm:spPr/>
    </dgm:pt>
    <dgm:pt modelId="{A821B952-ADC8-49BF-904D-E3C9477ED927}" type="pres">
      <dgm:prSet presAssocID="{9D61EACC-CF3F-4B03-9F39-B3FD5EC123E9}" presName="bgRect" presStyleLbl="bgShp" presStyleIdx="3" presStyleCnt="4"/>
      <dgm:spPr/>
    </dgm:pt>
    <dgm:pt modelId="{985C8187-BDA0-4DEF-B678-9806383D11EE}" type="pres">
      <dgm:prSet presAssocID="{9D61EACC-CF3F-4B03-9F39-B3FD5EC123E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oking"/>
        </a:ext>
      </dgm:extLst>
    </dgm:pt>
    <dgm:pt modelId="{77E502D9-5C4E-41A2-AFB0-C4D3E2F41FDC}" type="pres">
      <dgm:prSet presAssocID="{9D61EACC-CF3F-4B03-9F39-B3FD5EC123E9}" presName="spaceRect" presStyleCnt="0"/>
      <dgm:spPr/>
    </dgm:pt>
    <dgm:pt modelId="{22407CB0-370A-4574-9217-A08F7E1E19DE}" type="pres">
      <dgm:prSet presAssocID="{9D61EACC-CF3F-4B03-9F39-B3FD5EC123E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21F9927-13E1-344D-ACB5-962F8720473D}" type="presOf" srcId="{63783B90-62F2-4542-80CA-3969AF206A1B}" destId="{F16C63A3-CA3F-4369-9CDE-CED7EFDAA847}" srcOrd="0" destOrd="0" presId="urn:microsoft.com/office/officeart/2018/2/layout/IconVerticalSolidList"/>
    <dgm:cxn modelId="{0A94E531-D6B8-DF45-83A2-ABA817567ABD}" type="presOf" srcId="{D3C3570F-DC52-4BEE-90F4-8DE3B6F2DE3E}" destId="{B91BCDCB-0712-4655-8B53-9EF5EA554385}" srcOrd="0" destOrd="0" presId="urn:microsoft.com/office/officeart/2018/2/layout/IconVerticalSolidList"/>
    <dgm:cxn modelId="{2C8AA770-4966-954E-A5AA-8ACE808C4073}" type="presOf" srcId="{9D61EACC-CF3F-4B03-9F39-B3FD5EC123E9}" destId="{22407CB0-370A-4574-9217-A08F7E1E19DE}" srcOrd="0" destOrd="0" presId="urn:microsoft.com/office/officeart/2018/2/layout/IconVerticalSolidList"/>
    <dgm:cxn modelId="{6C95718B-BE33-4C74-9547-108AC1031664}" srcId="{38E7C6C3-6FA7-43B5-A0DF-03B19B6FD332}" destId="{D3C3570F-DC52-4BEE-90F4-8DE3B6F2DE3E}" srcOrd="0" destOrd="0" parTransId="{DB9E6BDE-9111-4CE2-880F-55DF9C77C894}" sibTransId="{8DA0C2F8-11FD-4CC6-B6BA-23787FA9FF3A}"/>
    <dgm:cxn modelId="{D235D58F-C388-2743-A45C-77127198BAFB}" type="presOf" srcId="{38E7C6C3-6FA7-43B5-A0DF-03B19B6FD332}" destId="{8163B4B3-8816-4C6D-BFB8-EC52C7D8151A}" srcOrd="0" destOrd="0" presId="urn:microsoft.com/office/officeart/2018/2/layout/IconVerticalSolidList"/>
    <dgm:cxn modelId="{247012BE-76A6-4E42-8962-24648B36B1DF}" srcId="{38E7C6C3-6FA7-43B5-A0DF-03B19B6FD332}" destId="{0F1EC87D-CF42-491C-8CD8-F7C925B9059F}" srcOrd="1" destOrd="0" parTransId="{3C8B4C14-0793-486F-9628-9242267D9A8D}" sibTransId="{73926426-F1F8-4EAA-A7FF-93B76F7E468F}"/>
    <dgm:cxn modelId="{A35B6DC5-ABE3-4AEA-B7ED-26C78B668C82}" srcId="{38E7C6C3-6FA7-43B5-A0DF-03B19B6FD332}" destId="{63783B90-62F2-4542-80CA-3969AF206A1B}" srcOrd="2" destOrd="0" parTransId="{0D534069-1449-4CAB-98F0-87C3C242E78F}" sibTransId="{DDBA06A2-53A8-42C2-89A0-1FDE5181193B}"/>
    <dgm:cxn modelId="{ACC304CD-A5C9-2B4A-B0D8-47CC1E37A56E}" type="presOf" srcId="{0F1EC87D-CF42-491C-8CD8-F7C925B9059F}" destId="{9745E1E6-5B18-4F8E-A5C8-AC5125975F96}" srcOrd="0" destOrd="0" presId="urn:microsoft.com/office/officeart/2018/2/layout/IconVerticalSolidList"/>
    <dgm:cxn modelId="{8AA2F0CD-553E-4C24-9623-50050A1007EA}" srcId="{38E7C6C3-6FA7-43B5-A0DF-03B19B6FD332}" destId="{9D61EACC-CF3F-4B03-9F39-B3FD5EC123E9}" srcOrd="3" destOrd="0" parTransId="{D680B8ED-3BB6-4E91-A4F6-E7FC645446E1}" sibTransId="{A9B26E3D-788B-443B-8458-D76DE4A961D8}"/>
    <dgm:cxn modelId="{FFE30289-6D97-5C4C-A94E-B77894665C7A}" type="presParOf" srcId="{8163B4B3-8816-4C6D-BFB8-EC52C7D8151A}" destId="{4BBCC15A-1FCF-4DE0-9A53-36C7C1DC7BEC}" srcOrd="0" destOrd="0" presId="urn:microsoft.com/office/officeart/2018/2/layout/IconVerticalSolidList"/>
    <dgm:cxn modelId="{FE7B3053-BF34-D140-9841-2C2BAB36B0F6}" type="presParOf" srcId="{4BBCC15A-1FCF-4DE0-9A53-36C7C1DC7BEC}" destId="{3663B18C-9FCA-49D7-993C-82587C7D694D}" srcOrd="0" destOrd="0" presId="urn:microsoft.com/office/officeart/2018/2/layout/IconVerticalSolidList"/>
    <dgm:cxn modelId="{97B3D3DD-83F2-B447-BD4D-18A3B763C9C0}" type="presParOf" srcId="{4BBCC15A-1FCF-4DE0-9A53-36C7C1DC7BEC}" destId="{2B8A5F83-0C71-4036-A0CA-6E083290D833}" srcOrd="1" destOrd="0" presId="urn:microsoft.com/office/officeart/2018/2/layout/IconVerticalSolidList"/>
    <dgm:cxn modelId="{70BDBE55-D455-1149-B4D6-B217DB1F6A65}" type="presParOf" srcId="{4BBCC15A-1FCF-4DE0-9A53-36C7C1DC7BEC}" destId="{8596D43B-D9A0-48C5-8A89-490192B5ABA2}" srcOrd="2" destOrd="0" presId="urn:microsoft.com/office/officeart/2018/2/layout/IconVerticalSolidList"/>
    <dgm:cxn modelId="{FF2F38F6-1603-364F-A6A6-23A4E58C40E4}" type="presParOf" srcId="{4BBCC15A-1FCF-4DE0-9A53-36C7C1DC7BEC}" destId="{B91BCDCB-0712-4655-8B53-9EF5EA554385}" srcOrd="3" destOrd="0" presId="urn:microsoft.com/office/officeart/2018/2/layout/IconVerticalSolidList"/>
    <dgm:cxn modelId="{F161FFE1-28C7-0A4D-AC04-C41F0947C262}" type="presParOf" srcId="{8163B4B3-8816-4C6D-BFB8-EC52C7D8151A}" destId="{09FE0336-2CB7-43B3-8EC9-AD972BDD0A30}" srcOrd="1" destOrd="0" presId="urn:microsoft.com/office/officeart/2018/2/layout/IconVerticalSolidList"/>
    <dgm:cxn modelId="{FC424A51-084D-6640-B148-27D62A28DA43}" type="presParOf" srcId="{8163B4B3-8816-4C6D-BFB8-EC52C7D8151A}" destId="{C1BC0BA1-64F8-48D5-A672-EB2D5D46F1E1}" srcOrd="2" destOrd="0" presId="urn:microsoft.com/office/officeart/2018/2/layout/IconVerticalSolidList"/>
    <dgm:cxn modelId="{0BDDD688-2FD7-8A4C-86D5-AB455D4A179D}" type="presParOf" srcId="{C1BC0BA1-64F8-48D5-A672-EB2D5D46F1E1}" destId="{F737DF15-932B-4406-ABD6-F249B560CD1D}" srcOrd="0" destOrd="0" presId="urn:microsoft.com/office/officeart/2018/2/layout/IconVerticalSolidList"/>
    <dgm:cxn modelId="{F31C0FFC-E7B2-BA47-92AB-046D2A6BC1E7}" type="presParOf" srcId="{C1BC0BA1-64F8-48D5-A672-EB2D5D46F1E1}" destId="{FFA244A4-279A-4D8B-B9FF-A45E472C9564}" srcOrd="1" destOrd="0" presId="urn:microsoft.com/office/officeart/2018/2/layout/IconVerticalSolidList"/>
    <dgm:cxn modelId="{1097110C-87C3-2A42-8865-13245F73380C}" type="presParOf" srcId="{C1BC0BA1-64F8-48D5-A672-EB2D5D46F1E1}" destId="{AB648BB5-E143-4BFB-A471-517A00101179}" srcOrd="2" destOrd="0" presId="urn:microsoft.com/office/officeart/2018/2/layout/IconVerticalSolidList"/>
    <dgm:cxn modelId="{CE6EADEE-4803-6E4B-BF73-DCE818059B32}" type="presParOf" srcId="{C1BC0BA1-64F8-48D5-A672-EB2D5D46F1E1}" destId="{9745E1E6-5B18-4F8E-A5C8-AC5125975F96}" srcOrd="3" destOrd="0" presId="urn:microsoft.com/office/officeart/2018/2/layout/IconVerticalSolidList"/>
    <dgm:cxn modelId="{96D3D35D-1305-5242-9EDA-0AE180DC3EB9}" type="presParOf" srcId="{8163B4B3-8816-4C6D-BFB8-EC52C7D8151A}" destId="{7846A00E-A648-4D93-A91F-EC1271FC89AA}" srcOrd="3" destOrd="0" presId="urn:microsoft.com/office/officeart/2018/2/layout/IconVerticalSolidList"/>
    <dgm:cxn modelId="{DD727ADE-6723-B64E-B6F5-934A6AEBFD14}" type="presParOf" srcId="{8163B4B3-8816-4C6D-BFB8-EC52C7D8151A}" destId="{B6E5D4F8-553E-447B-B5A0-F7073029B90B}" srcOrd="4" destOrd="0" presId="urn:microsoft.com/office/officeart/2018/2/layout/IconVerticalSolidList"/>
    <dgm:cxn modelId="{0556C23A-6DC1-BD45-930B-DF130C9C5C38}" type="presParOf" srcId="{B6E5D4F8-553E-447B-B5A0-F7073029B90B}" destId="{1B666390-B182-4AF3-A5ED-EBBD5D71B391}" srcOrd="0" destOrd="0" presId="urn:microsoft.com/office/officeart/2018/2/layout/IconVerticalSolidList"/>
    <dgm:cxn modelId="{7158CA8E-281D-3140-91E3-77D360A60068}" type="presParOf" srcId="{B6E5D4F8-553E-447B-B5A0-F7073029B90B}" destId="{E29A688B-969D-4789-8812-483906F3DF0F}" srcOrd="1" destOrd="0" presId="urn:microsoft.com/office/officeart/2018/2/layout/IconVerticalSolidList"/>
    <dgm:cxn modelId="{275F1B78-3EFC-B143-B31E-D3FDC2E78090}" type="presParOf" srcId="{B6E5D4F8-553E-447B-B5A0-F7073029B90B}" destId="{27065EE6-B385-41B4-9CF7-F927CA39DDBC}" srcOrd="2" destOrd="0" presId="urn:microsoft.com/office/officeart/2018/2/layout/IconVerticalSolidList"/>
    <dgm:cxn modelId="{F279734E-47B2-894E-8302-DB2FC533106F}" type="presParOf" srcId="{B6E5D4F8-553E-447B-B5A0-F7073029B90B}" destId="{F16C63A3-CA3F-4369-9CDE-CED7EFDAA847}" srcOrd="3" destOrd="0" presId="urn:microsoft.com/office/officeart/2018/2/layout/IconVerticalSolidList"/>
    <dgm:cxn modelId="{9ACAF7C5-7720-3345-A724-DC40E2EDF85C}" type="presParOf" srcId="{8163B4B3-8816-4C6D-BFB8-EC52C7D8151A}" destId="{C1DA29FC-CD48-443F-A525-6E7487CC8A1B}" srcOrd="5" destOrd="0" presId="urn:microsoft.com/office/officeart/2018/2/layout/IconVerticalSolidList"/>
    <dgm:cxn modelId="{AE8CD0E9-7A5F-7948-8098-63ED84DB4D9B}" type="presParOf" srcId="{8163B4B3-8816-4C6D-BFB8-EC52C7D8151A}" destId="{72F38210-2903-4781-B925-82A26F349184}" srcOrd="6" destOrd="0" presId="urn:microsoft.com/office/officeart/2018/2/layout/IconVerticalSolidList"/>
    <dgm:cxn modelId="{2D72178F-3BA1-0640-A0FA-EC4052993AF1}" type="presParOf" srcId="{72F38210-2903-4781-B925-82A26F349184}" destId="{A821B952-ADC8-49BF-904D-E3C9477ED927}" srcOrd="0" destOrd="0" presId="urn:microsoft.com/office/officeart/2018/2/layout/IconVerticalSolidList"/>
    <dgm:cxn modelId="{D70DE4CB-3546-FD49-A0EF-6E1BE3983BFC}" type="presParOf" srcId="{72F38210-2903-4781-B925-82A26F349184}" destId="{985C8187-BDA0-4DEF-B678-9806383D11EE}" srcOrd="1" destOrd="0" presId="urn:microsoft.com/office/officeart/2018/2/layout/IconVerticalSolidList"/>
    <dgm:cxn modelId="{99606F01-F856-414F-9D44-CAD284F39432}" type="presParOf" srcId="{72F38210-2903-4781-B925-82A26F349184}" destId="{77E502D9-5C4E-41A2-AFB0-C4D3E2F41FDC}" srcOrd="2" destOrd="0" presId="urn:microsoft.com/office/officeart/2018/2/layout/IconVerticalSolidList"/>
    <dgm:cxn modelId="{D085198D-20A1-314A-923A-30AC681F1823}" type="presParOf" srcId="{72F38210-2903-4781-B925-82A26F349184}" destId="{22407CB0-370A-4574-9217-A08F7E1E19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4DD2FA-99EC-43B2-B92B-54B08B1553E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8E5A6CF-404D-4E46-B11F-A008716CD7D7}">
      <dgm:prSet/>
      <dgm:spPr/>
      <dgm:t>
        <a:bodyPr/>
        <a:lstStyle/>
        <a:p>
          <a:r>
            <a:rPr lang="en-US" b="1" dirty="0"/>
            <a:t>Top predictors</a:t>
          </a:r>
          <a:r>
            <a:rPr lang="en-US" dirty="0"/>
            <a:t>: age, tobacco use, gender, life satisfaction, food security, and mental health.</a:t>
          </a:r>
        </a:p>
      </dgm:t>
    </dgm:pt>
    <dgm:pt modelId="{FB20A882-2A50-480E-982B-D390DFA94B08}" type="parTrans" cxnId="{A7966A5B-5989-4996-9641-7D2194323EBA}">
      <dgm:prSet/>
      <dgm:spPr/>
      <dgm:t>
        <a:bodyPr/>
        <a:lstStyle/>
        <a:p>
          <a:endParaRPr lang="en-US"/>
        </a:p>
      </dgm:t>
    </dgm:pt>
    <dgm:pt modelId="{A7616193-DEF0-4808-8599-404225C169EB}" type="sibTrans" cxnId="{A7966A5B-5989-4996-9641-7D2194323EBA}">
      <dgm:prSet/>
      <dgm:spPr/>
      <dgm:t>
        <a:bodyPr/>
        <a:lstStyle/>
        <a:p>
          <a:endParaRPr lang="en-US"/>
        </a:p>
      </dgm:t>
    </dgm:pt>
    <dgm:pt modelId="{7CAEFB1A-7E07-475F-AEFD-79A8C87DC104}">
      <dgm:prSet/>
      <dgm:spPr/>
      <dgm:t>
        <a:bodyPr/>
        <a:lstStyle/>
        <a:p>
          <a:r>
            <a:rPr lang="en-US" dirty="0"/>
            <a:t>Cannabis use is </a:t>
          </a:r>
          <a:r>
            <a:rPr lang="en-US" b="1" dirty="0"/>
            <a:t>influenced</a:t>
          </a:r>
          <a:r>
            <a:rPr lang="en-US" dirty="0"/>
            <a:t> by a combination of demographic, behavioral, and psychosocial factors.</a:t>
          </a:r>
        </a:p>
      </dgm:t>
    </dgm:pt>
    <dgm:pt modelId="{BEF9D69E-6460-4222-9974-27639D9AC3E3}" type="parTrans" cxnId="{F2D03ECE-5436-4C54-8F6D-A37ED3CF13EE}">
      <dgm:prSet/>
      <dgm:spPr/>
      <dgm:t>
        <a:bodyPr/>
        <a:lstStyle/>
        <a:p>
          <a:endParaRPr lang="en-US"/>
        </a:p>
      </dgm:t>
    </dgm:pt>
    <dgm:pt modelId="{BD241A37-D974-43B5-9DD1-7E8B03E7EC06}" type="sibTrans" cxnId="{F2D03ECE-5436-4C54-8F6D-A37ED3CF13EE}">
      <dgm:prSet/>
      <dgm:spPr/>
      <dgm:t>
        <a:bodyPr/>
        <a:lstStyle/>
        <a:p>
          <a:endParaRPr lang="en-US"/>
        </a:p>
      </dgm:t>
    </dgm:pt>
    <dgm:pt modelId="{CDA2B8B6-7FA1-4049-B350-8D382BBEA477}" type="pres">
      <dgm:prSet presAssocID="{7F4DD2FA-99EC-43B2-B92B-54B08B1553E1}" presName="vert0" presStyleCnt="0">
        <dgm:presLayoutVars>
          <dgm:dir/>
          <dgm:animOne val="branch"/>
          <dgm:animLvl val="lvl"/>
        </dgm:presLayoutVars>
      </dgm:prSet>
      <dgm:spPr/>
    </dgm:pt>
    <dgm:pt modelId="{75E1318E-D690-5F46-ABBC-B50487B8A695}" type="pres">
      <dgm:prSet presAssocID="{E8E5A6CF-404D-4E46-B11F-A008716CD7D7}" presName="thickLine" presStyleLbl="alignNode1" presStyleIdx="0" presStyleCnt="2"/>
      <dgm:spPr/>
    </dgm:pt>
    <dgm:pt modelId="{F047C7C9-0CDA-A442-BF69-58801A193326}" type="pres">
      <dgm:prSet presAssocID="{E8E5A6CF-404D-4E46-B11F-A008716CD7D7}" presName="horz1" presStyleCnt="0"/>
      <dgm:spPr/>
    </dgm:pt>
    <dgm:pt modelId="{E1AB886C-B67E-974F-B1E1-8A9C9D54F511}" type="pres">
      <dgm:prSet presAssocID="{E8E5A6CF-404D-4E46-B11F-A008716CD7D7}" presName="tx1" presStyleLbl="revTx" presStyleIdx="0" presStyleCnt="2"/>
      <dgm:spPr/>
    </dgm:pt>
    <dgm:pt modelId="{25227F8D-EFAC-D24E-A39F-DC58A1C5B952}" type="pres">
      <dgm:prSet presAssocID="{E8E5A6CF-404D-4E46-B11F-A008716CD7D7}" presName="vert1" presStyleCnt="0"/>
      <dgm:spPr/>
    </dgm:pt>
    <dgm:pt modelId="{2E7299ED-6BCE-C24F-A61C-295D065026D2}" type="pres">
      <dgm:prSet presAssocID="{7CAEFB1A-7E07-475F-AEFD-79A8C87DC104}" presName="thickLine" presStyleLbl="alignNode1" presStyleIdx="1" presStyleCnt="2"/>
      <dgm:spPr/>
    </dgm:pt>
    <dgm:pt modelId="{D846DC20-6F88-B941-9F34-28ADA7D055D1}" type="pres">
      <dgm:prSet presAssocID="{7CAEFB1A-7E07-475F-AEFD-79A8C87DC104}" presName="horz1" presStyleCnt="0"/>
      <dgm:spPr/>
    </dgm:pt>
    <dgm:pt modelId="{7252D98C-BB58-B544-9223-E2A24F158ED9}" type="pres">
      <dgm:prSet presAssocID="{7CAEFB1A-7E07-475F-AEFD-79A8C87DC104}" presName="tx1" presStyleLbl="revTx" presStyleIdx="1" presStyleCnt="2"/>
      <dgm:spPr/>
    </dgm:pt>
    <dgm:pt modelId="{D53A18D5-A17D-604A-9E33-EC35A3849AF6}" type="pres">
      <dgm:prSet presAssocID="{7CAEFB1A-7E07-475F-AEFD-79A8C87DC104}" presName="vert1" presStyleCnt="0"/>
      <dgm:spPr/>
    </dgm:pt>
  </dgm:ptLst>
  <dgm:cxnLst>
    <dgm:cxn modelId="{F2014F4C-6A26-CF43-909B-43633C25E4EC}" type="presOf" srcId="{7CAEFB1A-7E07-475F-AEFD-79A8C87DC104}" destId="{7252D98C-BB58-B544-9223-E2A24F158ED9}" srcOrd="0" destOrd="0" presId="urn:microsoft.com/office/officeart/2008/layout/LinedList"/>
    <dgm:cxn modelId="{A7966A5B-5989-4996-9641-7D2194323EBA}" srcId="{7F4DD2FA-99EC-43B2-B92B-54B08B1553E1}" destId="{E8E5A6CF-404D-4E46-B11F-A008716CD7D7}" srcOrd="0" destOrd="0" parTransId="{FB20A882-2A50-480E-982B-D390DFA94B08}" sibTransId="{A7616193-DEF0-4808-8599-404225C169EB}"/>
    <dgm:cxn modelId="{E8753463-45F9-6543-8F16-3B7D665209AF}" type="presOf" srcId="{E8E5A6CF-404D-4E46-B11F-A008716CD7D7}" destId="{E1AB886C-B67E-974F-B1E1-8A9C9D54F511}" srcOrd="0" destOrd="0" presId="urn:microsoft.com/office/officeart/2008/layout/LinedList"/>
    <dgm:cxn modelId="{F2D03ECE-5436-4C54-8F6D-A37ED3CF13EE}" srcId="{7F4DD2FA-99EC-43B2-B92B-54B08B1553E1}" destId="{7CAEFB1A-7E07-475F-AEFD-79A8C87DC104}" srcOrd="1" destOrd="0" parTransId="{BEF9D69E-6460-4222-9974-27639D9AC3E3}" sibTransId="{BD241A37-D974-43B5-9DD1-7E8B03E7EC06}"/>
    <dgm:cxn modelId="{F7A251F9-EDB4-074E-99DD-CC7C5E4ECE85}" type="presOf" srcId="{7F4DD2FA-99EC-43B2-B92B-54B08B1553E1}" destId="{CDA2B8B6-7FA1-4049-B350-8D382BBEA477}" srcOrd="0" destOrd="0" presId="urn:microsoft.com/office/officeart/2008/layout/LinedList"/>
    <dgm:cxn modelId="{EE3AD375-DD5A-1041-AD29-B1F890FFAFA8}" type="presParOf" srcId="{CDA2B8B6-7FA1-4049-B350-8D382BBEA477}" destId="{75E1318E-D690-5F46-ABBC-B50487B8A695}" srcOrd="0" destOrd="0" presId="urn:microsoft.com/office/officeart/2008/layout/LinedList"/>
    <dgm:cxn modelId="{50DCED36-2CD9-1649-BC76-7A8DF8F22B2E}" type="presParOf" srcId="{CDA2B8B6-7FA1-4049-B350-8D382BBEA477}" destId="{F047C7C9-0CDA-A442-BF69-58801A193326}" srcOrd="1" destOrd="0" presId="urn:microsoft.com/office/officeart/2008/layout/LinedList"/>
    <dgm:cxn modelId="{EB8DCEFB-FED1-CA4F-842B-B51BC0451418}" type="presParOf" srcId="{F047C7C9-0CDA-A442-BF69-58801A193326}" destId="{E1AB886C-B67E-974F-B1E1-8A9C9D54F511}" srcOrd="0" destOrd="0" presId="urn:microsoft.com/office/officeart/2008/layout/LinedList"/>
    <dgm:cxn modelId="{36462D46-1114-E245-A81E-617EE62F07F8}" type="presParOf" srcId="{F047C7C9-0CDA-A442-BF69-58801A193326}" destId="{25227F8D-EFAC-D24E-A39F-DC58A1C5B952}" srcOrd="1" destOrd="0" presId="urn:microsoft.com/office/officeart/2008/layout/LinedList"/>
    <dgm:cxn modelId="{1CE2FF5E-D055-644A-9B2A-19B820D24FF1}" type="presParOf" srcId="{CDA2B8B6-7FA1-4049-B350-8D382BBEA477}" destId="{2E7299ED-6BCE-C24F-A61C-295D065026D2}" srcOrd="2" destOrd="0" presId="urn:microsoft.com/office/officeart/2008/layout/LinedList"/>
    <dgm:cxn modelId="{98DD87FE-EF07-0E4C-B95F-FEA5E424D1F9}" type="presParOf" srcId="{CDA2B8B6-7FA1-4049-B350-8D382BBEA477}" destId="{D846DC20-6F88-B941-9F34-28ADA7D055D1}" srcOrd="3" destOrd="0" presId="urn:microsoft.com/office/officeart/2008/layout/LinedList"/>
    <dgm:cxn modelId="{D13115CF-A7CA-F34B-AEA1-7DDBBE038694}" type="presParOf" srcId="{D846DC20-6F88-B941-9F34-28ADA7D055D1}" destId="{7252D98C-BB58-B544-9223-E2A24F158ED9}" srcOrd="0" destOrd="0" presId="urn:microsoft.com/office/officeart/2008/layout/LinedList"/>
    <dgm:cxn modelId="{4E8FCFF4-710A-6247-9E9B-B9B41C499A8D}" type="presParOf" srcId="{D846DC20-6F88-B941-9F34-28ADA7D055D1}" destId="{D53A18D5-A17D-604A-9E33-EC35A3849A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26F446-D770-4932-BE49-1FA11809F98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302C4A-4C11-45AA-872A-58E956BF4268}">
      <dgm:prSet/>
      <dgm:spPr/>
      <dgm:t>
        <a:bodyPr/>
        <a:lstStyle/>
        <a:p>
          <a:r>
            <a:rPr lang="en-US"/>
            <a:t>Random oversampling improved user recall and balanced prediction.</a:t>
          </a:r>
        </a:p>
      </dgm:t>
    </dgm:pt>
    <dgm:pt modelId="{C1F9C6C6-14B8-4577-BF2A-053D29494E2F}" type="parTrans" cxnId="{59E0233D-D546-4633-BB6D-C4E475D80D05}">
      <dgm:prSet/>
      <dgm:spPr/>
      <dgm:t>
        <a:bodyPr/>
        <a:lstStyle/>
        <a:p>
          <a:endParaRPr lang="en-US"/>
        </a:p>
      </dgm:t>
    </dgm:pt>
    <dgm:pt modelId="{2AAE69E9-6FDD-4E03-96C2-8AA39D4A254C}" type="sibTrans" cxnId="{59E0233D-D546-4633-BB6D-C4E475D80D05}">
      <dgm:prSet/>
      <dgm:spPr/>
      <dgm:t>
        <a:bodyPr/>
        <a:lstStyle/>
        <a:p>
          <a:endParaRPr lang="en-US"/>
        </a:p>
      </dgm:t>
    </dgm:pt>
    <dgm:pt modelId="{5BBB0BB6-568B-465B-AC96-7E84ED4490B8}">
      <dgm:prSet/>
      <dgm:spPr/>
      <dgm:t>
        <a:bodyPr/>
        <a:lstStyle/>
        <a:p>
          <a:r>
            <a:rPr lang="en-US"/>
            <a:t>Logistic regression provides reliable performance for cannabis use prediction.</a:t>
          </a:r>
        </a:p>
      </dgm:t>
    </dgm:pt>
    <dgm:pt modelId="{E89C4E55-DBF4-45E0-A34B-D6BDD7F8726F}" type="parTrans" cxnId="{05F4DBDF-6A40-49D8-962A-0630882490D9}">
      <dgm:prSet/>
      <dgm:spPr/>
      <dgm:t>
        <a:bodyPr/>
        <a:lstStyle/>
        <a:p>
          <a:endParaRPr lang="en-US"/>
        </a:p>
      </dgm:t>
    </dgm:pt>
    <dgm:pt modelId="{C68D0F8E-6637-4C4F-802C-217A2A25F0F9}" type="sibTrans" cxnId="{05F4DBDF-6A40-49D8-962A-0630882490D9}">
      <dgm:prSet/>
      <dgm:spPr/>
      <dgm:t>
        <a:bodyPr/>
        <a:lstStyle/>
        <a:p>
          <a:endParaRPr lang="en-US"/>
        </a:p>
      </dgm:t>
    </dgm:pt>
    <dgm:pt modelId="{A991C0D7-8FED-4637-AF57-B8AFDAF2F6C6}">
      <dgm:prSet/>
      <dgm:spPr/>
      <dgm:t>
        <a:bodyPr/>
        <a:lstStyle/>
        <a:p>
          <a:r>
            <a:rPr lang="en-US"/>
            <a:t>Future steps: hyperparameter tuning, ensemble models, and advanced imputation.</a:t>
          </a:r>
        </a:p>
      </dgm:t>
    </dgm:pt>
    <dgm:pt modelId="{AA24CBE4-6DA9-4867-820D-6C5E39BE3AF1}" type="parTrans" cxnId="{D1D08364-716D-466E-8AAB-9AA7A2043871}">
      <dgm:prSet/>
      <dgm:spPr/>
      <dgm:t>
        <a:bodyPr/>
        <a:lstStyle/>
        <a:p>
          <a:endParaRPr lang="en-US"/>
        </a:p>
      </dgm:t>
    </dgm:pt>
    <dgm:pt modelId="{C20A5429-0B00-44E9-8F25-0603DB5BB698}" type="sibTrans" cxnId="{D1D08364-716D-466E-8AAB-9AA7A2043871}">
      <dgm:prSet/>
      <dgm:spPr/>
      <dgm:t>
        <a:bodyPr/>
        <a:lstStyle/>
        <a:p>
          <a:endParaRPr lang="en-US"/>
        </a:p>
      </dgm:t>
    </dgm:pt>
    <dgm:pt modelId="{E48904DB-15A4-A74B-B7B2-1031888CBCD7}" type="pres">
      <dgm:prSet presAssocID="{2E26F446-D770-4932-BE49-1FA11809F98C}" presName="linear" presStyleCnt="0">
        <dgm:presLayoutVars>
          <dgm:animLvl val="lvl"/>
          <dgm:resizeHandles val="exact"/>
        </dgm:presLayoutVars>
      </dgm:prSet>
      <dgm:spPr/>
    </dgm:pt>
    <dgm:pt modelId="{69165CC6-CDBF-9249-8A69-1783BAB17910}" type="pres">
      <dgm:prSet presAssocID="{0C302C4A-4C11-45AA-872A-58E956BF426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513BFC-6264-F045-9BBB-3569A09D0CBF}" type="pres">
      <dgm:prSet presAssocID="{2AAE69E9-6FDD-4E03-96C2-8AA39D4A254C}" presName="spacer" presStyleCnt="0"/>
      <dgm:spPr/>
    </dgm:pt>
    <dgm:pt modelId="{4983B6A5-76E8-C24D-A8EB-A246174C3408}" type="pres">
      <dgm:prSet presAssocID="{5BBB0BB6-568B-465B-AC96-7E84ED4490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0CC9E0F-26E8-B249-AF0A-0A16E98FB070}" type="pres">
      <dgm:prSet presAssocID="{C68D0F8E-6637-4C4F-802C-217A2A25F0F9}" presName="spacer" presStyleCnt="0"/>
      <dgm:spPr/>
    </dgm:pt>
    <dgm:pt modelId="{AECC50FB-5103-5546-B20C-0C62580C4798}" type="pres">
      <dgm:prSet presAssocID="{A991C0D7-8FED-4637-AF57-B8AFDAF2F6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D3ABB1C-E384-EE4C-8DED-F6138C5F2C4A}" type="presOf" srcId="{A991C0D7-8FED-4637-AF57-B8AFDAF2F6C6}" destId="{AECC50FB-5103-5546-B20C-0C62580C4798}" srcOrd="0" destOrd="0" presId="urn:microsoft.com/office/officeart/2005/8/layout/vList2"/>
    <dgm:cxn modelId="{9D75761E-E69D-5145-B568-15DCDE7B658F}" type="presOf" srcId="{0C302C4A-4C11-45AA-872A-58E956BF4268}" destId="{69165CC6-CDBF-9249-8A69-1783BAB17910}" srcOrd="0" destOrd="0" presId="urn:microsoft.com/office/officeart/2005/8/layout/vList2"/>
    <dgm:cxn modelId="{59E0233D-D546-4633-BB6D-C4E475D80D05}" srcId="{2E26F446-D770-4932-BE49-1FA11809F98C}" destId="{0C302C4A-4C11-45AA-872A-58E956BF4268}" srcOrd="0" destOrd="0" parTransId="{C1F9C6C6-14B8-4577-BF2A-053D29494E2F}" sibTransId="{2AAE69E9-6FDD-4E03-96C2-8AA39D4A254C}"/>
    <dgm:cxn modelId="{D1D08364-716D-466E-8AAB-9AA7A2043871}" srcId="{2E26F446-D770-4932-BE49-1FA11809F98C}" destId="{A991C0D7-8FED-4637-AF57-B8AFDAF2F6C6}" srcOrd="2" destOrd="0" parTransId="{AA24CBE4-6DA9-4867-820D-6C5E39BE3AF1}" sibTransId="{C20A5429-0B00-44E9-8F25-0603DB5BB698}"/>
    <dgm:cxn modelId="{84322168-630F-4B44-A7B3-E2F64E45B2E5}" type="presOf" srcId="{2E26F446-D770-4932-BE49-1FA11809F98C}" destId="{E48904DB-15A4-A74B-B7B2-1031888CBCD7}" srcOrd="0" destOrd="0" presId="urn:microsoft.com/office/officeart/2005/8/layout/vList2"/>
    <dgm:cxn modelId="{3A4693D9-9853-BF46-B88B-6B4361F3F093}" type="presOf" srcId="{5BBB0BB6-568B-465B-AC96-7E84ED4490B8}" destId="{4983B6A5-76E8-C24D-A8EB-A246174C3408}" srcOrd="0" destOrd="0" presId="urn:microsoft.com/office/officeart/2005/8/layout/vList2"/>
    <dgm:cxn modelId="{05F4DBDF-6A40-49D8-962A-0630882490D9}" srcId="{2E26F446-D770-4932-BE49-1FA11809F98C}" destId="{5BBB0BB6-568B-465B-AC96-7E84ED4490B8}" srcOrd="1" destOrd="0" parTransId="{E89C4E55-DBF4-45E0-A34B-D6BDD7F8726F}" sibTransId="{C68D0F8E-6637-4C4F-802C-217A2A25F0F9}"/>
    <dgm:cxn modelId="{016FD813-AFA1-4A4A-8184-20BC96584CB7}" type="presParOf" srcId="{E48904DB-15A4-A74B-B7B2-1031888CBCD7}" destId="{69165CC6-CDBF-9249-8A69-1783BAB17910}" srcOrd="0" destOrd="0" presId="urn:microsoft.com/office/officeart/2005/8/layout/vList2"/>
    <dgm:cxn modelId="{4E82E31F-D3DC-7840-8755-F94DDA395ABC}" type="presParOf" srcId="{E48904DB-15A4-A74B-B7B2-1031888CBCD7}" destId="{C4513BFC-6264-F045-9BBB-3569A09D0CBF}" srcOrd="1" destOrd="0" presId="urn:microsoft.com/office/officeart/2005/8/layout/vList2"/>
    <dgm:cxn modelId="{342AB648-6923-1A4A-B8E0-7E4F5CEB223C}" type="presParOf" srcId="{E48904DB-15A4-A74B-B7B2-1031888CBCD7}" destId="{4983B6A5-76E8-C24D-A8EB-A246174C3408}" srcOrd="2" destOrd="0" presId="urn:microsoft.com/office/officeart/2005/8/layout/vList2"/>
    <dgm:cxn modelId="{DF06C211-CEF9-0D4A-8132-B9F2F9FBFBB2}" type="presParOf" srcId="{E48904DB-15A4-A74B-B7B2-1031888CBCD7}" destId="{60CC9E0F-26E8-B249-AF0A-0A16E98FB070}" srcOrd="3" destOrd="0" presId="urn:microsoft.com/office/officeart/2005/8/layout/vList2"/>
    <dgm:cxn modelId="{70E10DE9-9405-1F41-BAE5-DC418F01BB37}" type="presParOf" srcId="{E48904DB-15A4-A74B-B7B2-1031888CBCD7}" destId="{AECC50FB-5103-5546-B20C-0C62580C479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4B63C-9E6D-8C44-A9FA-4A0F8D9A0578}">
      <dsp:nvSpPr>
        <dsp:cNvPr id="0" name=""/>
        <dsp:cNvSpPr/>
      </dsp:nvSpPr>
      <dsp:spPr>
        <a:xfrm>
          <a:off x="0" y="0"/>
          <a:ext cx="3431903" cy="427605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565" tIns="330200" rIns="267565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Identify predictors of cannabis use in the Canadian population.</a:t>
          </a:r>
        </a:p>
      </dsp:txBody>
      <dsp:txXfrm>
        <a:off x="0" y="1624900"/>
        <a:ext cx="3431903" cy="2565633"/>
      </dsp:txXfrm>
    </dsp:sp>
    <dsp:sp modelId="{F08CD667-A3DB-7749-9290-691CBE064C11}">
      <dsp:nvSpPr>
        <dsp:cNvPr id="0" name=""/>
        <dsp:cNvSpPr/>
      </dsp:nvSpPr>
      <dsp:spPr>
        <a:xfrm>
          <a:off x="1074543" y="427605"/>
          <a:ext cx="1282816" cy="12828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12700" rIns="1000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62407" y="615469"/>
        <a:ext cx="907088" cy="907088"/>
      </dsp:txXfrm>
    </dsp:sp>
    <dsp:sp modelId="{31813D19-171A-EB44-806A-A83AD6E99AC8}">
      <dsp:nvSpPr>
        <dsp:cNvPr id="0" name=""/>
        <dsp:cNvSpPr/>
      </dsp:nvSpPr>
      <dsp:spPr>
        <a:xfrm>
          <a:off x="0" y="4275983"/>
          <a:ext cx="3431903" cy="72"/>
        </a:xfrm>
        <a:prstGeom prst="rect">
          <a:avLst/>
        </a:prstGeom>
        <a:solidFill>
          <a:schemeClr val="accent2">
            <a:hueOff val="-79989"/>
            <a:satOff val="-9677"/>
            <a:lumOff val="-4627"/>
            <a:alphaOff val="0"/>
          </a:schemeClr>
        </a:solidFill>
        <a:ln w="12700" cap="flat" cmpd="sng" algn="ctr">
          <a:solidFill>
            <a:schemeClr val="accent2">
              <a:hueOff val="-79989"/>
              <a:satOff val="-9677"/>
              <a:lumOff val="-46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6B5F3-642C-7645-86C0-0DC42B10685B}">
      <dsp:nvSpPr>
        <dsp:cNvPr id="0" name=""/>
        <dsp:cNvSpPr/>
      </dsp:nvSpPr>
      <dsp:spPr>
        <a:xfrm>
          <a:off x="3775093" y="0"/>
          <a:ext cx="3431903" cy="4276055"/>
        </a:xfrm>
        <a:prstGeom prst="rect">
          <a:avLst/>
        </a:prstGeom>
        <a:solidFill>
          <a:schemeClr val="accent2">
            <a:tint val="40000"/>
            <a:alpha val="90000"/>
            <a:hueOff val="-149832"/>
            <a:satOff val="-28917"/>
            <a:lumOff val="-31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9832"/>
              <a:satOff val="-28917"/>
              <a:lumOff val="-31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565" tIns="330200" rIns="267565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Build and evaluate models to distinguish users from non-users.</a:t>
          </a:r>
        </a:p>
      </dsp:txBody>
      <dsp:txXfrm>
        <a:off x="3775093" y="1624900"/>
        <a:ext cx="3431903" cy="2565633"/>
      </dsp:txXfrm>
    </dsp:sp>
    <dsp:sp modelId="{574F118F-8D4C-9C48-AF06-D20E258A6975}">
      <dsp:nvSpPr>
        <dsp:cNvPr id="0" name=""/>
        <dsp:cNvSpPr/>
      </dsp:nvSpPr>
      <dsp:spPr>
        <a:xfrm>
          <a:off x="4849636" y="427605"/>
          <a:ext cx="1282816" cy="1282816"/>
        </a:xfrm>
        <a:prstGeom prst="ellipse">
          <a:avLst/>
        </a:prstGeom>
        <a:solidFill>
          <a:schemeClr val="accent2">
            <a:hueOff val="-159978"/>
            <a:satOff val="-19354"/>
            <a:lumOff val="-9255"/>
            <a:alphaOff val="0"/>
          </a:schemeClr>
        </a:solidFill>
        <a:ln w="12700" cap="flat" cmpd="sng" algn="ctr">
          <a:solidFill>
            <a:schemeClr val="accent2">
              <a:hueOff val="-159978"/>
              <a:satOff val="-19354"/>
              <a:lumOff val="-92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12700" rIns="1000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37500" y="615469"/>
        <a:ext cx="907088" cy="907088"/>
      </dsp:txXfrm>
    </dsp:sp>
    <dsp:sp modelId="{585676E2-0FFE-4240-AC4C-6D149FE42561}">
      <dsp:nvSpPr>
        <dsp:cNvPr id="0" name=""/>
        <dsp:cNvSpPr/>
      </dsp:nvSpPr>
      <dsp:spPr>
        <a:xfrm>
          <a:off x="3775093" y="4275983"/>
          <a:ext cx="3431903" cy="72"/>
        </a:xfrm>
        <a:prstGeom prst="rect">
          <a:avLst/>
        </a:prstGeom>
        <a:solidFill>
          <a:schemeClr val="accent2">
            <a:hueOff val="-239967"/>
            <a:satOff val="-29031"/>
            <a:lumOff val="-13882"/>
            <a:alphaOff val="0"/>
          </a:schemeClr>
        </a:solidFill>
        <a:ln w="12700" cap="flat" cmpd="sng" algn="ctr">
          <a:solidFill>
            <a:schemeClr val="accent2">
              <a:hueOff val="-239967"/>
              <a:satOff val="-29031"/>
              <a:lumOff val="-13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7667C-8891-DE46-B700-228C13D327D6}">
      <dsp:nvSpPr>
        <dsp:cNvPr id="0" name=""/>
        <dsp:cNvSpPr/>
      </dsp:nvSpPr>
      <dsp:spPr>
        <a:xfrm>
          <a:off x="7550186" y="0"/>
          <a:ext cx="3431903" cy="4276055"/>
        </a:xfrm>
        <a:prstGeom prst="rect">
          <a:avLst/>
        </a:prstGeom>
        <a:solidFill>
          <a:schemeClr val="accent2">
            <a:tint val="40000"/>
            <a:alpha val="90000"/>
            <a:hueOff val="-299664"/>
            <a:satOff val="-57833"/>
            <a:lumOff val="-625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99664"/>
              <a:satOff val="-57833"/>
              <a:lumOff val="-62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565" tIns="330200" rIns="267565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Demonstrate the effect of class imbalance and correction strategies.</a:t>
          </a:r>
        </a:p>
      </dsp:txBody>
      <dsp:txXfrm>
        <a:off x="7550186" y="1624900"/>
        <a:ext cx="3431903" cy="2565633"/>
      </dsp:txXfrm>
    </dsp:sp>
    <dsp:sp modelId="{6A05F087-0AE1-814C-B4FE-50AD19FB52E4}">
      <dsp:nvSpPr>
        <dsp:cNvPr id="0" name=""/>
        <dsp:cNvSpPr/>
      </dsp:nvSpPr>
      <dsp:spPr>
        <a:xfrm>
          <a:off x="8624730" y="427605"/>
          <a:ext cx="1282816" cy="1282816"/>
        </a:xfrm>
        <a:prstGeom prst="ellipse">
          <a:avLst/>
        </a:prstGeom>
        <a:solidFill>
          <a:schemeClr val="accent2">
            <a:hueOff val="-319956"/>
            <a:satOff val="-38708"/>
            <a:lumOff val="-18510"/>
            <a:alphaOff val="0"/>
          </a:schemeClr>
        </a:solidFill>
        <a:ln w="12700" cap="flat" cmpd="sng" algn="ctr">
          <a:solidFill>
            <a:schemeClr val="accent2">
              <a:hueOff val="-319956"/>
              <a:satOff val="-38708"/>
              <a:lumOff val="-185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12700" rIns="1000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12594" y="615469"/>
        <a:ext cx="907088" cy="907088"/>
      </dsp:txXfrm>
    </dsp:sp>
    <dsp:sp modelId="{87D320F5-DC0C-6C4E-BDE1-8B776D669D97}">
      <dsp:nvSpPr>
        <dsp:cNvPr id="0" name=""/>
        <dsp:cNvSpPr/>
      </dsp:nvSpPr>
      <dsp:spPr>
        <a:xfrm>
          <a:off x="7550186" y="4275983"/>
          <a:ext cx="3431903" cy="72"/>
        </a:xfrm>
        <a:prstGeom prst="rect">
          <a:avLst/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 w="12700" cap="flat" cmpd="sng" algn="ctr">
          <a:solidFill>
            <a:schemeClr val="accent2">
              <a:hueOff val="-399945"/>
              <a:satOff val="-48385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9EED5-2F0A-7545-8FDB-5A9B368457CB}">
      <dsp:nvSpPr>
        <dsp:cNvPr id="0" name=""/>
        <dsp:cNvSpPr/>
      </dsp:nvSpPr>
      <dsp:spPr>
        <a:xfrm>
          <a:off x="0" y="0"/>
          <a:ext cx="6173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F133F-FAC6-7740-88EF-360948D5777A}">
      <dsp:nvSpPr>
        <dsp:cNvPr id="0" name=""/>
        <dsp:cNvSpPr/>
      </dsp:nvSpPr>
      <dsp:spPr>
        <a:xfrm>
          <a:off x="0" y="0"/>
          <a:ext cx="6173409" cy="146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Standardized column names and corrected typos.</a:t>
          </a:r>
        </a:p>
      </dsp:txBody>
      <dsp:txXfrm>
        <a:off x="0" y="0"/>
        <a:ext cx="6173409" cy="1460867"/>
      </dsp:txXfrm>
    </dsp:sp>
    <dsp:sp modelId="{20E7BC50-2FB7-C04D-90CE-BA9E42A01D4A}">
      <dsp:nvSpPr>
        <dsp:cNvPr id="0" name=""/>
        <dsp:cNvSpPr/>
      </dsp:nvSpPr>
      <dsp:spPr>
        <a:xfrm>
          <a:off x="0" y="1460867"/>
          <a:ext cx="617340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26623-5545-C147-AE3B-25202FFFB60D}">
      <dsp:nvSpPr>
        <dsp:cNvPr id="0" name=""/>
        <dsp:cNvSpPr/>
      </dsp:nvSpPr>
      <dsp:spPr>
        <a:xfrm>
          <a:off x="0" y="1460867"/>
          <a:ext cx="6173409" cy="146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Decoded categorical variables using a mapping dictionary.</a:t>
          </a:r>
        </a:p>
      </dsp:txBody>
      <dsp:txXfrm>
        <a:off x="0" y="1460867"/>
        <a:ext cx="6173409" cy="1460867"/>
      </dsp:txXfrm>
    </dsp:sp>
    <dsp:sp modelId="{6AA86F40-C6CE-E44B-A7C3-B137050AA0B5}">
      <dsp:nvSpPr>
        <dsp:cNvPr id="0" name=""/>
        <dsp:cNvSpPr/>
      </dsp:nvSpPr>
      <dsp:spPr>
        <a:xfrm>
          <a:off x="0" y="2921734"/>
          <a:ext cx="617340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E4DF7-29FC-4C4F-9038-45E93F2BDC7F}">
      <dsp:nvSpPr>
        <dsp:cNvPr id="0" name=""/>
        <dsp:cNvSpPr/>
      </dsp:nvSpPr>
      <dsp:spPr>
        <a:xfrm>
          <a:off x="0" y="2921734"/>
          <a:ext cx="6173409" cy="146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Removed sparse, high-leakage, or redundant features.</a:t>
          </a:r>
        </a:p>
      </dsp:txBody>
      <dsp:txXfrm>
        <a:off x="0" y="2921734"/>
        <a:ext cx="6173409" cy="1460867"/>
      </dsp:txXfrm>
    </dsp:sp>
    <dsp:sp modelId="{F636A671-2D47-F64E-820A-ED854E9B3249}">
      <dsp:nvSpPr>
        <dsp:cNvPr id="0" name=""/>
        <dsp:cNvSpPr/>
      </dsp:nvSpPr>
      <dsp:spPr>
        <a:xfrm>
          <a:off x="0" y="4382601"/>
          <a:ext cx="617340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CDD4D-D436-3A41-B84A-155572678B10}">
      <dsp:nvSpPr>
        <dsp:cNvPr id="0" name=""/>
        <dsp:cNvSpPr/>
      </dsp:nvSpPr>
      <dsp:spPr>
        <a:xfrm>
          <a:off x="0" y="4382601"/>
          <a:ext cx="6173409" cy="146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Binarized the target: cannabis user (yes/no).</a:t>
          </a:r>
        </a:p>
      </dsp:txBody>
      <dsp:txXfrm>
        <a:off x="0" y="4382601"/>
        <a:ext cx="6173409" cy="14608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3B18C-9FCA-49D7-993C-82587C7D694D}">
      <dsp:nvSpPr>
        <dsp:cNvPr id="0" name=""/>
        <dsp:cNvSpPr/>
      </dsp:nvSpPr>
      <dsp:spPr>
        <a:xfrm>
          <a:off x="0" y="2425"/>
          <a:ext cx="6173409" cy="12291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A5F83-0C71-4036-A0CA-6E083290D833}">
      <dsp:nvSpPr>
        <dsp:cNvPr id="0" name=""/>
        <dsp:cNvSpPr/>
      </dsp:nvSpPr>
      <dsp:spPr>
        <a:xfrm>
          <a:off x="371827" y="278991"/>
          <a:ext cx="676050" cy="6760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BCDCB-0712-4655-8B53-9EF5EA554385}">
      <dsp:nvSpPr>
        <dsp:cNvPr id="0" name=""/>
        <dsp:cNvSpPr/>
      </dsp:nvSpPr>
      <dsp:spPr>
        <a:xfrm>
          <a:off x="1419706" y="2425"/>
          <a:ext cx="4753702" cy="1229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089" tIns="130089" rIns="130089" bIns="1300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Class distribution: ~85% non-users, 15% users.</a:t>
          </a:r>
        </a:p>
      </dsp:txBody>
      <dsp:txXfrm>
        <a:off x="1419706" y="2425"/>
        <a:ext cx="4753702" cy="1229182"/>
      </dsp:txXfrm>
    </dsp:sp>
    <dsp:sp modelId="{F737DF15-932B-4406-ABD6-F249B560CD1D}">
      <dsp:nvSpPr>
        <dsp:cNvPr id="0" name=""/>
        <dsp:cNvSpPr/>
      </dsp:nvSpPr>
      <dsp:spPr>
        <a:xfrm>
          <a:off x="0" y="1538903"/>
          <a:ext cx="6173409" cy="12291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244A4-279A-4D8B-B9FF-A45E472C9564}">
      <dsp:nvSpPr>
        <dsp:cNvPr id="0" name=""/>
        <dsp:cNvSpPr/>
      </dsp:nvSpPr>
      <dsp:spPr>
        <a:xfrm>
          <a:off x="371827" y="1815469"/>
          <a:ext cx="676050" cy="6760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5E1E6-5B18-4F8E-A5C8-AC5125975F96}">
      <dsp:nvSpPr>
        <dsp:cNvPr id="0" name=""/>
        <dsp:cNvSpPr/>
      </dsp:nvSpPr>
      <dsp:spPr>
        <a:xfrm>
          <a:off x="1419706" y="1538903"/>
          <a:ext cx="4753702" cy="1229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089" tIns="130089" rIns="130089" bIns="1300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strong imbalance was observed in the outcome variable.</a:t>
          </a:r>
        </a:p>
      </dsp:txBody>
      <dsp:txXfrm>
        <a:off x="1419706" y="1538903"/>
        <a:ext cx="4753702" cy="1229182"/>
      </dsp:txXfrm>
    </dsp:sp>
    <dsp:sp modelId="{1B666390-B182-4AF3-A5ED-EBBD5D71B391}">
      <dsp:nvSpPr>
        <dsp:cNvPr id="0" name=""/>
        <dsp:cNvSpPr/>
      </dsp:nvSpPr>
      <dsp:spPr>
        <a:xfrm>
          <a:off x="0" y="3075382"/>
          <a:ext cx="6173409" cy="12291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A688B-969D-4789-8812-483906F3DF0F}">
      <dsp:nvSpPr>
        <dsp:cNvPr id="0" name=""/>
        <dsp:cNvSpPr/>
      </dsp:nvSpPr>
      <dsp:spPr>
        <a:xfrm>
          <a:off x="371827" y="3351948"/>
          <a:ext cx="676050" cy="6760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C63A3-CA3F-4369-9CDE-CED7EFDAA847}">
      <dsp:nvSpPr>
        <dsp:cNvPr id="0" name=""/>
        <dsp:cNvSpPr/>
      </dsp:nvSpPr>
      <dsp:spPr>
        <a:xfrm>
          <a:off x="1419706" y="3075382"/>
          <a:ext cx="4753702" cy="1229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089" tIns="130089" rIns="130089" bIns="1300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Visualization showed higher cannabis use among males, younger adults, and those reporting tobacco use.</a:t>
          </a:r>
        </a:p>
      </dsp:txBody>
      <dsp:txXfrm>
        <a:off x="1419706" y="3075382"/>
        <a:ext cx="4753702" cy="1229182"/>
      </dsp:txXfrm>
    </dsp:sp>
    <dsp:sp modelId="{A821B952-ADC8-49BF-904D-E3C9477ED927}">
      <dsp:nvSpPr>
        <dsp:cNvPr id="0" name=""/>
        <dsp:cNvSpPr/>
      </dsp:nvSpPr>
      <dsp:spPr>
        <a:xfrm>
          <a:off x="0" y="4611860"/>
          <a:ext cx="6173409" cy="122918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C8187-BDA0-4DEF-B678-9806383D11EE}">
      <dsp:nvSpPr>
        <dsp:cNvPr id="0" name=""/>
        <dsp:cNvSpPr/>
      </dsp:nvSpPr>
      <dsp:spPr>
        <a:xfrm>
          <a:off x="371827" y="4888427"/>
          <a:ext cx="676050" cy="6760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07CB0-370A-4574-9217-A08F7E1E19DE}">
      <dsp:nvSpPr>
        <dsp:cNvPr id="0" name=""/>
        <dsp:cNvSpPr/>
      </dsp:nvSpPr>
      <dsp:spPr>
        <a:xfrm>
          <a:off x="1419706" y="4611860"/>
          <a:ext cx="4753702" cy="1229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089" tIns="130089" rIns="130089" bIns="1300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Correlations were identified with age, tobacco, and mental health.</a:t>
          </a:r>
        </a:p>
      </dsp:txBody>
      <dsp:txXfrm>
        <a:off x="1419706" y="4611860"/>
        <a:ext cx="4753702" cy="12291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1318E-D690-5F46-ABBC-B50487B8A695}">
      <dsp:nvSpPr>
        <dsp:cNvPr id="0" name=""/>
        <dsp:cNvSpPr/>
      </dsp:nvSpPr>
      <dsp:spPr>
        <a:xfrm>
          <a:off x="0" y="0"/>
          <a:ext cx="6173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B886C-B67E-974F-B1E1-8A9C9D54F511}">
      <dsp:nvSpPr>
        <dsp:cNvPr id="0" name=""/>
        <dsp:cNvSpPr/>
      </dsp:nvSpPr>
      <dsp:spPr>
        <a:xfrm>
          <a:off x="0" y="0"/>
          <a:ext cx="6173409" cy="292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/>
            <a:t>Top predictors</a:t>
          </a:r>
          <a:r>
            <a:rPr lang="en-US" sz="3800" kern="1200" dirty="0"/>
            <a:t>: age, tobacco use, gender, life satisfaction, food security, and mental health.</a:t>
          </a:r>
        </a:p>
      </dsp:txBody>
      <dsp:txXfrm>
        <a:off x="0" y="0"/>
        <a:ext cx="6173409" cy="2921734"/>
      </dsp:txXfrm>
    </dsp:sp>
    <dsp:sp modelId="{2E7299ED-6BCE-C24F-A61C-295D065026D2}">
      <dsp:nvSpPr>
        <dsp:cNvPr id="0" name=""/>
        <dsp:cNvSpPr/>
      </dsp:nvSpPr>
      <dsp:spPr>
        <a:xfrm>
          <a:off x="0" y="2921734"/>
          <a:ext cx="617340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2D98C-BB58-B544-9223-E2A24F158ED9}">
      <dsp:nvSpPr>
        <dsp:cNvPr id="0" name=""/>
        <dsp:cNvSpPr/>
      </dsp:nvSpPr>
      <dsp:spPr>
        <a:xfrm>
          <a:off x="0" y="2921734"/>
          <a:ext cx="6173409" cy="292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Cannabis use is </a:t>
          </a:r>
          <a:r>
            <a:rPr lang="en-US" sz="3800" b="1" kern="1200" dirty="0"/>
            <a:t>influenced</a:t>
          </a:r>
          <a:r>
            <a:rPr lang="en-US" sz="3800" kern="1200" dirty="0"/>
            <a:t> by a combination of demographic, behavioral, and psychosocial factors.</a:t>
          </a:r>
        </a:p>
      </dsp:txBody>
      <dsp:txXfrm>
        <a:off x="0" y="2921734"/>
        <a:ext cx="6173409" cy="29217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165CC6-CDBF-9249-8A69-1783BAB17910}">
      <dsp:nvSpPr>
        <dsp:cNvPr id="0" name=""/>
        <dsp:cNvSpPr/>
      </dsp:nvSpPr>
      <dsp:spPr>
        <a:xfrm>
          <a:off x="0" y="57799"/>
          <a:ext cx="6173409" cy="18497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Random oversampling improved user recall and balanced prediction.</a:t>
          </a:r>
        </a:p>
      </dsp:txBody>
      <dsp:txXfrm>
        <a:off x="90298" y="148097"/>
        <a:ext cx="5992813" cy="1669174"/>
      </dsp:txXfrm>
    </dsp:sp>
    <dsp:sp modelId="{4983B6A5-76E8-C24D-A8EB-A246174C3408}">
      <dsp:nvSpPr>
        <dsp:cNvPr id="0" name=""/>
        <dsp:cNvSpPr/>
      </dsp:nvSpPr>
      <dsp:spPr>
        <a:xfrm>
          <a:off x="0" y="1996849"/>
          <a:ext cx="6173409" cy="1849770"/>
        </a:xfrm>
        <a:prstGeom prst="roundRect">
          <a:avLst/>
        </a:prstGeom>
        <a:solidFill>
          <a:schemeClr val="accent2">
            <a:hueOff val="-199973"/>
            <a:satOff val="-24193"/>
            <a:lumOff val="-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Logistic regression provides reliable performance for cannabis use prediction.</a:t>
          </a:r>
        </a:p>
      </dsp:txBody>
      <dsp:txXfrm>
        <a:off x="90298" y="2087147"/>
        <a:ext cx="5992813" cy="1669174"/>
      </dsp:txXfrm>
    </dsp:sp>
    <dsp:sp modelId="{AECC50FB-5103-5546-B20C-0C62580C4798}">
      <dsp:nvSpPr>
        <dsp:cNvPr id="0" name=""/>
        <dsp:cNvSpPr/>
      </dsp:nvSpPr>
      <dsp:spPr>
        <a:xfrm>
          <a:off x="0" y="3935899"/>
          <a:ext cx="6173409" cy="1849770"/>
        </a:xfrm>
        <a:prstGeom prst="roundRect">
          <a:avLst/>
        </a:prstGeom>
        <a:solidFill>
          <a:schemeClr val="accent2">
            <a:hueOff val="-399945"/>
            <a:satOff val="-48385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Future steps: hyperparameter tuning, ensemble models, and advanced imputation.</a:t>
          </a:r>
        </a:p>
      </dsp:txBody>
      <dsp:txXfrm>
        <a:off x="90298" y="4026197"/>
        <a:ext cx="5992813" cy="16691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6C0E2-707A-D342-8550-22EEA271CBE1}" type="datetimeFigureOut">
              <a:rPr lang="en-US" smtClean="0"/>
              <a:t>6/1/25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AAD57-4692-B643-90F6-A0388362E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50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AAD57-4692-B643-90F6-A0388362E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4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71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08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8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2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82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3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7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9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62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2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6/1/25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5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radhanahirapara/healthcare-surve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3" name="Freeform: Shape 10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64" name="Freeform: Shape 12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6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FC6891-CBA5-427E-98AC-BF56BB033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E3C3F-03AA-45CB-5C38-D57C0FD00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4087571"/>
            <a:ext cx="4795282" cy="20319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Predicting Cannabis Use Using Canadian Health Survey Data</a:t>
            </a:r>
            <a:endParaRPr lang="en-US" sz="34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9" name="Bottom RIght">
            <a:extLst>
              <a:ext uri="{FF2B5EF4-FFF2-40B4-BE49-F238E27FC236}">
                <a16:creationId xmlns:a16="http://schemas.microsoft.com/office/drawing/2014/main" id="{F4436A75-A020-494B-B70E-85CBD21EA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D9AC34A-4733-4246-B384-5BBE066AB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41" name="Graphic 157">
              <a:extLst>
                <a:ext uri="{FF2B5EF4-FFF2-40B4-BE49-F238E27FC236}">
                  <a16:creationId xmlns:a16="http://schemas.microsoft.com/office/drawing/2014/main" id="{C84724B9-1248-4CA6-931C-9B9E63004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4C9DE4C6-CB01-4D68-93A6-8607C5D238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C59DA521-D2B0-460E-983D-FAE00EFB20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9CECFA9-7A18-4264-BC92-C7C99477A7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701834A6-ABDA-4C9E-A44A-7D52EEDBE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B3C39CA-57CB-43E8-89BC-497ECBAFB6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B05384B-92F3-4CC1-8748-7BFCD27B7B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7E4B4AC-919A-46C3-A98F-B36F103A2D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B61039B-1FD3-401E-83AC-C05C971D1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D1DF65D-7C8E-320F-B472-196EB0E85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78" r="-2" b="30839"/>
          <a:stretch>
            <a:fillRect/>
          </a:stretch>
        </p:blipFill>
        <p:spPr>
          <a:xfrm>
            <a:off x="619840" y="10"/>
            <a:ext cx="11084189" cy="3854020"/>
          </a:xfrm>
          <a:custGeom>
            <a:avLst/>
            <a:gdLst/>
            <a:ahLst/>
            <a:cxnLst/>
            <a:rect l="l" t="t" r="r" b="b"/>
            <a:pathLst>
              <a:path w="11084189" h="3854030">
                <a:moveTo>
                  <a:pt x="0" y="0"/>
                </a:moveTo>
                <a:lnTo>
                  <a:pt x="11084189" y="0"/>
                </a:lnTo>
                <a:lnTo>
                  <a:pt x="11061526" y="105743"/>
                </a:lnTo>
                <a:cubicBezTo>
                  <a:pt x="10536187" y="2244886"/>
                  <a:pt x="8264669" y="3854030"/>
                  <a:pt x="5542096" y="3854030"/>
                </a:cubicBezTo>
                <a:cubicBezTo>
                  <a:pt x="2819521" y="3854030"/>
                  <a:pt x="548003" y="2244886"/>
                  <a:pt x="22664" y="105743"/>
                </a:cubicBezTo>
                <a:close/>
              </a:path>
            </a:pathLst>
          </a:custGeom>
        </p:spPr>
      </p:pic>
      <p:grpSp>
        <p:nvGrpSpPr>
          <p:cNvPr id="51" name="Top Left">
            <a:extLst>
              <a:ext uri="{FF2B5EF4-FFF2-40B4-BE49-F238E27FC236}">
                <a16:creationId xmlns:a16="http://schemas.microsoft.com/office/drawing/2014/main" id="{DB8ED0A1-FF45-4EE6-ADE8-2F2ED0D39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1A8A514-3FF4-4ADA-AF55-B44C969B5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EDA4578-CC87-43DF-B783-3B5D770C3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B4F1C15-5B2E-483A-AA12-C47B50007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EF72001-4788-44E6-8592-7099340CA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A8C8919-696C-4290-B3EE-DDC5EDA43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37F8271-7580-41CA-B352-6393A3EA87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1B97F8-5B65-43A1-9BC3-FEF0AD7C7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504FC40-7C32-3444-3594-305F7FD46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5372" y="4088049"/>
            <a:ext cx="4977905" cy="20314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lnSpc>
                <a:spcPct val="100000"/>
              </a:lnSpc>
              <a:buFont typeface="Avenir Next LT Pro" panose="020B0504020202020204" pitchFamily="34" charset="0"/>
              <a:buChar char="+"/>
            </a:pPr>
            <a:r>
              <a:rPr lang="en-US" sz="1800"/>
              <a:t>Jonathan Steen</a:t>
            </a:r>
          </a:p>
          <a:p>
            <a:pPr indent="-228600" algn="l">
              <a:lnSpc>
                <a:spcPct val="100000"/>
              </a:lnSpc>
              <a:buFont typeface="Avenir Next LT Pro" panose="020B0504020202020204" pitchFamily="34" charset="0"/>
              <a:buChar char="+"/>
            </a:pPr>
            <a:r>
              <a:rPr lang="en-US" sz="1800"/>
              <a:t>MSDS, Bellevue University</a:t>
            </a:r>
          </a:p>
          <a:p>
            <a:pPr indent="-228600" algn="l">
              <a:lnSpc>
                <a:spcPct val="100000"/>
              </a:lnSpc>
              <a:buFont typeface="Avenir Next LT Pro" panose="020B0504020202020204" pitchFamily="34" charset="0"/>
              <a:buChar char="+"/>
            </a:pPr>
            <a:r>
              <a:rPr lang="en-US" sz="1800"/>
              <a:t>DSC 630: Predictive Analytics</a:t>
            </a:r>
          </a:p>
          <a:p>
            <a:pPr indent="-228600" algn="l">
              <a:lnSpc>
                <a:spcPct val="100000"/>
              </a:lnSpc>
              <a:buFont typeface="Avenir Next LT Pro" panose="020B0504020202020204" pitchFamily="34" charset="0"/>
              <a:buChar char="+"/>
            </a:pPr>
            <a:r>
              <a:rPr lang="en-US" sz="1800"/>
              <a:t>Instructor: Frank Neugebauer</a:t>
            </a:r>
          </a:p>
          <a:p>
            <a:pPr indent="-228600" algn="l">
              <a:lnSpc>
                <a:spcPct val="100000"/>
              </a:lnSpc>
              <a:buFont typeface="Avenir Next LT Pro" panose="020B0504020202020204" pitchFamily="34" charset="0"/>
              <a:buChar char="+"/>
            </a:pPr>
            <a:r>
              <a:rPr lang="en-US" sz="1800"/>
              <a:t>May 31, 2025</a:t>
            </a:r>
          </a:p>
        </p:txBody>
      </p:sp>
    </p:spTree>
    <p:extLst>
      <p:ext uri="{BB962C8B-B14F-4D97-AF65-F5344CB8AC3E}">
        <p14:creationId xmlns:p14="http://schemas.microsoft.com/office/powerpoint/2010/main" val="256799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05" name="Top Left">
            <a:extLst>
              <a:ext uri="{FF2B5EF4-FFF2-40B4-BE49-F238E27FC236}">
                <a16:creationId xmlns:a16="http://schemas.microsoft.com/office/drawing/2014/main" id="{DC655204-C06A-4A55-9BB4-C79C4AF9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83BC876-5C0C-438A-8928-B1EC2E1E4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9B3EEC1-86B7-4DB1-AB38-E2D749392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EB2CD0B-3D3E-4CF3-92F5-7AE77C22C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01561934-15F2-4620-A65F-28EB73CD7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B9278E2-D464-4DE2-B229-D3D02ED2B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7AA3CE0-412D-4C03-9203-878479E0A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5785346-E446-47E2-B3DD-C1C561E68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0F6388E0-BD20-4901-B128-88D3D56A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963F2B9-AEE3-3558-C3B3-CEED3639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987809" cy="1664573"/>
          </a:xfrm>
        </p:spPr>
        <p:txBody>
          <a:bodyPr>
            <a:normAutofit/>
          </a:bodyPr>
          <a:lstStyle/>
          <a:p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D4A56-CDAC-D730-8DAB-56AB468E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84474"/>
            <a:ext cx="4987488" cy="3728613"/>
          </a:xfrm>
        </p:spPr>
        <p:txBody>
          <a:bodyPr>
            <a:normAutofit/>
          </a:bodyPr>
          <a:lstStyle/>
          <a:p>
            <a:r>
              <a:rPr lang="en-US" sz="1800" dirty="0"/>
              <a:t>Cannabis use presents public health challenges, impacting well-being and healthcare resources.</a:t>
            </a:r>
          </a:p>
          <a:p>
            <a:r>
              <a:rPr lang="en-US" sz="1800" dirty="0"/>
              <a:t>This project applies predictive analytics to identify demographic, lifestyle, and psychosocial factors linked to cannabis use in Canada.</a:t>
            </a:r>
          </a:p>
        </p:txBody>
      </p:sp>
      <p:pic>
        <p:nvPicPr>
          <p:cNvPr id="5" name="Picture 4" descr="A green leaf on a white background&#10;&#10;AI-generated content may be incorrect.">
            <a:extLst>
              <a:ext uri="{FF2B5EF4-FFF2-40B4-BE49-F238E27FC236}">
                <a16:creationId xmlns:a16="http://schemas.microsoft.com/office/drawing/2014/main" id="{74696664-054F-AF5B-CCA4-EE8606BE1C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74" r="17978" b="3"/>
          <a:stretch>
            <a:fillRect/>
          </a:stretch>
        </p:blipFill>
        <p:spPr>
          <a:xfrm>
            <a:off x="6508749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115" name="Bottom Right">
            <a:extLst>
              <a:ext uri="{FF2B5EF4-FFF2-40B4-BE49-F238E27FC236}">
                <a16:creationId xmlns:a16="http://schemas.microsoft.com/office/drawing/2014/main" id="{4C476EAB-383B-48F9-B661-B049EB50A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045FFB7-76A2-4C6F-A15F-23BF1597C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17" name="Graphic 157">
              <a:extLst>
                <a:ext uri="{FF2B5EF4-FFF2-40B4-BE49-F238E27FC236}">
                  <a16:creationId xmlns:a16="http://schemas.microsoft.com/office/drawing/2014/main" id="{F4E5EB5B-D417-4B20-9CBE-F3DCCA5F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56643958-DAAD-4611-BCC7-9BDB5917C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263D00C7-B9D3-4681-8C55-F137CBD36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0539B678-9BB9-4639-B9A4-4511639BB4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C14F8CDF-D0D2-43AD-A7AB-0871C24A6E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5D54C27-D98D-4E8C-87BD-E0ECAB3BA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CA10EDED-B646-4197-BF0C-C4A83018BA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B9B3D029-DC96-4655-89E2-D9387B3D5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F12D98D-E6A5-437D-830E-C5C0E7ACE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8795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9157-1058-7619-CDA5-C531C87E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C831-4C4C-35D4-AD5F-518273B69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Canadian Community Health Survey (2019-2020) was used as a data source.</a:t>
            </a:r>
          </a:p>
          <a:p>
            <a:r>
              <a:rPr lang="en-US" dirty="0"/>
              <a:t>The dataset includes 108,252 records with health, lifestyle, and socioeconomic variables.</a:t>
            </a:r>
          </a:p>
          <a:p>
            <a:r>
              <a:rPr lang="en-US" dirty="0"/>
              <a:t>Final analytic sample: 7,274 complete records, 30 predictive features.</a:t>
            </a:r>
          </a:p>
          <a:p>
            <a:r>
              <a:rPr lang="en-US" dirty="0">
                <a:hlinkClick r:id="rId2"/>
              </a:rPr>
              <a:t>Kaggle Healthcare Survey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04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32D15CB3-AC64-41F7-86F8-22A111F3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8FAC53-55F6-4B51-8FAD-977E5E7D7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C29D267-CD4D-4FD7-8F45-1C8FB4235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EFC9A2B-D1CA-4247-836D-EAB80EB5E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4F9AB28-B3F0-425B-8E51-E16DDB853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91B00CE-2CF5-4DF1-A345-4516E2E83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332657-F1E9-428F-BA70-8DD848E55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66A6EF8-94C7-4127-9EF9-584AD6885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1C2001-8549-4C7B-86AB-049B0C99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96C10A-E530-DAD8-1D74-3A1FAEB4C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68425"/>
            <a:ext cx="9988166" cy="1499401"/>
          </a:xfrm>
        </p:spPr>
        <p:txBody>
          <a:bodyPr>
            <a:normAutofit/>
          </a:bodyPr>
          <a:lstStyle/>
          <a:p>
            <a:pPr algn="ctr"/>
            <a:r>
              <a:rPr lang="en-US" b="1"/>
              <a:t>Project Objectives</a:t>
            </a:r>
            <a:endParaRPr lang="en-US"/>
          </a:p>
        </p:txBody>
      </p: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921D9B61-CDA2-49D1-82AA-53469149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A202591B-301C-460E-801A-4C116AC08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57EC7EC-4934-4A65-B3AA-6AE3BD0739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01FEC27-F3E2-41E5-8C3B-FF66A13D84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FE67A7-A995-43D6-8414-EBB2A758A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DB28E40-FF5E-459D-B516-A16554BBB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724247A-6615-4D27-80F0-3392762826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95168B2-CEF6-486B-AD0C-D063CDD988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27C133D-9749-4B34-9018-29F3FF86C0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388060-18B7-4BD6-A3C5-F6B8E1467E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B1F157-86CC-3BEC-615C-C7435A363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23457"/>
              </p:ext>
            </p:extLst>
          </p:nvPr>
        </p:nvGraphicFramePr>
        <p:xfrm>
          <a:off x="600306" y="1847031"/>
          <a:ext cx="10982090" cy="4276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1046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73EC8D8-C118-4A24-B3A2-F22636F20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A839E4-FE02-4C32-B9F7-07884043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C10340A-FCF2-4B86-A53A-4AC07E6CF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85F37B-D9B1-4701-B54A-A91E836FA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7C5295-7462-4E42-B19A-682465F9F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12C31CF-3625-4E9F-99FC-C7AA5BBA88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6EDCF2F-2C4B-4D4B-964F-F640BCDCE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1B0354D-2FFC-40F9-91E5-A83DDD770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4F4CED2-0CA8-4824-93F0-00BE4C7D1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A3B490-6EDF-F953-1CFD-C167CDE8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0254" cy="5577934"/>
          </a:xfrm>
        </p:spPr>
        <p:txBody>
          <a:bodyPr>
            <a:normAutofit/>
          </a:bodyPr>
          <a:lstStyle/>
          <a:p>
            <a:r>
              <a:rPr lang="en-US" b="1"/>
              <a:t>Data Preparation &amp; Cleaning</a:t>
            </a:r>
            <a:endParaRPr lang="en-US" dirty="0"/>
          </a:p>
        </p:txBody>
      </p: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3BA0B410-FA41-4CD6-A923-146E029BB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2448B270-CA89-4A7C-8CFC-8237ED03A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D2ED6FF-1F6E-4BF0-BFFF-5CB8D36F14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F2CCA35-C35D-416B-A083-A167138A57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0FAEE04-D524-4356-8CFE-091D44ED18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F641E2E-FB37-449C-96DA-945907C759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3CE73A-E65A-44EA-9C23-C6F2137AF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1745A30-6979-4D1D-A629-E7C0C6A53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70C366B-087F-442D-AC20-1319F97A95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2F7A6B-9CB6-4AC5-B906-664FC95A1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FB4904-FEF0-63B9-ED15-77267CDE0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8042617"/>
              </p:ext>
            </p:extLst>
          </p:nvPr>
        </p:nvGraphicFramePr>
        <p:xfrm>
          <a:off x="5404493" y="507266"/>
          <a:ext cx="6173409" cy="5843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6825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6" name="Top left">
            <a:extLst>
              <a:ext uri="{FF2B5EF4-FFF2-40B4-BE49-F238E27FC236}">
                <a16:creationId xmlns:a16="http://schemas.microsoft.com/office/drawing/2014/main" id="{F73EC8D8-C118-4A24-B3A2-F22636F20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37" name="Freeform: Shape 13">
              <a:extLst>
                <a:ext uri="{FF2B5EF4-FFF2-40B4-BE49-F238E27FC236}">
                  <a16:creationId xmlns:a16="http://schemas.microsoft.com/office/drawing/2014/main" id="{33A839E4-FE02-4C32-B9F7-07884043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8" name="Freeform: Shape 14">
              <a:extLst>
                <a:ext uri="{FF2B5EF4-FFF2-40B4-BE49-F238E27FC236}">
                  <a16:creationId xmlns:a16="http://schemas.microsoft.com/office/drawing/2014/main" id="{9C10340A-FCF2-4B86-A53A-4AC07E6CF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9" name="Freeform: Shape 15">
              <a:extLst>
                <a:ext uri="{FF2B5EF4-FFF2-40B4-BE49-F238E27FC236}">
                  <a16:creationId xmlns:a16="http://schemas.microsoft.com/office/drawing/2014/main" id="{2E85F37B-D9B1-4701-B54A-A91E836FA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0" name="Freeform: Shape 16">
              <a:extLst>
                <a:ext uri="{FF2B5EF4-FFF2-40B4-BE49-F238E27FC236}">
                  <a16:creationId xmlns:a16="http://schemas.microsoft.com/office/drawing/2014/main" id="{227C5295-7462-4E42-B19A-682465F9F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1" name="Freeform: Shape 17">
              <a:extLst>
                <a:ext uri="{FF2B5EF4-FFF2-40B4-BE49-F238E27FC236}">
                  <a16:creationId xmlns:a16="http://schemas.microsoft.com/office/drawing/2014/main" id="{712C31CF-3625-4E9F-99FC-C7AA5BBA88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2" name="Freeform: Shape 18">
              <a:extLst>
                <a:ext uri="{FF2B5EF4-FFF2-40B4-BE49-F238E27FC236}">
                  <a16:creationId xmlns:a16="http://schemas.microsoft.com/office/drawing/2014/main" id="{36EDCF2F-2C4B-4D4B-964F-F640BCDCE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3" name="Freeform: Shape 19">
              <a:extLst>
                <a:ext uri="{FF2B5EF4-FFF2-40B4-BE49-F238E27FC236}">
                  <a16:creationId xmlns:a16="http://schemas.microsoft.com/office/drawing/2014/main" id="{21B0354D-2FFC-40F9-91E5-A83DDD770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4" name="Freeform: Shape 20">
              <a:extLst>
                <a:ext uri="{FF2B5EF4-FFF2-40B4-BE49-F238E27FC236}">
                  <a16:creationId xmlns:a16="http://schemas.microsoft.com/office/drawing/2014/main" id="{E4F4CED2-0CA8-4824-93F0-00BE4C7D1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FE1376-D0E7-0FB5-0484-B440CDAB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0254" cy="5577934"/>
          </a:xfrm>
        </p:spPr>
        <p:txBody>
          <a:bodyPr>
            <a:normAutofit/>
          </a:bodyPr>
          <a:lstStyle/>
          <a:p>
            <a:r>
              <a:rPr lang="en-US" b="1" dirty="0"/>
              <a:t>Exploratory Analysis</a:t>
            </a:r>
            <a:endParaRPr lang="en-US" dirty="0"/>
          </a:p>
        </p:txBody>
      </p:sp>
      <p:grpSp>
        <p:nvGrpSpPr>
          <p:cNvPr id="45" name="Bottom Right">
            <a:extLst>
              <a:ext uri="{FF2B5EF4-FFF2-40B4-BE49-F238E27FC236}">
                <a16:creationId xmlns:a16="http://schemas.microsoft.com/office/drawing/2014/main" id="{3BA0B410-FA41-4CD6-A923-146E029BB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2448B270-CA89-4A7C-8CFC-8237ED03A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46" name="Freeform: Shape 25">
                <a:extLst>
                  <a:ext uri="{FF2B5EF4-FFF2-40B4-BE49-F238E27FC236}">
                    <a16:creationId xmlns:a16="http://schemas.microsoft.com/office/drawing/2014/main" id="{BD2ED6FF-1F6E-4BF0-BFFF-5CB8D36F14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7" name="Freeform: Shape 26">
                <a:extLst>
                  <a:ext uri="{FF2B5EF4-FFF2-40B4-BE49-F238E27FC236}">
                    <a16:creationId xmlns:a16="http://schemas.microsoft.com/office/drawing/2014/main" id="{2F2CCA35-C35D-416B-A083-A167138A57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8" name="Freeform: Shape 27">
                <a:extLst>
                  <a:ext uri="{FF2B5EF4-FFF2-40B4-BE49-F238E27FC236}">
                    <a16:creationId xmlns:a16="http://schemas.microsoft.com/office/drawing/2014/main" id="{70FAEE04-D524-4356-8CFE-091D44ED18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9" name="Freeform: Shape 28">
                <a:extLst>
                  <a:ext uri="{FF2B5EF4-FFF2-40B4-BE49-F238E27FC236}">
                    <a16:creationId xmlns:a16="http://schemas.microsoft.com/office/drawing/2014/main" id="{5F641E2E-FB37-449C-96DA-945907C759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0" name="Freeform: Shape 29">
                <a:extLst>
                  <a:ext uri="{FF2B5EF4-FFF2-40B4-BE49-F238E27FC236}">
                    <a16:creationId xmlns:a16="http://schemas.microsoft.com/office/drawing/2014/main" id="{283CE73A-E65A-44EA-9C23-C6F2137AF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1" name="Freeform: Shape 30">
                <a:extLst>
                  <a:ext uri="{FF2B5EF4-FFF2-40B4-BE49-F238E27FC236}">
                    <a16:creationId xmlns:a16="http://schemas.microsoft.com/office/drawing/2014/main" id="{41745A30-6979-4D1D-A629-E7C0C6A53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2" name="Freeform: Shape 31">
                <a:extLst>
                  <a:ext uri="{FF2B5EF4-FFF2-40B4-BE49-F238E27FC236}">
                    <a16:creationId xmlns:a16="http://schemas.microsoft.com/office/drawing/2014/main" id="{E70C366B-087F-442D-AC20-1319F97A95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53" name="Freeform: Shape 24">
              <a:extLst>
                <a:ext uri="{FF2B5EF4-FFF2-40B4-BE49-F238E27FC236}">
                  <a16:creationId xmlns:a16="http://schemas.microsoft.com/office/drawing/2014/main" id="{1D2F7A6B-9CB6-4AC5-B906-664FC95A1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80504C-0C28-4D94-86D1-BA77261464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139056"/>
              </p:ext>
            </p:extLst>
          </p:nvPr>
        </p:nvGraphicFramePr>
        <p:xfrm>
          <a:off x="5408988" y="507266"/>
          <a:ext cx="6173409" cy="5843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894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2" name="Freeform: Shape 17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93" name="Freeform: Shape 19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94" name="Freeform: Shape 21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95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96" name="Freeform: Shape 24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25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26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27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28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29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30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3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34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35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36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37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38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39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2" name="Top left">
            <a:extLst>
              <a:ext uri="{FF2B5EF4-FFF2-40B4-BE49-F238E27FC236}">
                <a16:creationId xmlns:a16="http://schemas.microsoft.com/office/drawing/2014/main" id="{B62178A7-CAB0-4D0D-9111-1A7E219B8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13" name="Freeform: Shape 46">
              <a:extLst>
                <a:ext uri="{FF2B5EF4-FFF2-40B4-BE49-F238E27FC236}">
                  <a16:creationId xmlns:a16="http://schemas.microsoft.com/office/drawing/2014/main" id="{15D29A4B-F40D-4DF2-966D-806CDC1740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14" name="Freeform: Shape 47">
              <a:extLst>
                <a:ext uri="{FF2B5EF4-FFF2-40B4-BE49-F238E27FC236}">
                  <a16:creationId xmlns:a16="http://schemas.microsoft.com/office/drawing/2014/main" id="{5EC4EE7B-5E56-4E0D-AB28-FA3ADD05B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5" name="Freeform: Shape 48">
              <a:extLst>
                <a:ext uri="{FF2B5EF4-FFF2-40B4-BE49-F238E27FC236}">
                  <a16:creationId xmlns:a16="http://schemas.microsoft.com/office/drawing/2014/main" id="{FBCA9C0E-DE0D-4906-81BB-E7782D042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6" name="Freeform: Shape 49">
              <a:extLst>
                <a:ext uri="{FF2B5EF4-FFF2-40B4-BE49-F238E27FC236}">
                  <a16:creationId xmlns:a16="http://schemas.microsoft.com/office/drawing/2014/main" id="{F2FB346F-6742-4ED9-A140-EC07DC658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7" name="Freeform: Shape 50">
              <a:extLst>
                <a:ext uri="{FF2B5EF4-FFF2-40B4-BE49-F238E27FC236}">
                  <a16:creationId xmlns:a16="http://schemas.microsoft.com/office/drawing/2014/main" id="{54693CB3-6D1C-44A2-BD24-BE90E0935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8" name="Freeform: Shape 51">
              <a:extLst>
                <a:ext uri="{FF2B5EF4-FFF2-40B4-BE49-F238E27FC236}">
                  <a16:creationId xmlns:a16="http://schemas.microsoft.com/office/drawing/2014/main" id="{A0F1118D-7C18-4F8A-B140-066895EEA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9" name="Freeform: Shape 52">
              <a:extLst>
                <a:ext uri="{FF2B5EF4-FFF2-40B4-BE49-F238E27FC236}">
                  <a16:creationId xmlns:a16="http://schemas.microsoft.com/office/drawing/2014/main" id="{ABB482C7-06A1-4766-9D7A-37236F089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0" name="Freeform: Shape 53">
              <a:extLst>
                <a:ext uri="{FF2B5EF4-FFF2-40B4-BE49-F238E27FC236}">
                  <a16:creationId xmlns:a16="http://schemas.microsoft.com/office/drawing/2014/main" id="{7C5D4AF7-6101-4E86-8164-61F068B24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0A1392-FC26-F8BB-84B4-0AFCA1007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634880"/>
            <a:ext cx="5996619" cy="22260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Exploratory Analysis Cont.</a:t>
            </a:r>
            <a:endParaRPr lang="en-US" sz="5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1" name="Cross">
            <a:extLst>
              <a:ext uri="{FF2B5EF4-FFF2-40B4-BE49-F238E27FC236}">
                <a16:creationId xmlns:a16="http://schemas.microsoft.com/office/drawing/2014/main" id="{51792A25-E946-4169-8CEB-5040858F4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E3A1927-247A-49A3-81EA-37A426124A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22DEA7F-6D31-48E7-8333-6ABB5B79C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2" name="Bottom Right">
            <a:extLst>
              <a:ext uri="{FF2B5EF4-FFF2-40B4-BE49-F238E27FC236}">
                <a16:creationId xmlns:a16="http://schemas.microsoft.com/office/drawing/2014/main" id="{C17187DE-A963-45E6-8334-43E5DF6FC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61" name="Graphic 157">
              <a:extLst>
                <a:ext uri="{FF2B5EF4-FFF2-40B4-BE49-F238E27FC236}">
                  <a16:creationId xmlns:a16="http://schemas.microsoft.com/office/drawing/2014/main" id="{D1D83CE6-2505-4677-AC77-D6F9342DED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123" name="Freeform: Shape 62">
                <a:extLst>
                  <a:ext uri="{FF2B5EF4-FFF2-40B4-BE49-F238E27FC236}">
                    <a16:creationId xmlns:a16="http://schemas.microsoft.com/office/drawing/2014/main" id="{4BF7A876-CCCF-443F-B894-2DB47E7D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24" name="Freeform: Shape 63">
                <a:extLst>
                  <a:ext uri="{FF2B5EF4-FFF2-40B4-BE49-F238E27FC236}">
                    <a16:creationId xmlns:a16="http://schemas.microsoft.com/office/drawing/2014/main" id="{5F1302A8-D8CC-4A65-A9AE-036818EDD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25" name="Freeform: Shape 64">
                <a:extLst>
                  <a:ext uri="{FF2B5EF4-FFF2-40B4-BE49-F238E27FC236}">
                    <a16:creationId xmlns:a16="http://schemas.microsoft.com/office/drawing/2014/main" id="{AB15B4C0-8937-4909-A4EB-59796F1F43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26" name="Freeform: Shape 65">
                <a:extLst>
                  <a:ext uri="{FF2B5EF4-FFF2-40B4-BE49-F238E27FC236}">
                    <a16:creationId xmlns:a16="http://schemas.microsoft.com/office/drawing/2014/main" id="{07171147-1DB7-4E41-B170-EF7500EDD9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27" name="Freeform: Shape 66">
                <a:extLst>
                  <a:ext uri="{FF2B5EF4-FFF2-40B4-BE49-F238E27FC236}">
                    <a16:creationId xmlns:a16="http://schemas.microsoft.com/office/drawing/2014/main" id="{A6E53313-1DC1-455B-9CC1-FE91E41BD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72DC4B2-1882-4D1B-9456-4D8FF51F7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CA3704E-8216-475C-A79E-F220ED116C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28" name="Freeform: Shape 61">
              <a:extLst>
                <a:ext uri="{FF2B5EF4-FFF2-40B4-BE49-F238E27FC236}">
                  <a16:creationId xmlns:a16="http://schemas.microsoft.com/office/drawing/2014/main" id="{C6C15B45-3AF3-4DEE-9983-D4B4371FD5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A878E7-D7ED-914D-5A13-A4C94F58B602}"/>
              </a:ext>
            </a:extLst>
          </p:cNvPr>
          <p:cNvGrpSpPr/>
          <p:nvPr/>
        </p:nvGrpSpPr>
        <p:grpSpPr>
          <a:xfrm>
            <a:off x="623009" y="3335059"/>
            <a:ext cx="10945982" cy="3252897"/>
            <a:chOff x="623009" y="3335059"/>
            <a:chExt cx="10945982" cy="3252897"/>
          </a:xfrm>
        </p:grpSpPr>
        <p:pic>
          <p:nvPicPr>
            <p:cNvPr id="9" name="Picture 8" descr="A graph with blue and orange bars&#10;&#10;AI-generated content may be incorrect.">
              <a:extLst>
                <a:ext uri="{FF2B5EF4-FFF2-40B4-BE49-F238E27FC236}">
                  <a16:creationId xmlns:a16="http://schemas.microsoft.com/office/drawing/2014/main" id="{03298AC2-251A-682A-CF3C-84E1D5625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0123" y="3335059"/>
              <a:ext cx="3204105" cy="3252897"/>
            </a:xfrm>
            <a:prstGeom prst="rect">
              <a:avLst/>
            </a:prstGeom>
            <a:ln w="19050">
              <a:solidFill>
                <a:srgbClr val="E1812B"/>
              </a:solidFill>
            </a:ln>
          </p:spPr>
        </p:pic>
        <p:pic>
          <p:nvPicPr>
            <p:cNvPr id="7" name="Picture 6" descr="A graph of a number of people&#10;&#10;AI-generated content may be incorrect.">
              <a:extLst>
                <a:ext uri="{FF2B5EF4-FFF2-40B4-BE49-F238E27FC236}">
                  <a16:creationId xmlns:a16="http://schemas.microsoft.com/office/drawing/2014/main" id="{5E7B3EDF-9B51-72DB-D4C0-D8565247B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009" y="3335059"/>
              <a:ext cx="3204105" cy="2707468"/>
            </a:xfrm>
            <a:prstGeom prst="rect">
              <a:avLst/>
            </a:prstGeom>
            <a:ln w="19050">
              <a:solidFill>
                <a:srgbClr val="E1812B"/>
              </a:solidFill>
            </a:ln>
          </p:spPr>
        </p:pic>
        <p:pic>
          <p:nvPicPr>
            <p:cNvPr id="11" name="Picture 10" descr="A graph with blue and orange bars&#10;&#10;AI-generated content may be incorrect.">
              <a:extLst>
                <a:ext uri="{FF2B5EF4-FFF2-40B4-BE49-F238E27FC236}">
                  <a16:creationId xmlns:a16="http://schemas.microsoft.com/office/drawing/2014/main" id="{82F2698E-823A-D3A2-CDD0-C33BB3B21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77237" y="3340715"/>
              <a:ext cx="3291754" cy="2707468"/>
            </a:xfrm>
            <a:prstGeom prst="rect">
              <a:avLst/>
            </a:prstGeom>
            <a:ln w="19050">
              <a:solidFill>
                <a:srgbClr val="E1812B"/>
              </a:solidFill>
            </a:ln>
          </p:spPr>
        </p:pic>
      </p:grpSp>
      <p:pic>
        <p:nvPicPr>
          <p:cNvPr id="5" name="Content Placeholder 4" descr="A graph of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458C9D37-5625-CD54-E3AF-584F63486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116896" y="394184"/>
            <a:ext cx="3516193" cy="2707468"/>
          </a:xfrm>
          <a:prstGeom prst="rect">
            <a:avLst/>
          </a:prstGeom>
          <a:ln w="19050">
            <a:solidFill>
              <a:srgbClr val="E1812B"/>
            </a:solidFill>
          </a:ln>
        </p:spPr>
      </p:pic>
    </p:spTree>
    <p:extLst>
      <p:ext uri="{BB962C8B-B14F-4D97-AF65-F5344CB8AC3E}">
        <p14:creationId xmlns:p14="http://schemas.microsoft.com/office/powerpoint/2010/main" val="4269951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C764039-D109-245F-0C19-A6F7627C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390807" cy="1664573"/>
          </a:xfrm>
        </p:spPr>
        <p:txBody>
          <a:bodyPr>
            <a:normAutofit/>
          </a:bodyPr>
          <a:lstStyle/>
          <a:p>
            <a:r>
              <a:rPr lang="en-US" b="1" dirty="0"/>
              <a:t>Modeling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478AA-13D3-36E4-492C-040BDB607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84474"/>
            <a:ext cx="4390524" cy="3728613"/>
          </a:xfrm>
        </p:spPr>
        <p:txBody>
          <a:bodyPr>
            <a:normAutofit/>
          </a:bodyPr>
          <a:lstStyle/>
          <a:p>
            <a:r>
              <a:rPr lang="en-US" sz="1800" dirty="0"/>
              <a:t>Logistic Regression and Decision Tree classifiers are used for interpretability.</a:t>
            </a:r>
          </a:p>
          <a:p>
            <a:r>
              <a:rPr lang="en-US" sz="1800" dirty="0"/>
              <a:t>Baseline models were trained on imbalanced data.</a:t>
            </a:r>
          </a:p>
          <a:p>
            <a:r>
              <a:rPr lang="en-US" sz="1800" dirty="0"/>
              <a:t>Random oversampling was applied to correct class imbalance in the training set (Abbott, 2014).</a:t>
            </a:r>
          </a:p>
        </p:txBody>
      </p:sp>
      <p:pic>
        <p:nvPicPr>
          <p:cNvPr id="5" name="Picture 4" descr="3D box skeletons">
            <a:extLst>
              <a:ext uri="{FF2B5EF4-FFF2-40B4-BE49-F238E27FC236}">
                <a16:creationId xmlns:a16="http://schemas.microsoft.com/office/drawing/2014/main" id="{FA85FFDA-E0F5-B797-A425-1FEE74D2D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66" r="18133" b="-1"/>
          <a:stretch>
            <a:fillRect/>
          </a:stretch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762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4445-1C61-F0CD-1D15-9748549A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69C44-3B99-F08A-289C-7AE3ACD70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Baseline (Imbalanced Data):</a:t>
            </a:r>
            <a:endParaRPr lang="en-US" dirty="0"/>
          </a:p>
          <a:p>
            <a:pPr lvl="1"/>
            <a:r>
              <a:rPr lang="en-US" dirty="0"/>
              <a:t>Logistic Regression: 81% accuracy, 17% recall (user), ROC AUC 0.56</a:t>
            </a:r>
          </a:p>
          <a:p>
            <a:pPr lvl="1"/>
            <a:r>
              <a:rPr lang="en-US" dirty="0"/>
              <a:t>Decision Tree: 72% accuracy, 34% recall (user), ROC AUC 0.57</a:t>
            </a:r>
          </a:p>
          <a:p>
            <a:r>
              <a:rPr lang="en-US" b="1" dirty="0"/>
              <a:t>Post-Oversampling:</a:t>
            </a:r>
            <a:endParaRPr lang="en-US" dirty="0"/>
          </a:p>
          <a:p>
            <a:pPr lvl="1"/>
            <a:r>
              <a:rPr lang="en-US" dirty="0"/>
              <a:t>Logistic Regression: 69% accuracy, 64% recall (user), ROC AUC 0.67</a:t>
            </a:r>
          </a:p>
          <a:p>
            <a:pPr lvl="1"/>
            <a:r>
              <a:rPr lang="en-US" dirty="0"/>
              <a:t>Decision Tree: 59% accuracy, 62% recall (user), ROC AUC 0.60</a:t>
            </a:r>
          </a:p>
          <a:p>
            <a:r>
              <a:rPr lang="en-US" b="1" dirty="0"/>
              <a:t>Logistic regression </a:t>
            </a:r>
            <a:r>
              <a:rPr lang="en-US" dirty="0"/>
              <a:t>outperformed the decision tree on all metrics.</a:t>
            </a:r>
          </a:p>
        </p:txBody>
      </p:sp>
    </p:spTree>
    <p:extLst>
      <p:ext uri="{BB962C8B-B14F-4D97-AF65-F5344CB8AC3E}">
        <p14:creationId xmlns:p14="http://schemas.microsoft.com/office/powerpoint/2010/main" val="281003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7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0" name="Top left">
            <a:extLst>
              <a:ext uri="{FF2B5EF4-FFF2-40B4-BE49-F238E27FC236}">
                <a16:creationId xmlns:a16="http://schemas.microsoft.com/office/drawing/2014/main" id="{4210BA9D-B4AC-4A1D-B63B-44F10A9A7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AB57F67-BA3E-4168-B776-298ABEE40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A37E474-2AB5-44C2-89C5-00B18BBF0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C7682BD-43A7-412C-9D1C-C253EDF7F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E322CA5-5700-49C5-B2F4-5451AEC68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FF4B5E5-C2CB-47A0-BDC9-D9560C77B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C206FD4-2993-45C6-A6D2-945277425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AC4F993-F14F-4F25-A6AB-1AD9E2A82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CD13FF4-3251-4983-B074-BD35A9902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1E26417-2E72-824F-950E-A3A85BB3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54" y="744909"/>
            <a:ext cx="3776416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Results Continued</a:t>
            </a:r>
            <a:endParaRPr lang="en-US" sz="54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0" name="Cross">
            <a:extLst>
              <a:ext uri="{FF2B5EF4-FFF2-40B4-BE49-F238E27FC236}">
                <a16:creationId xmlns:a16="http://schemas.microsoft.com/office/drawing/2014/main" id="{80F56037-8334-4400-9C7A-A3BEFA96A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60AD0EB-D554-49C4-9728-C64D6D686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9432895-644F-4E09-97C7-F8DB36AA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Content Placeholder 4" descr="A graph of a line&#10;&#10;AI-generated content may be incorrect.">
            <a:extLst>
              <a:ext uri="{FF2B5EF4-FFF2-40B4-BE49-F238E27FC236}">
                <a16:creationId xmlns:a16="http://schemas.microsoft.com/office/drawing/2014/main" id="{252C8D5B-B3B1-B999-7FC6-972F5CCB7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6557" y="1033546"/>
            <a:ext cx="6402214" cy="4785654"/>
          </a:xfrm>
          <a:prstGeom prst="rect">
            <a:avLst/>
          </a:prstGeom>
          <a:ln w="19050">
            <a:solidFill>
              <a:srgbClr val="E1812B"/>
            </a:solidFill>
          </a:ln>
        </p:spPr>
      </p:pic>
      <p:grpSp>
        <p:nvGrpSpPr>
          <p:cNvPr id="54" name="Bottom Right">
            <a:extLst>
              <a:ext uri="{FF2B5EF4-FFF2-40B4-BE49-F238E27FC236}">
                <a16:creationId xmlns:a16="http://schemas.microsoft.com/office/drawing/2014/main" id="{6B310A71-665E-47AB-9D80-2D90F7D92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AD1AF10-782F-4908-A718-EA87EC717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6" name="Graphic 157">
              <a:extLst>
                <a:ext uri="{FF2B5EF4-FFF2-40B4-BE49-F238E27FC236}">
                  <a16:creationId xmlns:a16="http://schemas.microsoft.com/office/drawing/2014/main" id="{A935357A-B553-44CD-9376-FE1E60575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1A180B9-74EE-45CB-8BC1-41E1C07585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0ED6DBC-425A-4959-8ACF-4263EEF246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B431B70-9FAD-408D-890D-646D484045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E532E75-ACFE-4179-B41D-039B3B768C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C81F463-8260-4AAF-9233-3FE29293CD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D51C233-AAFA-43B0-85ED-E42E8DE5E5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0D7BBAB6-5F70-4658-9F1E-4F56C83F04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FADCFE9-3879-4BEB-8C66-8CDE96527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5642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73EC8D8-C118-4A24-B3A2-F22636F20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A839E4-FE02-4C32-B9F7-07884043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C10340A-FCF2-4B86-A53A-4AC07E6CF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85F37B-D9B1-4701-B54A-A91E836FA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7C5295-7462-4E42-B19A-682465F9F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12C31CF-3625-4E9F-99FC-C7AA5BBA88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6EDCF2F-2C4B-4D4B-964F-F640BCDCE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1B0354D-2FFC-40F9-91E5-A83DDD770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4F4CED2-0CA8-4824-93F0-00BE4C7D1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304711-2A08-FF36-51E1-32208C9B3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0254" cy="5577934"/>
          </a:xfrm>
        </p:spPr>
        <p:txBody>
          <a:bodyPr>
            <a:normAutofit/>
          </a:bodyPr>
          <a:lstStyle/>
          <a:p>
            <a:r>
              <a:rPr lang="en-US" sz="4100" b="1"/>
              <a:t>Feature Importance &amp; Interpretation</a:t>
            </a:r>
            <a:endParaRPr lang="en-US" sz="4100"/>
          </a:p>
        </p:txBody>
      </p: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3BA0B410-FA41-4CD6-A923-146E029BB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2448B270-CA89-4A7C-8CFC-8237ED03A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D2ED6FF-1F6E-4BF0-BFFF-5CB8D36F14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F2CCA35-C35D-416B-A083-A167138A57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0FAEE04-D524-4356-8CFE-091D44ED18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F641E2E-FB37-449C-96DA-945907C759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3CE73A-E65A-44EA-9C23-C6F2137AF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1745A30-6979-4D1D-A629-E7C0C6A53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70C366B-087F-442D-AC20-1319F97A95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2F7A6B-9CB6-4AC5-B906-664FC95A1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62B7ED-A9AA-341D-0FF3-B052E5C46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672596"/>
              </p:ext>
            </p:extLst>
          </p:nvPr>
        </p:nvGraphicFramePr>
        <p:xfrm>
          <a:off x="5408988" y="507266"/>
          <a:ext cx="6173409" cy="5843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856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4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23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32" name="Rectangle 131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6" name="Top left">
            <a:extLst>
              <a:ext uri="{FF2B5EF4-FFF2-40B4-BE49-F238E27FC236}">
                <a16:creationId xmlns:a16="http://schemas.microsoft.com/office/drawing/2014/main" id="{C23BAD38-30D1-4252-8149-903B66D8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EF8871A-7DF5-4751-8948-75984B0FB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6A6F3E3-6529-4B7E-8D31-317E141F1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8C70AD52-D54F-41A3-91B9-9BC0DDAF89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37F2387-BA4B-46C5-ABBD-E9272097E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2E1B2E0-5DD5-4599-BDEC-F26CEF9E9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6A88C97C-1B3C-4A30-B1C0-D4AFEDC97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6C4CC9D-7C49-41ED-8FE2-61EC66F0B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51EA8C3-05E0-4F68-9BA7-F3F6C669D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3070FA-20E8-3EA7-74C1-E5A5A6B2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163350"/>
            <a:ext cx="5996619" cy="20658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Top Features</a:t>
            </a:r>
          </a:p>
        </p:txBody>
      </p:sp>
      <p:grpSp>
        <p:nvGrpSpPr>
          <p:cNvPr id="146" name="Cross">
            <a:extLst>
              <a:ext uri="{FF2B5EF4-FFF2-40B4-BE49-F238E27FC236}">
                <a16:creationId xmlns:a16="http://schemas.microsoft.com/office/drawing/2014/main" id="{4927067E-BE13-4DBB-AC1E-9847B890B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62F8BF3-36CC-4073-AE00-A422A57FD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95C5F4E-7F61-464E-B716-44F579755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Content Placeholder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E08005D-4241-9745-F282-E74B722F1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843" y="1942438"/>
            <a:ext cx="5575216" cy="3331191"/>
          </a:xfrm>
          <a:prstGeom prst="rect">
            <a:avLst/>
          </a:prstGeom>
          <a:ln w="19050">
            <a:solidFill>
              <a:srgbClr val="E1812B"/>
            </a:solidFill>
          </a:ln>
        </p:spPr>
      </p:pic>
      <p:grpSp>
        <p:nvGrpSpPr>
          <p:cNvPr id="150" name="Bottom Right">
            <a:extLst>
              <a:ext uri="{FF2B5EF4-FFF2-40B4-BE49-F238E27FC236}">
                <a16:creationId xmlns:a16="http://schemas.microsoft.com/office/drawing/2014/main" id="{D11A5264-0A9F-46A0-B3ED-9B336D970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51" name="Graphic 157">
              <a:extLst>
                <a:ext uri="{FF2B5EF4-FFF2-40B4-BE49-F238E27FC236}">
                  <a16:creationId xmlns:a16="http://schemas.microsoft.com/office/drawing/2014/main" id="{A1B8A55C-B130-4222-B98F-16CA78B9C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82D40CFF-E2DF-48E0-8896-5166887A3C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37A4DB32-F7AD-42D8-A125-6CFB9B252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76CA230A-C491-40F1-B028-898C23C8D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E27DB684-4D1D-4152-8ECC-62EC93D71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70AD88BE-AE84-4CD6-A22A-26C3D9BD20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FC9DC46C-EF52-4B9D-98C0-6225FB9D5F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AC279F2D-8036-4201-8D63-8BE961F09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554FA09-485D-4EB3-9D6F-C19A292F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39E01B01-13C2-A38B-2C13-2314A649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828" y="2949906"/>
            <a:ext cx="5575216" cy="3331191"/>
          </a:xfrm>
          <a:prstGeom prst="rect">
            <a:avLst/>
          </a:prstGeom>
          <a:ln w="19050">
            <a:solidFill>
              <a:srgbClr val="E1812B"/>
            </a:solidFill>
          </a:ln>
        </p:spPr>
      </p:pic>
    </p:spTree>
    <p:extLst>
      <p:ext uri="{BB962C8B-B14F-4D97-AF65-F5344CB8AC3E}">
        <p14:creationId xmlns:p14="http://schemas.microsoft.com/office/powerpoint/2010/main" val="620616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73EC8D8-C118-4A24-B3A2-F22636F20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A839E4-FE02-4C32-B9F7-07884043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C10340A-FCF2-4B86-A53A-4AC07E6CF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85F37B-D9B1-4701-B54A-A91E836FA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7C5295-7462-4E42-B19A-682465F9F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12C31CF-3625-4E9F-99FC-C7AA5BBA88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6EDCF2F-2C4B-4D4B-964F-F640BCDCE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1B0354D-2FFC-40F9-91E5-A83DDD770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4F4CED2-0CA8-4824-93F0-00BE4C7D1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AF4606-E63F-B2F2-8752-F2EF8ABA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0254" cy="5577934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US" dirty="0"/>
          </a:p>
        </p:txBody>
      </p: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3BA0B410-FA41-4CD6-A923-146E029BB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2448B270-CA89-4A7C-8CFC-8237ED03A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D2ED6FF-1F6E-4BF0-BFFF-5CB8D36F14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F2CCA35-C35D-416B-A083-A167138A57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0FAEE04-D524-4356-8CFE-091D44ED18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F641E2E-FB37-449C-96DA-945907C759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3CE73A-E65A-44EA-9C23-C6F2137AF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1745A30-6979-4D1D-A629-E7C0C6A53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70C366B-087F-442D-AC20-1319F97A95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2F7A6B-9CB6-4AC5-B906-664FC95A1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6F2399-6126-C291-013D-90394F62B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465160"/>
              </p:ext>
            </p:extLst>
          </p:nvPr>
        </p:nvGraphicFramePr>
        <p:xfrm>
          <a:off x="5408988" y="341165"/>
          <a:ext cx="6173409" cy="5843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2798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487D0-E6D6-0B66-A985-4EA6792E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References: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4798-64E8-DA37-7C12-A0177E4A3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-457200"/>
            <a:r>
              <a:rPr lang="en-US" dirty="0"/>
              <a:t>Abbott, D. (2014). </a:t>
            </a:r>
            <a:r>
              <a:rPr lang="en-US" i="1" dirty="0"/>
              <a:t>Applied Predictive Analytics: Principles and Techniques for the Professional Data Analyst</a:t>
            </a:r>
            <a:r>
              <a:rPr lang="en-US" dirty="0"/>
              <a:t>. Wiley.</a:t>
            </a:r>
          </a:p>
          <a:p>
            <a:pPr indent="-457200"/>
            <a:r>
              <a:rPr lang="en-US" dirty="0"/>
              <a:t>Siegel, E. (2016). </a:t>
            </a:r>
            <a:r>
              <a:rPr lang="en-US" i="1" dirty="0"/>
              <a:t>Predictive Analytics: The Power to Predict Who Will Click, Buy, Lie, or Die</a:t>
            </a:r>
            <a:r>
              <a:rPr lang="en-US" dirty="0"/>
              <a:t>. Wiley.</a:t>
            </a:r>
          </a:p>
          <a:p>
            <a:pPr indent="-457200"/>
            <a:r>
              <a:rPr lang="en-US" dirty="0"/>
              <a:t>Canadian Community Health Survey Dataset (2019-2020), Kaggle: https://</a:t>
            </a:r>
            <a:r>
              <a:rPr lang="en-US" dirty="0" err="1"/>
              <a:t>www.kaggle.com</a:t>
            </a:r>
            <a:r>
              <a:rPr lang="en-US" dirty="0"/>
              <a:t>/datasets/</a:t>
            </a:r>
            <a:r>
              <a:rPr lang="en-US" dirty="0" err="1"/>
              <a:t>aradhanahirapara</a:t>
            </a:r>
            <a:r>
              <a:rPr lang="en-US" dirty="0"/>
              <a:t>/healthcare-survey/data</a:t>
            </a:r>
          </a:p>
          <a:p>
            <a:pPr indent="-457200"/>
            <a:r>
              <a:rPr lang="en-US" dirty="0"/>
              <a:t>Scikit-learn Documentation: https://scikit-</a:t>
            </a:r>
            <a:r>
              <a:rPr lang="en-US" dirty="0" err="1"/>
              <a:t>learn.org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0364480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Rockwell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531</Words>
  <Application>Microsoft Macintosh PowerPoint</Application>
  <PresentationFormat>Widescreen</PresentationFormat>
  <Paragraphs>67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Avenir Next LT Pro</vt:lpstr>
      <vt:lpstr>AvenirNext LT Pro Medium</vt:lpstr>
      <vt:lpstr>Rockwell</vt:lpstr>
      <vt:lpstr>Segoe UI</vt:lpstr>
      <vt:lpstr>ExploreVTI</vt:lpstr>
      <vt:lpstr>Predicting Cannabis Use Using Canadian Health Survey Data</vt:lpstr>
      <vt:lpstr>Introduction</vt:lpstr>
      <vt:lpstr>Data Overview</vt:lpstr>
      <vt:lpstr>Project Objectives</vt:lpstr>
      <vt:lpstr>Data Preparation &amp; Cleaning</vt:lpstr>
      <vt:lpstr>Exploratory Analysis</vt:lpstr>
      <vt:lpstr>Exploratory Analysis Cont.</vt:lpstr>
      <vt:lpstr>Modeling Approach</vt:lpstr>
      <vt:lpstr>Results</vt:lpstr>
      <vt:lpstr>Results Continued</vt:lpstr>
      <vt:lpstr>Feature Importance &amp; Interpretation</vt:lpstr>
      <vt:lpstr>Top Features</vt:lpstr>
      <vt:lpstr>Conclusion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Steen, Jonathan E</dc:creator>
  <cp:lastModifiedBy>Steen, Jonathan E</cp:lastModifiedBy>
  <cp:revision>7</cp:revision>
  <dcterms:created xsi:type="dcterms:W3CDTF">2025-06-01T14:37:27Z</dcterms:created>
  <dcterms:modified xsi:type="dcterms:W3CDTF">2025-06-01T17:34:41Z</dcterms:modified>
</cp:coreProperties>
</file>