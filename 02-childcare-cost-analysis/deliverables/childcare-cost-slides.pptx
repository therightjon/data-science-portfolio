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2"/>
    <p:restoredTop sz="68514"/>
  </p:normalViewPr>
  <p:slideViewPr>
    <p:cSldViewPr snapToGrid="0">
      <p:cViewPr varScale="1">
        <p:scale>
          <a:sx n="132" d="100"/>
          <a:sy n="132" d="100"/>
        </p:scale>
        <p:origin x="7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Center-Based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Infant</c:v>
                </c:pt>
                <c:pt idx="1">
                  <c:v>Toddler</c:v>
                </c:pt>
                <c:pt idx="2">
                  <c:v>Preschool</c:v>
                </c:pt>
                <c:pt idx="3">
                  <c:v>School-Age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153.6</c:v>
                </c:pt>
                <c:pt idx="1">
                  <c:v>140</c:v>
                </c:pt>
                <c:pt idx="2">
                  <c:v>125</c:v>
                </c:pt>
                <c:pt idx="3">
                  <c:v>106.22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E17-F242-94F8-1C760A4928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Family Childcare</c:v>
                </c:pt>
              </c:strCache>
            </c:strRef>
          </c:tx>
          <c:spPr>
            <a:solidFill>
              <a:srgbClr val="5B9BD5"/>
            </a:solidFill>
          </c:spPr>
          <c:invertIfNegative val="1"/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Infant</c:v>
                </c:pt>
                <c:pt idx="1">
                  <c:v>Toddler</c:v>
                </c:pt>
                <c:pt idx="2">
                  <c:v>Preschool</c:v>
                </c:pt>
                <c:pt idx="3">
                  <c:v>School-Age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120</c:v>
                </c:pt>
                <c:pt idx="1">
                  <c:v>113.04</c:v>
                </c:pt>
                <c:pt idx="2">
                  <c:v>110</c:v>
                </c:pt>
                <c:pt idx="3">
                  <c:v>98.77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E17-F242-94F8-1C760A492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/>
                  <a:t>Weekly Price ($)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50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Family Childcare</c:v>
                </c:pt>
              </c:strCache>
            </c:strRef>
          </c:tx>
          <c:spPr>
            <a:solidFill>
              <a:srgbClr val="5B9BD5"/>
            </a:solidFill>
          </c:spPr>
          <c:invertIfNegative val="1"/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Infant</c:v>
                </c:pt>
                <c:pt idx="1">
                  <c:v>Toddler</c:v>
                </c:pt>
                <c:pt idx="2">
                  <c:v>Preschool</c:v>
                </c:pt>
                <c:pt idx="3">
                  <c:v>School-Age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113.04</c:v>
                </c:pt>
                <c:pt idx="2">
                  <c:v>110</c:v>
                </c:pt>
                <c:pt idx="3">
                  <c:v>98.77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496-EB43-9CA3-F51C752312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Additional Cost (Center-Based)</c:v>
                </c:pt>
              </c:strCache>
            </c:strRef>
          </c:tx>
          <c:spPr>
            <a:solidFill>
              <a:srgbClr val="C0504D"/>
            </a:solidFill>
          </c:spPr>
          <c:invertIfNegative val="1"/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Infant</c:v>
                </c:pt>
                <c:pt idx="1">
                  <c:v>Toddler</c:v>
                </c:pt>
                <c:pt idx="2">
                  <c:v>Preschool</c:v>
                </c:pt>
                <c:pt idx="3">
                  <c:v>School-Age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26.96</c:v>
                </c:pt>
                <c:pt idx="2">
                  <c:v>15</c:v>
                </c:pt>
                <c:pt idx="3">
                  <c:v>7.45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496-EB43-9CA3-F51C752312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/>
                  <a:t>Weekly Price ($)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Weekly Price</c:v>
                </c:pt>
              </c:strCache>
            </c:strRef>
          </c:tx>
          <c:spPr>
            <a:solidFill>
              <a:srgbClr val="1F4E79"/>
            </a:solidFill>
          </c:spPr>
          <c:invertIfNegative val="1"/>
          <c:dLbls>
            <c:numFmt formatCode="\$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10th Percentile
(Lower-Cost Counties)</c:v>
                </c:pt>
                <c:pt idx="1">
                  <c:v>Median County</c:v>
                </c:pt>
                <c:pt idx="2">
                  <c:v>90th Percentile
(Higher-Cost Counties)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108.29</c:v>
                </c:pt>
                <c:pt idx="1">
                  <c:v>153.6</c:v>
                </c:pt>
                <c:pt idx="2">
                  <c:v>236.05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94C-DE4D-8A95-47636E7FA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/>
                  <a:t>Weekly Price ($)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Weekly Median Household Income</c:v>
                </c:pt>
              </c:strCache>
            </c:strRef>
          </c:tx>
          <c:spPr>
            <a:solidFill>
              <a:srgbClr val="C0504D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Center-Based
Infant Care</c:v>
                </c:pt>
                <c:pt idx="1">
                  <c:v>Family
Infant Care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43-4A42-A5E3-32024A87FB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rPr lang="en-US"/>
                  <a:t>% of Weekly Median Household Income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BFC223-8657-4F34-B18A-BBBEBB7ECAC0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17673B-1C97-4A16-9E7D-01A7996E2641}">
      <dgm:prSet/>
      <dgm:spPr/>
      <dgm:t>
        <a:bodyPr/>
        <a:lstStyle/>
        <a:p>
          <a:r>
            <a:rPr lang="en-US"/>
            <a:t>Plan</a:t>
          </a:r>
        </a:p>
      </dgm:t>
    </dgm:pt>
    <dgm:pt modelId="{3DA5B487-50E3-42DF-954B-FC482DA1CB56}" type="parTrans" cxnId="{A22F774D-A57A-4FD1-9757-C6398A030C93}">
      <dgm:prSet/>
      <dgm:spPr/>
      <dgm:t>
        <a:bodyPr/>
        <a:lstStyle/>
        <a:p>
          <a:endParaRPr lang="en-US"/>
        </a:p>
      </dgm:t>
    </dgm:pt>
    <dgm:pt modelId="{E1AA4652-184E-401A-B32C-F34FD22E45E5}" type="sibTrans" cxnId="{A22F774D-A57A-4FD1-9757-C6398A030C93}">
      <dgm:prSet/>
      <dgm:spPr/>
      <dgm:t>
        <a:bodyPr/>
        <a:lstStyle/>
        <a:p>
          <a:endParaRPr lang="en-US"/>
        </a:p>
      </dgm:t>
    </dgm:pt>
    <dgm:pt modelId="{09A1D91A-0DCD-4B24-A99F-17E93DC5AF1B}">
      <dgm:prSet/>
      <dgm:spPr/>
      <dgm:t>
        <a:bodyPr/>
        <a:lstStyle/>
        <a:p>
          <a:r>
            <a:rPr lang="en-US"/>
            <a:t>Plan earlier for the infant and toddler years, when weekly costs are highest</a:t>
          </a:r>
        </a:p>
      </dgm:t>
    </dgm:pt>
    <dgm:pt modelId="{6103BF30-2549-46CF-A9C5-4FCAD8052EB8}" type="parTrans" cxnId="{B8561463-8B0B-4275-B6AE-FB358C1E97E3}">
      <dgm:prSet/>
      <dgm:spPr/>
      <dgm:t>
        <a:bodyPr/>
        <a:lstStyle/>
        <a:p>
          <a:endParaRPr lang="en-US"/>
        </a:p>
      </dgm:t>
    </dgm:pt>
    <dgm:pt modelId="{9379C250-CD7C-4661-BBF7-E018FD97CE86}" type="sibTrans" cxnId="{B8561463-8B0B-4275-B6AE-FB358C1E97E3}">
      <dgm:prSet/>
      <dgm:spPr/>
      <dgm:t>
        <a:bodyPr/>
        <a:lstStyle/>
        <a:p>
          <a:endParaRPr lang="en-US"/>
        </a:p>
      </dgm:t>
    </dgm:pt>
    <dgm:pt modelId="{7C05AB4B-1A8C-43DA-B8CD-A81EA898714F}">
      <dgm:prSet/>
      <dgm:spPr/>
      <dgm:t>
        <a:bodyPr/>
        <a:lstStyle/>
        <a:p>
          <a:r>
            <a:rPr lang="en-US"/>
            <a:t>Compare</a:t>
          </a:r>
        </a:p>
      </dgm:t>
    </dgm:pt>
    <dgm:pt modelId="{020164A4-6699-4470-B355-296EE1C42E2A}" type="parTrans" cxnId="{B529FF71-8C6A-43C3-A026-4FB30B355C3D}">
      <dgm:prSet/>
      <dgm:spPr/>
      <dgm:t>
        <a:bodyPr/>
        <a:lstStyle/>
        <a:p>
          <a:endParaRPr lang="en-US"/>
        </a:p>
      </dgm:t>
    </dgm:pt>
    <dgm:pt modelId="{257FF22B-F486-4B58-9923-DA8A4143642D}" type="sibTrans" cxnId="{B529FF71-8C6A-43C3-A026-4FB30B355C3D}">
      <dgm:prSet/>
      <dgm:spPr/>
      <dgm:t>
        <a:bodyPr/>
        <a:lstStyle/>
        <a:p>
          <a:endParaRPr lang="en-US"/>
        </a:p>
      </dgm:t>
    </dgm:pt>
    <dgm:pt modelId="{56382701-E185-4769-BCF5-BA1408CB74BB}">
      <dgm:prSet/>
      <dgm:spPr/>
      <dgm:t>
        <a:bodyPr/>
        <a:lstStyle/>
        <a:p>
          <a:r>
            <a:rPr lang="en-US"/>
            <a:t>Compare provider types, not just one advertised price</a:t>
          </a:r>
        </a:p>
      </dgm:t>
    </dgm:pt>
    <dgm:pt modelId="{F1258A52-B129-4B43-B514-F4967B7D1A1E}" type="parTrans" cxnId="{3D8C90E3-B684-4847-B023-17F6DB4F2AED}">
      <dgm:prSet/>
      <dgm:spPr/>
      <dgm:t>
        <a:bodyPr/>
        <a:lstStyle/>
        <a:p>
          <a:endParaRPr lang="en-US"/>
        </a:p>
      </dgm:t>
    </dgm:pt>
    <dgm:pt modelId="{450D4105-C94A-4748-880A-5188FE3C78DD}" type="sibTrans" cxnId="{3D8C90E3-B684-4847-B023-17F6DB4F2AED}">
      <dgm:prSet/>
      <dgm:spPr/>
      <dgm:t>
        <a:bodyPr/>
        <a:lstStyle/>
        <a:p>
          <a:endParaRPr lang="en-US"/>
        </a:p>
      </dgm:t>
    </dgm:pt>
    <dgm:pt modelId="{36AD8332-7C55-4E23-BE8A-3D7992F0074E}">
      <dgm:prSet/>
      <dgm:spPr/>
      <dgm:t>
        <a:bodyPr/>
        <a:lstStyle/>
        <a:p>
          <a:r>
            <a:rPr lang="en-US"/>
            <a:t>Use</a:t>
          </a:r>
        </a:p>
      </dgm:t>
    </dgm:pt>
    <dgm:pt modelId="{D67A6A0D-4563-41CA-87D9-255A002B0241}" type="parTrans" cxnId="{A3D74362-502B-4B5D-B82F-70142DAD4C0A}">
      <dgm:prSet/>
      <dgm:spPr/>
      <dgm:t>
        <a:bodyPr/>
        <a:lstStyle/>
        <a:p>
          <a:endParaRPr lang="en-US"/>
        </a:p>
      </dgm:t>
    </dgm:pt>
    <dgm:pt modelId="{9F8009BE-6EB4-4923-8BC8-34A80C3A8639}" type="sibTrans" cxnId="{A3D74362-502B-4B5D-B82F-70142DAD4C0A}">
      <dgm:prSet/>
      <dgm:spPr/>
      <dgm:t>
        <a:bodyPr/>
        <a:lstStyle/>
        <a:p>
          <a:endParaRPr lang="en-US"/>
        </a:p>
      </dgm:t>
    </dgm:pt>
    <dgm:pt modelId="{4EBFE95B-D92D-4875-9C7B-81008D36735B}">
      <dgm:prSet/>
      <dgm:spPr/>
      <dgm:t>
        <a:bodyPr/>
        <a:lstStyle/>
        <a:p>
          <a:r>
            <a:rPr lang="en-US"/>
            <a:t>Use county-level price data when planning work schedules and childcare transitions</a:t>
          </a:r>
        </a:p>
      </dgm:t>
    </dgm:pt>
    <dgm:pt modelId="{54ECACF3-BB67-41B5-A0C0-96F823D0559C}" type="parTrans" cxnId="{34B245F4-FFA9-4F03-873A-A7AA20C8C789}">
      <dgm:prSet/>
      <dgm:spPr/>
      <dgm:t>
        <a:bodyPr/>
        <a:lstStyle/>
        <a:p>
          <a:endParaRPr lang="en-US"/>
        </a:p>
      </dgm:t>
    </dgm:pt>
    <dgm:pt modelId="{1601D439-B1F2-4786-A3BE-4440C62867A8}" type="sibTrans" cxnId="{34B245F4-FFA9-4F03-873A-A7AA20C8C789}">
      <dgm:prSet/>
      <dgm:spPr/>
      <dgm:t>
        <a:bodyPr/>
        <a:lstStyle/>
        <a:p>
          <a:endParaRPr lang="en-US"/>
        </a:p>
      </dgm:t>
    </dgm:pt>
    <dgm:pt modelId="{8FE572B6-D3B5-4D3B-8603-A09814680530}">
      <dgm:prSet/>
      <dgm:spPr/>
      <dgm:t>
        <a:bodyPr/>
        <a:lstStyle/>
        <a:p>
          <a:r>
            <a:rPr lang="en-US"/>
            <a:t>Bring</a:t>
          </a:r>
        </a:p>
      </dgm:t>
    </dgm:pt>
    <dgm:pt modelId="{BD448A8C-683F-436F-BC0F-599E9F05D530}" type="parTrans" cxnId="{95E13F90-33D5-4666-8A11-4D1CB93AFC23}">
      <dgm:prSet/>
      <dgm:spPr/>
      <dgm:t>
        <a:bodyPr/>
        <a:lstStyle/>
        <a:p>
          <a:endParaRPr lang="en-US"/>
        </a:p>
      </dgm:t>
    </dgm:pt>
    <dgm:pt modelId="{2E49324D-0A9F-4A86-8B59-165226A77C33}" type="sibTrans" cxnId="{95E13F90-33D5-4666-8A11-4D1CB93AFC23}">
      <dgm:prSet/>
      <dgm:spPr/>
      <dgm:t>
        <a:bodyPr/>
        <a:lstStyle/>
        <a:p>
          <a:endParaRPr lang="en-US"/>
        </a:p>
      </dgm:t>
    </dgm:pt>
    <dgm:pt modelId="{08D56F35-2901-4F59-96A3-E81B8409B577}">
      <dgm:prSet/>
      <dgm:spPr/>
      <dgm:t>
        <a:bodyPr/>
        <a:lstStyle/>
        <a:p>
          <a:r>
            <a:rPr lang="en-US"/>
            <a:t>Bring local numbers into conversations about flexibility, family budgets, and support needs</a:t>
          </a:r>
        </a:p>
      </dgm:t>
    </dgm:pt>
    <dgm:pt modelId="{EF33BBE5-A230-49DE-8F40-C89BB3BA0A15}" type="parTrans" cxnId="{08618B59-5F37-4FA2-915F-698B7A7EA776}">
      <dgm:prSet/>
      <dgm:spPr/>
      <dgm:t>
        <a:bodyPr/>
        <a:lstStyle/>
        <a:p>
          <a:endParaRPr lang="en-US"/>
        </a:p>
      </dgm:t>
    </dgm:pt>
    <dgm:pt modelId="{01A0B0B9-59C3-4B09-A1B8-8AA035D0BEAC}" type="sibTrans" cxnId="{08618B59-5F37-4FA2-915F-698B7A7EA776}">
      <dgm:prSet/>
      <dgm:spPr/>
      <dgm:t>
        <a:bodyPr/>
        <a:lstStyle/>
        <a:p>
          <a:endParaRPr lang="en-US"/>
        </a:p>
      </dgm:t>
    </dgm:pt>
    <dgm:pt modelId="{C61B8B1D-B2B8-7642-BD5E-5FA7E20F6FD7}" type="pres">
      <dgm:prSet presAssocID="{CDBFC223-8657-4F34-B18A-BBBEBB7ECAC0}" presName="Name0" presStyleCnt="0">
        <dgm:presLayoutVars>
          <dgm:dir/>
          <dgm:animLvl val="lvl"/>
          <dgm:resizeHandles val="exact"/>
        </dgm:presLayoutVars>
      </dgm:prSet>
      <dgm:spPr/>
    </dgm:pt>
    <dgm:pt modelId="{3A95C4EC-65AC-214F-97C1-EBCE167C4701}" type="pres">
      <dgm:prSet presAssocID="{A217673B-1C97-4A16-9E7D-01A7996E2641}" presName="composite" presStyleCnt="0"/>
      <dgm:spPr/>
    </dgm:pt>
    <dgm:pt modelId="{2BBFC809-FA7B-1B47-9B52-F805E60C90DE}" type="pres">
      <dgm:prSet presAssocID="{A217673B-1C97-4A16-9E7D-01A7996E2641}" presName="parTx" presStyleLbl="alignNode1" presStyleIdx="0" presStyleCnt="4">
        <dgm:presLayoutVars>
          <dgm:chMax val="0"/>
          <dgm:chPref val="0"/>
        </dgm:presLayoutVars>
      </dgm:prSet>
      <dgm:spPr/>
    </dgm:pt>
    <dgm:pt modelId="{B3680DAA-050C-D940-89A3-FC332C87E520}" type="pres">
      <dgm:prSet presAssocID="{A217673B-1C97-4A16-9E7D-01A7996E2641}" presName="desTx" presStyleLbl="alignAccFollowNode1" presStyleIdx="0" presStyleCnt="4">
        <dgm:presLayoutVars/>
      </dgm:prSet>
      <dgm:spPr/>
    </dgm:pt>
    <dgm:pt modelId="{79D75E22-C11F-4942-82B2-79DEFCEFF06E}" type="pres">
      <dgm:prSet presAssocID="{E1AA4652-184E-401A-B32C-F34FD22E45E5}" presName="space" presStyleCnt="0"/>
      <dgm:spPr/>
    </dgm:pt>
    <dgm:pt modelId="{1B580BAD-5423-7746-9A3F-74C958A24F1D}" type="pres">
      <dgm:prSet presAssocID="{7C05AB4B-1A8C-43DA-B8CD-A81EA898714F}" presName="composite" presStyleCnt="0"/>
      <dgm:spPr/>
    </dgm:pt>
    <dgm:pt modelId="{B14139A7-C30A-F349-B033-FDC8A823EE72}" type="pres">
      <dgm:prSet presAssocID="{7C05AB4B-1A8C-43DA-B8CD-A81EA898714F}" presName="parTx" presStyleLbl="alignNode1" presStyleIdx="1" presStyleCnt="4">
        <dgm:presLayoutVars>
          <dgm:chMax val="0"/>
          <dgm:chPref val="0"/>
        </dgm:presLayoutVars>
      </dgm:prSet>
      <dgm:spPr/>
    </dgm:pt>
    <dgm:pt modelId="{1C175031-EC3A-AD49-9746-6787E5C46A34}" type="pres">
      <dgm:prSet presAssocID="{7C05AB4B-1A8C-43DA-B8CD-A81EA898714F}" presName="desTx" presStyleLbl="alignAccFollowNode1" presStyleIdx="1" presStyleCnt="4">
        <dgm:presLayoutVars/>
      </dgm:prSet>
      <dgm:spPr/>
    </dgm:pt>
    <dgm:pt modelId="{8BF1E7A7-781F-8240-9097-82A62BEE7C22}" type="pres">
      <dgm:prSet presAssocID="{257FF22B-F486-4B58-9923-DA8A4143642D}" presName="space" presStyleCnt="0"/>
      <dgm:spPr/>
    </dgm:pt>
    <dgm:pt modelId="{C3F3BB14-DEED-3B4F-B28C-1E2D0B0F9812}" type="pres">
      <dgm:prSet presAssocID="{36AD8332-7C55-4E23-BE8A-3D7992F0074E}" presName="composite" presStyleCnt="0"/>
      <dgm:spPr/>
    </dgm:pt>
    <dgm:pt modelId="{3C362E6F-2BD5-C44B-92CC-02FD9258F673}" type="pres">
      <dgm:prSet presAssocID="{36AD8332-7C55-4E23-BE8A-3D7992F0074E}" presName="parTx" presStyleLbl="alignNode1" presStyleIdx="2" presStyleCnt="4">
        <dgm:presLayoutVars>
          <dgm:chMax val="0"/>
          <dgm:chPref val="0"/>
        </dgm:presLayoutVars>
      </dgm:prSet>
      <dgm:spPr/>
    </dgm:pt>
    <dgm:pt modelId="{4521DCDA-751B-D043-ABE8-2E7AD48EAC20}" type="pres">
      <dgm:prSet presAssocID="{36AD8332-7C55-4E23-BE8A-3D7992F0074E}" presName="desTx" presStyleLbl="alignAccFollowNode1" presStyleIdx="2" presStyleCnt="4">
        <dgm:presLayoutVars/>
      </dgm:prSet>
      <dgm:spPr/>
    </dgm:pt>
    <dgm:pt modelId="{C26953F9-4199-C44C-B40B-BE219C2CF68F}" type="pres">
      <dgm:prSet presAssocID="{9F8009BE-6EB4-4923-8BC8-34A80C3A8639}" presName="space" presStyleCnt="0"/>
      <dgm:spPr/>
    </dgm:pt>
    <dgm:pt modelId="{D3A25EA6-9C3A-1943-BBB4-443844A72570}" type="pres">
      <dgm:prSet presAssocID="{8FE572B6-D3B5-4D3B-8603-A09814680530}" presName="composite" presStyleCnt="0"/>
      <dgm:spPr/>
    </dgm:pt>
    <dgm:pt modelId="{2BAD2C4B-D3F6-2E4C-9FB9-B28C54B9F64F}" type="pres">
      <dgm:prSet presAssocID="{8FE572B6-D3B5-4D3B-8603-A09814680530}" presName="parTx" presStyleLbl="alignNode1" presStyleIdx="3" presStyleCnt="4">
        <dgm:presLayoutVars>
          <dgm:chMax val="0"/>
          <dgm:chPref val="0"/>
        </dgm:presLayoutVars>
      </dgm:prSet>
      <dgm:spPr/>
    </dgm:pt>
    <dgm:pt modelId="{DACF1030-9480-124D-B477-2C227BF4D0CC}" type="pres">
      <dgm:prSet presAssocID="{8FE572B6-D3B5-4D3B-8603-A09814680530}" presName="desTx" presStyleLbl="alignAccFollowNode1" presStyleIdx="3" presStyleCnt="4">
        <dgm:presLayoutVars/>
      </dgm:prSet>
      <dgm:spPr/>
    </dgm:pt>
  </dgm:ptLst>
  <dgm:cxnLst>
    <dgm:cxn modelId="{F7E2BD13-1CCD-A845-A937-54194F766EA0}" type="presOf" srcId="{56382701-E185-4769-BCF5-BA1408CB74BB}" destId="{1C175031-EC3A-AD49-9746-6787E5C46A34}" srcOrd="0" destOrd="0" presId="urn:microsoft.com/office/officeart/2016/7/layout/HorizontalActionList"/>
    <dgm:cxn modelId="{A22F774D-A57A-4FD1-9757-C6398A030C93}" srcId="{CDBFC223-8657-4F34-B18A-BBBEBB7ECAC0}" destId="{A217673B-1C97-4A16-9E7D-01A7996E2641}" srcOrd="0" destOrd="0" parTransId="{3DA5B487-50E3-42DF-954B-FC482DA1CB56}" sibTransId="{E1AA4652-184E-401A-B32C-F34FD22E45E5}"/>
    <dgm:cxn modelId="{08618B59-5F37-4FA2-915F-698B7A7EA776}" srcId="{8FE572B6-D3B5-4D3B-8603-A09814680530}" destId="{08D56F35-2901-4F59-96A3-E81B8409B577}" srcOrd="0" destOrd="0" parTransId="{EF33BBE5-A230-49DE-8F40-C89BB3BA0A15}" sibTransId="{01A0B0B9-59C3-4B09-A1B8-8AA035D0BEAC}"/>
    <dgm:cxn modelId="{F5A6F761-45C6-AB44-9C4F-0780B13C3B8E}" type="presOf" srcId="{8FE572B6-D3B5-4D3B-8603-A09814680530}" destId="{2BAD2C4B-D3F6-2E4C-9FB9-B28C54B9F64F}" srcOrd="0" destOrd="0" presId="urn:microsoft.com/office/officeart/2016/7/layout/HorizontalActionList"/>
    <dgm:cxn modelId="{A3D74362-502B-4B5D-B82F-70142DAD4C0A}" srcId="{CDBFC223-8657-4F34-B18A-BBBEBB7ECAC0}" destId="{36AD8332-7C55-4E23-BE8A-3D7992F0074E}" srcOrd="2" destOrd="0" parTransId="{D67A6A0D-4563-41CA-87D9-255A002B0241}" sibTransId="{9F8009BE-6EB4-4923-8BC8-34A80C3A8639}"/>
    <dgm:cxn modelId="{B8561463-8B0B-4275-B6AE-FB358C1E97E3}" srcId="{A217673B-1C97-4A16-9E7D-01A7996E2641}" destId="{09A1D91A-0DCD-4B24-A99F-17E93DC5AF1B}" srcOrd="0" destOrd="0" parTransId="{6103BF30-2549-46CF-A9C5-4FCAD8052EB8}" sibTransId="{9379C250-CD7C-4661-BBF7-E018FD97CE86}"/>
    <dgm:cxn modelId="{B529FF71-8C6A-43C3-A026-4FB30B355C3D}" srcId="{CDBFC223-8657-4F34-B18A-BBBEBB7ECAC0}" destId="{7C05AB4B-1A8C-43DA-B8CD-A81EA898714F}" srcOrd="1" destOrd="0" parTransId="{020164A4-6699-4470-B355-296EE1C42E2A}" sibTransId="{257FF22B-F486-4B58-9923-DA8A4143642D}"/>
    <dgm:cxn modelId="{8A93257E-F56B-9145-BA8D-CCA12060A549}" type="presOf" srcId="{7C05AB4B-1A8C-43DA-B8CD-A81EA898714F}" destId="{B14139A7-C30A-F349-B033-FDC8A823EE72}" srcOrd="0" destOrd="0" presId="urn:microsoft.com/office/officeart/2016/7/layout/HorizontalActionList"/>
    <dgm:cxn modelId="{8D182E80-AC7E-054E-B6E5-3AC8D2BFC59D}" type="presOf" srcId="{A217673B-1C97-4A16-9E7D-01A7996E2641}" destId="{2BBFC809-FA7B-1B47-9B52-F805E60C90DE}" srcOrd="0" destOrd="0" presId="urn:microsoft.com/office/officeart/2016/7/layout/HorizontalActionList"/>
    <dgm:cxn modelId="{95E13F90-33D5-4666-8A11-4D1CB93AFC23}" srcId="{CDBFC223-8657-4F34-B18A-BBBEBB7ECAC0}" destId="{8FE572B6-D3B5-4D3B-8603-A09814680530}" srcOrd="3" destOrd="0" parTransId="{BD448A8C-683F-436F-BC0F-599E9F05D530}" sibTransId="{2E49324D-0A9F-4A86-8B59-165226A77C33}"/>
    <dgm:cxn modelId="{DF80299F-E046-9D4E-AAC1-F77A7C6F5B3C}" type="presOf" srcId="{08D56F35-2901-4F59-96A3-E81B8409B577}" destId="{DACF1030-9480-124D-B477-2C227BF4D0CC}" srcOrd="0" destOrd="0" presId="urn:microsoft.com/office/officeart/2016/7/layout/HorizontalActionList"/>
    <dgm:cxn modelId="{DA7561A2-2776-1C40-85FF-4801F1C582D5}" type="presOf" srcId="{CDBFC223-8657-4F34-B18A-BBBEBB7ECAC0}" destId="{C61B8B1D-B2B8-7642-BD5E-5FA7E20F6FD7}" srcOrd="0" destOrd="0" presId="urn:microsoft.com/office/officeart/2016/7/layout/HorizontalActionList"/>
    <dgm:cxn modelId="{7551FFCC-6341-8740-B3C1-2C7D1320FD77}" type="presOf" srcId="{4EBFE95B-D92D-4875-9C7B-81008D36735B}" destId="{4521DCDA-751B-D043-ABE8-2E7AD48EAC20}" srcOrd="0" destOrd="0" presId="urn:microsoft.com/office/officeart/2016/7/layout/HorizontalActionList"/>
    <dgm:cxn modelId="{3D8C90E3-B684-4847-B023-17F6DB4F2AED}" srcId="{7C05AB4B-1A8C-43DA-B8CD-A81EA898714F}" destId="{56382701-E185-4769-BCF5-BA1408CB74BB}" srcOrd="0" destOrd="0" parTransId="{F1258A52-B129-4B43-B514-F4967B7D1A1E}" sibTransId="{450D4105-C94A-4748-880A-5188FE3C78DD}"/>
    <dgm:cxn modelId="{1E8E40EE-E120-3349-BEAF-A3DE23F974E7}" type="presOf" srcId="{36AD8332-7C55-4E23-BE8A-3D7992F0074E}" destId="{3C362E6F-2BD5-C44B-92CC-02FD9258F673}" srcOrd="0" destOrd="0" presId="urn:microsoft.com/office/officeart/2016/7/layout/HorizontalActionList"/>
    <dgm:cxn modelId="{3C3859F3-7A91-A943-A204-667EFB4A0F06}" type="presOf" srcId="{09A1D91A-0DCD-4B24-A99F-17E93DC5AF1B}" destId="{B3680DAA-050C-D940-89A3-FC332C87E520}" srcOrd="0" destOrd="0" presId="urn:microsoft.com/office/officeart/2016/7/layout/HorizontalActionList"/>
    <dgm:cxn modelId="{34B245F4-FFA9-4F03-873A-A7AA20C8C789}" srcId="{36AD8332-7C55-4E23-BE8A-3D7992F0074E}" destId="{4EBFE95B-D92D-4875-9C7B-81008D36735B}" srcOrd="0" destOrd="0" parTransId="{54ECACF3-BB67-41B5-A0C0-96F823D0559C}" sibTransId="{1601D439-B1F2-4786-A3BE-4440C62867A8}"/>
    <dgm:cxn modelId="{24EB3971-85B8-C14F-B706-48F7A55BB8CC}" type="presParOf" srcId="{C61B8B1D-B2B8-7642-BD5E-5FA7E20F6FD7}" destId="{3A95C4EC-65AC-214F-97C1-EBCE167C4701}" srcOrd="0" destOrd="0" presId="urn:microsoft.com/office/officeart/2016/7/layout/HorizontalActionList"/>
    <dgm:cxn modelId="{36EE2BDE-741E-0549-8045-664A1165C80B}" type="presParOf" srcId="{3A95C4EC-65AC-214F-97C1-EBCE167C4701}" destId="{2BBFC809-FA7B-1B47-9B52-F805E60C90DE}" srcOrd="0" destOrd="0" presId="urn:microsoft.com/office/officeart/2016/7/layout/HorizontalActionList"/>
    <dgm:cxn modelId="{D0FEEACE-0ACF-E142-B4B4-73D2A094CA74}" type="presParOf" srcId="{3A95C4EC-65AC-214F-97C1-EBCE167C4701}" destId="{B3680DAA-050C-D940-89A3-FC332C87E520}" srcOrd="1" destOrd="0" presId="urn:microsoft.com/office/officeart/2016/7/layout/HorizontalActionList"/>
    <dgm:cxn modelId="{0DF1D8BA-5580-C14B-8D2D-50E160D67073}" type="presParOf" srcId="{C61B8B1D-B2B8-7642-BD5E-5FA7E20F6FD7}" destId="{79D75E22-C11F-4942-82B2-79DEFCEFF06E}" srcOrd="1" destOrd="0" presId="urn:microsoft.com/office/officeart/2016/7/layout/HorizontalActionList"/>
    <dgm:cxn modelId="{229D6038-1C63-FE43-B85D-BC2891763A50}" type="presParOf" srcId="{C61B8B1D-B2B8-7642-BD5E-5FA7E20F6FD7}" destId="{1B580BAD-5423-7746-9A3F-74C958A24F1D}" srcOrd="2" destOrd="0" presId="urn:microsoft.com/office/officeart/2016/7/layout/HorizontalActionList"/>
    <dgm:cxn modelId="{DA08B85F-4AB0-0242-AF26-9FE5D9EBD4C1}" type="presParOf" srcId="{1B580BAD-5423-7746-9A3F-74C958A24F1D}" destId="{B14139A7-C30A-F349-B033-FDC8A823EE72}" srcOrd="0" destOrd="0" presId="urn:microsoft.com/office/officeart/2016/7/layout/HorizontalActionList"/>
    <dgm:cxn modelId="{2883ED8C-E267-CA40-90A1-9077C8491E0F}" type="presParOf" srcId="{1B580BAD-5423-7746-9A3F-74C958A24F1D}" destId="{1C175031-EC3A-AD49-9746-6787E5C46A34}" srcOrd="1" destOrd="0" presId="urn:microsoft.com/office/officeart/2016/7/layout/HorizontalActionList"/>
    <dgm:cxn modelId="{E2361B51-8A7D-C14B-B3A9-634040725514}" type="presParOf" srcId="{C61B8B1D-B2B8-7642-BD5E-5FA7E20F6FD7}" destId="{8BF1E7A7-781F-8240-9097-82A62BEE7C22}" srcOrd="3" destOrd="0" presId="urn:microsoft.com/office/officeart/2016/7/layout/HorizontalActionList"/>
    <dgm:cxn modelId="{F5865813-91F3-D445-9219-367A2D328DF0}" type="presParOf" srcId="{C61B8B1D-B2B8-7642-BD5E-5FA7E20F6FD7}" destId="{C3F3BB14-DEED-3B4F-B28C-1E2D0B0F9812}" srcOrd="4" destOrd="0" presId="urn:microsoft.com/office/officeart/2016/7/layout/HorizontalActionList"/>
    <dgm:cxn modelId="{7249686B-11B3-4A41-9901-FB64276E17B9}" type="presParOf" srcId="{C3F3BB14-DEED-3B4F-B28C-1E2D0B0F9812}" destId="{3C362E6F-2BD5-C44B-92CC-02FD9258F673}" srcOrd="0" destOrd="0" presId="urn:microsoft.com/office/officeart/2016/7/layout/HorizontalActionList"/>
    <dgm:cxn modelId="{5B44B46D-1D1F-8246-9BEB-B80716EA78C0}" type="presParOf" srcId="{C3F3BB14-DEED-3B4F-B28C-1E2D0B0F9812}" destId="{4521DCDA-751B-D043-ABE8-2E7AD48EAC20}" srcOrd="1" destOrd="0" presId="urn:microsoft.com/office/officeart/2016/7/layout/HorizontalActionList"/>
    <dgm:cxn modelId="{30903A3F-7DE3-6C47-99E9-6D3D537A241E}" type="presParOf" srcId="{C61B8B1D-B2B8-7642-BD5E-5FA7E20F6FD7}" destId="{C26953F9-4199-C44C-B40B-BE219C2CF68F}" srcOrd="5" destOrd="0" presId="urn:microsoft.com/office/officeart/2016/7/layout/HorizontalActionList"/>
    <dgm:cxn modelId="{CB922428-FA83-4B41-8039-E3BF667C136E}" type="presParOf" srcId="{C61B8B1D-B2B8-7642-BD5E-5FA7E20F6FD7}" destId="{D3A25EA6-9C3A-1943-BBB4-443844A72570}" srcOrd="6" destOrd="0" presId="urn:microsoft.com/office/officeart/2016/7/layout/HorizontalActionList"/>
    <dgm:cxn modelId="{9D0F060A-1F93-D24B-BA1E-1E055ADDE6F9}" type="presParOf" srcId="{D3A25EA6-9C3A-1943-BBB4-443844A72570}" destId="{2BAD2C4B-D3F6-2E4C-9FB9-B28C54B9F64F}" srcOrd="0" destOrd="0" presId="urn:microsoft.com/office/officeart/2016/7/layout/HorizontalActionList"/>
    <dgm:cxn modelId="{C2D65D28-D02D-1B45-852C-9D0A884AC3B1}" type="presParOf" srcId="{D3A25EA6-9C3A-1943-BBB4-443844A72570}" destId="{DACF1030-9480-124D-B477-2C227BF4D0CC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FAF5C2-B58E-4A79-B9E9-149B713F5E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BCAF75-24B4-4FCC-868F-FB980A8764E6}">
      <dgm:prSet/>
      <dgm:spPr/>
      <dgm:t>
        <a:bodyPr/>
        <a:lstStyle/>
        <a:p>
          <a:r>
            <a:rPr lang="en-US"/>
            <a:t>When childcare prices are highest in the early years and vary widely by county, support options matter. Possible responses include:</a:t>
          </a:r>
        </a:p>
      </dgm:t>
    </dgm:pt>
    <dgm:pt modelId="{3D66E0B1-1F38-4A45-8258-28123A350BC1}" type="parTrans" cxnId="{7E2E55DD-B812-4942-A7C3-5A7708F42C25}">
      <dgm:prSet/>
      <dgm:spPr/>
      <dgm:t>
        <a:bodyPr/>
        <a:lstStyle/>
        <a:p>
          <a:endParaRPr lang="en-US"/>
        </a:p>
      </dgm:t>
    </dgm:pt>
    <dgm:pt modelId="{810825B4-16B7-410E-B36F-7030E1410DE7}" type="sibTrans" cxnId="{7E2E55DD-B812-4942-A7C3-5A7708F42C25}">
      <dgm:prSet/>
      <dgm:spPr/>
      <dgm:t>
        <a:bodyPr/>
        <a:lstStyle/>
        <a:p>
          <a:endParaRPr lang="en-US"/>
        </a:p>
      </dgm:t>
    </dgm:pt>
    <dgm:pt modelId="{C90921B5-E7BB-4723-973F-C800B009E462}">
      <dgm:prSet/>
      <dgm:spPr/>
      <dgm:t>
        <a:bodyPr/>
        <a:lstStyle/>
        <a:p>
          <a:r>
            <a:rPr lang="en-US"/>
            <a:t>Flexible scheduling for parents of infants and toddlers</a:t>
          </a:r>
        </a:p>
      </dgm:t>
    </dgm:pt>
    <dgm:pt modelId="{905440BC-AA62-4805-9D83-464946649221}" type="parTrans" cxnId="{7F196E51-FD51-4367-B313-DE8BAED8CD45}">
      <dgm:prSet/>
      <dgm:spPr/>
      <dgm:t>
        <a:bodyPr/>
        <a:lstStyle/>
        <a:p>
          <a:endParaRPr lang="en-US"/>
        </a:p>
      </dgm:t>
    </dgm:pt>
    <dgm:pt modelId="{FAF79128-D133-4DE3-AC23-4F9CB88FDA11}" type="sibTrans" cxnId="{7F196E51-FD51-4367-B313-DE8BAED8CD45}">
      <dgm:prSet/>
      <dgm:spPr/>
      <dgm:t>
        <a:bodyPr/>
        <a:lstStyle/>
        <a:p>
          <a:endParaRPr lang="en-US"/>
        </a:p>
      </dgm:t>
    </dgm:pt>
    <dgm:pt modelId="{6FC33F5C-D1C2-453A-9CEC-BD11840DE6BB}">
      <dgm:prSet/>
      <dgm:spPr/>
      <dgm:t>
        <a:bodyPr/>
        <a:lstStyle/>
        <a:p>
          <a:r>
            <a:rPr lang="en-US"/>
            <a:t>Dependent-care benefits and pre-tax accounts</a:t>
          </a:r>
        </a:p>
      </dgm:t>
    </dgm:pt>
    <dgm:pt modelId="{56022EDC-4C4B-4EB9-B27F-40DA3D135CAB}" type="parTrans" cxnId="{624EED01-2DDF-49E4-8EF4-B014A8D25C76}">
      <dgm:prSet/>
      <dgm:spPr/>
      <dgm:t>
        <a:bodyPr/>
        <a:lstStyle/>
        <a:p>
          <a:endParaRPr lang="en-US"/>
        </a:p>
      </dgm:t>
    </dgm:pt>
    <dgm:pt modelId="{B151F805-2332-4C17-B6D6-11F48858ED91}" type="sibTrans" cxnId="{624EED01-2DDF-49E4-8EF4-B014A8D25C76}">
      <dgm:prSet/>
      <dgm:spPr/>
      <dgm:t>
        <a:bodyPr/>
        <a:lstStyle/>
        <a:p>
          <a:endParaRPr lang="en-US"/>
        </a:p>
      </dgm:t>
    </dgm:pt>
    <dgm:pt modelId="{374F3265-F325-4338-BCAF-08025EBD935B}">
      <dgm:prSet/>
      <dgm:spPr/>
      <dgm:t>
        <a:bodyPr/>
        <a:lstStyle/>
        <a:p>
          <a:r>
            <a:rPr lang="en-US"/>
            <a:t>Childcare assistance programs</a:t>
          </a:r>
        </a:p>
      </dgm:t>
    </dgm:pt>
    <dgm:pt modelId="{DBABBB6F-A3B3-4F50-876F-08274827F7F8}" type="parTrans" cxnId="{97C4A5A1-5F9E-47B6-8815-3A216F357963}">
      <dgm:prSet/>
      <dgm:spPr/>
      <dgm:t>
        <a:bodyPr/>
        <a:lstStyle/>
        <a:p>
          <a:endParaRPr lang="en-US"/>
        </a:p>
      </dgm:t>
    </dgm:pt>
    <dgm:pt modelId="{BDC6E299-2A34-4765-B697-CF1AE717FB25}" type="sibTrans" cxnId="{97C4A5A1-5F9E-47B6-8815-3A216F357963}">
      <dgm:prSet/>
      <dgm:spPr/>
      <dgm:t>
        <a:bodyPr/>
        <a:lstStyle/>
        <a:p>
          <a:endParaRPr lang="en-US"/>
        </a:p>
      </dgm:t>
    </dgm:pt>
    <dgm:pt modelId="{44250CD1-84F4-4449-9087-0E163821ACEC}">
      <dgm:prSet/>
      <dgm:spPr/>
      <dgm:t>
        <a:bodyPr/>
        <a:lstStyle/>
        <a:p>
          <a:r>
            <a:rPr lang="en-US"/>
            <a:t>Stronger local attention where prices are highest</a:t>
          </a:r>
        </a:p>
      </dgm:t>
    </dgm:pt>
    <dgm:pt modelId="{E8DED46E-22F9-4B22-BFF1-5D074E5E0628}" type="parTrans" cxnId="{6A6F08D1-121E-40BA-98F3-2D7CD70CA932}">
      <dgm:prSet/>
      <dgm:spPr/>
      <dgm:t>
        <a:bodyPr/>
        <a:lstStyle/>
        <a:p>
          <a:endParaRPr lang="en-US"/>
        </a:p>
      </dgm:t>
    </dgm:pt>
    <dgm:pt modelId="{58C4D078-0640-40CA-9B6D-ABEACF70CABE}" type="sibTrans" cxnId="{6A6F08D1-121E-40BA-98F3-2D7CD70CA932}">
      <dgm:prSet/>
      <dgm:spPr/>
      <dgm:t>
        <a:bodyPr/>
        <a:lstStyle/>
        <a:p>
          <a:endParaRPr lang="en-US"/>
        </a:p>
      </dgm:t>
    </dgm:pt>
    <dgm:pt modelId="{168D7C00-C5B1-3E4D-910B-EEFF742CC1CF}" type="pres">
      <dgm:prSet presAssocID="{69FAF5C2-B58E-4A79-B9E9-149B713F5EFB}" presName="vert0" presStyleCnt="0">
        <dgm:presLayoutVars>
          <dgm:dir/>
          <dgm:animOne val="branch"/>
          <dgm:animLvl val="lvl"/>
        </dgm:presLayoutVars>
      </dgm:prSet>
      <dgm:spPr/>
    </dgm:pt>
    <dgm:pt modelId="{906D957E-2B1C-404F-BC88-9CEC8274F83E}" type="pres">
      <dgm:prSet presAssocID="{5FBCAF75-24B4-4FCC-868F-FB980A8764E6}" presName="thickLine" presStyleLbl="alignNode1" presStyleIdx="0" presStyleCnt="1"/>
      <dgm:spPr/>
    </dgm:pt>
    <dgm:pt modelId="{72776FF8-6DE1-3549-A8CC-2789C808B0CF}" type="pres">
      <dgm:prSet presAssocID="{5FBCAF75-24B4-4FCC-868F-FB980A8764E6}" presName="horz1" presStyleCnt="0"/>
      <dgm:spPr/>
    </dgm:pt>
    <dgm:pt modelId="{11E59BA2-8511-2241-ACF5-A6F4DF2FF9D4}" type="pres">
      <dgm:prSet presAssocID="{5FBCAF75-24B4-4FCC-868F-FB980A8764E6}" presName="tx1" presStyleLbl="revTx" presStyleIdx="0" presStyleCnt="5"/>
      <dgm:spPr/>
    </dgm:pt>
    <dgm:pt modelId="{18E2810C-17BB-CB4A-9797-F48F400BFDB3}" type="pres">
      <dgm:prSet presAssocID="{5FBCAF75-24B4-4FCC-868F-FB980A8764E6}" presName="vert1" presStyleCnt="0"/>
      <dgm:spPr/>
    </dgm:pt>
    <dgm:pt modelId="{22BC945E-EC26-0846-BB8E-789FC5A1C54A}" type="pres">
      <dgm:prSet presAssocID="{C90921B5-E7BB-4723-973F-C800B009E462}" presName="vertSpace2a" presStyleCnt="0"/>
      <dgm:spPr/>
    </dgm:pt>
    <dgm:pt modelId="{27FFB605-9E8A-6649-9762-7F6088B9458E}" type="pres">
      <dgm:prSet presAssocID="{C90921B5-E7BB-4723-973F-C800B009E462}" presName="horz2" presStyleCnt="0"/>
      <dgm:spPr/>
    </dgm:pt>
    <dgm:pt modelId="{DE44CE1D-E5DA-0648-B114-CBD230DAE25D}" type="pres">
      <dgm:prSet presAssocID="{C90921B5-E7BB-4723-973F-C800B009E462}" presName="horzSpace2" presStyleCnt="0"/>
      <dgm:spPr/>
    </dgm:pt>
    <dgm:pt modelId="{22A82BBF-8DC5-984F-98BD-423FEB747F01}" type="pres">
      <dgm:prSet presAssocID="{C90921B5-E7BB-4723-973F-C800B009E462}" presName="tx2" presStyleLbl="revTx" presStyleIdx="1" presStyleCnt="5"/>
      <dgm:spPr/>
    </dgm:pt>
    <dgm:pt modelId="{72E24862-B7E5-2448-8F88-EEB143F6C4CB}" type="pres">
      <dgm:prSet presAssocID="{C90921B5-E7BB-4723-973F-C800B009E462}" presName="vert2" presStyleCnt="0"/>
      <dgm:spPr/>
    </dgm:pt>
    <dgm:pt modelId="{B0AA81E1-F480-194E-8331-01134D57CBD6}" type="pres">
      <dgm:prSet presAssocID="{C90921B5-E7BB-4723-973F-C800B009E462}" presName="thinLine2b" presStyleLbl="callout" presStyleIdx="0" presStyleCnt="4"/>
      <dgm:spPr/>
    </dgm:pt>
    <dgm:pt modelId="{9B9E1DF2-08C1-504E-83FF-DFD191D212B6}" type="pres">
      <dgm:prSet presAssocID="{C90921B5-E7BB-4723-973F-C800B009E462}" presName="vertSpace2b" presStyleCnt="0"/>
      <dgm:spPr/>
    </dgm:pt>
    <dgm:pt modelId="{46DD4FB4-2111-6A45-9510-7C7978518174}" type="pres">
      <dgm:prSet presAssocID="{6FC33F5C-D1C2-453A-9CEC-BD11840DE6BB}" presName="horz2" presStyleCnt="0"/>
      <dgm:spPr/>
    </dgm:pt>
    <dgm:pt modelId="{7328390A-5AC9-0E41-8348-0529612AE828}" type="pres">
      <dgm:prSet presAssocID="{6FC33F5C-D1C2-453A-9CEC-BD11840DE6BB}" presName="horzSpace2" presStyleCnt="0"/>
      <dgm:spPr/>
    </dgm:pt>
    <dgm:pt modelId="{3FE6F417-266F-984D-8A34-4BDC12C8E585}" type="pres">
      <dgm:prSet presAssocID="{6FC33F5C-D1C2-453A-9CEC-BD11840DE6BB}" presName="tx2" presStyleLbl="revTx" presStyleIdx="2" presStyleCnt="5"/>
      <dgm:spPr/>
    </dgm:pt>
    <dgm:pt modelId="{69BDF503-AD07-4E43-9E4C-414ACDC5EA36}" type="pres">
      <dgm:prSet presAssocID="{6FC33F5C-D1C2-453A-9CEC-BD11840DE6BB}" presName="vert2" presStyleCnt="0"/>
      <dgm:spPr/>
    </dgm:pt>
    <dgm:pt modelId="{D0B1B7D8-E7F3-A14E-B8A2-06B4AD79BF42}" type="pres">
      <dgm:prSet presAssocID="{6FC33F5C-D1C2-453A-9CEC-BD11840DE6BB}" presName="thinLine2b" presStyleLbl="callout" presStyleIdx="1" presStyleCnt="4"/>
      <dgm:spPr/>
    </dgm:pt>
    <dgm:pt modelId="{9C7978ED-DB7A-5F42-8C93-43AEE935D1DD}" type="pres">
      <dgm:prSet presAssocID="{6FC33F5C-D1C2-453A-9CEC-BD11840DE6BB}" presName="vertSpace2b" presStyleCnt="0"/>
      <dgm:spPr/>
    </dgm:pt>
    <dgm:pt modelId="{8EEDB226-AA62-3F41-8027-96351E2C7F05}" type="pres">
      <dgm:prSet presAssocID="{374F3265-F325-4338-BCAF-08025EBD935B}" presName="horz2" presStyleCnt="0"/>
      <dgm:spPr/>
    </dgm:pt>
    <dgm:pt modelId="{66275A27-7A47-A548-AA8F-FDBB1A105E5A}" type="pres">
      <dgm:prSet presAssocID="{374F3265-F325-4338-BCAF-08025EBD935B}" presName="horzSpace2" presStyleCnt="0"/>
      <dgm:spPr/>
    </dgm:pt>
    <dgm:pt modelId="{E28449D7-345C-2047-8AA2-4C7CA5F74486}" type="pres">
      <dgm:prSet presAssocID="{374F3265-F325-4338-BCAF-08025EBD935B}" presName="tx2" presStyleLbl="revTx" presStyleIdx="3" presStyleCnt="5"/>
      <dgm:spPr/>
    </dgm:pt>
    <dgm:pt modelId="{843F540D-46BC-574E-8AC0-36F5139B3884}" type="pres">
      <dgm:prSet presAssocID="{374F3265-F325-4338-BCAF-08025EBD935B}" presName="vert2" presStyleCnt="0"/>
      <dgm:spPr/>
    </dgm:pt>
    <dgm:pt modelId="{74B44544-3DCD-4A4A-9CC2-A75715D813AA}" type="pres">
      <dgm:prSet presAssocID="{374F3265-F325-4338-BCAF-08025EBD935B}" presName="thinLine2b" presStyleLbl="callout" presStyleIdx="2" presStyleCnt="4"/>
      <dgm:spPr/>
    </dgm:pt>
    <dgm:pt modelId="{113FAE82-79B7-194F-8636-0FA1BE8D0E3B}" type="pres">
      <dgm:prSet presAssocID="{374F3265-F325-4338-BCAF-08025EBD935B}" presName="vertSpace2b" presStyleCnt="0"/>
      <dgm:spPr/>
    </dgm:pt>
    <dgm:pt modelId="{DC46BECC-63DD-6048-9D23-1574689C8969}" type="pres">
      <dgm:prSet presAssocID="{44250CD1-84F4-4449-9087-0E163821ACEC}" presName="horz2" presStyleCnt="0"/>
      <dgm:spPr/>
    </dgm:pt>
    <dgm:pt modelId="{E4DB4089-6043-044F-8BFF-43119E50A3A5}" type="pres">
      <dgm:prSet presAssocID="{44250CD1-84F4-4449-9087-0E163821ACEC}" presName="horzSpace2" presStyleCnt="0"/>
      <dgm:spPr/>
    </dgm:pt>
    <dgm:pt modelId="{2B5E55FE-0F32-A448-B523-4D24316BD724}" type="pres">
      <dgm:prSet presAssocID="{44250CD1-84F4-4449-9087-0E163821ACEC}" presName="tx2" presStyleLbl="revTx" presStyleIdx="4" presStyleCnt="5"/>
      <dgm:spPr/>
    </dgm:pt>
    <dgm:pt modelId="{9B92B7C8-F99C-9F44-A905-B1449BB35CF1}" type="pres">
      <dgm:prSet presAssocID="{44250CD1-84F4-4449-9087-0E163821ACEC}" presName="vert2" presStyleCnt="0"/>
      <dgm:spPr/>
    </dgm:pt>
    <dgm:pt modelId="{9CD8EF68-B009-024D-AE7A-91165A5CCD12}" type="pres">
      <dgm:prSet presAssocID="{44250CD1-84F4-4449-9087-0E163821ACEC}" presName="thinLine2b" presStyleLbl="callout" presStyleIdx="3" presStyleCnt="4"/>
      <dgm:spPr/>
    </dgm:pt>
    <dgm:pt modelId="{B12FE0F2-6BD7-AB46-81D1-AAF701CDBDF6}" type="pres">
      <dgm:prSet presAssocID="{44250CD1-84F4-4449-9087-0E163821ACEC}" presName="vertSpace2b" presStyleCnt="0"/>
      <dgm:spPr/>
    </dgm:pt>
  </dgm:ptLst>
  <dgm:cxnLst>
    <dgm:cxn modelId="{624EED01-2DDF-49E4-8EF4-B014A8D25C76}" srcId="{5FBCAF75-24B4-4FCC-868F-FB980A8764E6}" destId="{6FC33F5C-D1C2-453A-9CEC-BD11840DE6BB}" srcOrd="1" destOrd="0" parTransId="{56022EDC-4C4B-4EB9-B27F-40DA3D135CAB}" sibTransId="{B151F805-2332-4C17-B6D6-11F48858ED91}"/>
    <dgm:cxn modelId="{EC0FD735-3B3F-904C-9395-6EA1BAD18E8B}" type="presOf" srcId="{374F3265-F325-4338-BCAF-08025EBD935B}" destId="{E28449D7-345C-2047-8AA2-4C7CA5F74486}" srcOrd="0" destOrd="0" presId="urn:microsoft.com/office/officeart/2008/layout/LinedList"/>
    <dgm:cxn modelId="{DC1AD94D-9822-F24F-8A04-7F380ADD19CB}" type="presOf" srcId="{69FAF5C2-B58E-4A79-B9E9-149B713F5EFB}" destId="{168D7C00-C5B1-3E4D-910B-EEFF742CC1CF}" srcOrd="0" destOrd="0" presId="urn:microsoft.com/office/officeart/2008/layout/LinedList"/>
    <dgm:cxn modelId="{7F196E51-FD51-4367-B313-DE8BAED8CD45}" srcId="{5FBCAF75-24B4-4FCC-868F-FB980A8764E6}" destId="{C90921B5-E7BB-4723-973F-C800B009E462}" srcOrd="0" destOrd="0" parTransId="{905440BC-AA62-4805-9D83-464946649221}" sibTransId="{FAF79128-D133-4DE3-AC23-4F9CB88FDA11}"/>
    <dgm:cxn modelId="{7809FC7B-2D1B-1749-9204-23CB6B6A7B86}" type="presOf" srcId="{5FBCAF75-24B4-4FCC-868F-FB980A8764E6}" destId="{11E59BA2-8511-2241-ACF5-A6F4DF2FF9D4}" srcOrd="0" destOrd="0" presId="urn:microsoft.com/office/officeart/2008/layout/LinedList"/>
    <dgm:cxn modelId="{9207B88C-F4F6-5B4C-AB03-7D4F2BB8D1E6}" type="presOf" srcId="{44250CD1-84F4-4449-9087-0E163821ACEC}" destId="{2B5E55FE-0F32-A448-B523-4D24316BD724}" srcOrd="0" destOrd="0" presId="urn:microsoft.com/office/officeart/2008/layout/LinedList"/>
    <dgm:cxn modelId="{97C4A5A1-5F9E-47B6-8815-3A216F357963}" srcId="{5FBCAF75-24B4-4FCC-868F-FB980A8764E6}" destId="{374F3265-F325-4338-BCAF-08025EBD935B}" srcOrd="2" destOrd="0" parTransId="{DBABBB6F-A3B3-4F50-876F-08274827F7F8}" sibTransId="{BDC6E299-2A34-4765-B697-CF1AE717FB25}"/>
    <dgm:cxn modelId="{C86635B6-8CC1-984A-A707-CA8B8C3C9655}" type="presOf" srcId="{C90921B5-E7BB-4723-973F-C800B009E462}" destId="{22A82BBF-8DC5-984F-98BD-423FEB747F01}" srcOrd="0" destOrd="0" presId="urn:microsoft.com/office/officeart/2008/layout/LinedList"/>
    <dgm:cxn modelId="{6A6F08D1-121E-40BA-98F3-2D7CD70CA932}" srcId="{5FBCAF75-24B4-4FCC-868F-FB980A8764E6}" destId="{44250CD1-84F4-4449-9087-0E163821ACEC}" srcOrd="3" destOrd="0" parTransId="{E8DED46E-22F9-4B22-BFF1-5D074E5E0628}" sibTransId="{58C4D078-0640-40CA-9B6D-ABEACF70CABE}"/>
    <dgm:cxn modelId="{7E2E55DD-B812-4942-A7C3-5A7708F42C25}" srcId="{69FAF5C2-B58E-4A79-B9E9-149B713F5EFB}" destId="{5FBCAF75-24B4-4FCC-868F-FB980A8764E6}" srcOrd="0" destOrd="0" parTransId="{3D66E0B1-1F38-4A45-8258-28123A350BC1}" sibTransId="{810825B4-16B7-410E-B36F-7030E1410DE7}"/>
    <dgm:cxn modelId="{09C6E8E8-31BC-DA42-A5F6-2C73C247C06A}" type="presOf" srcId="{6FC33F5C-D1C2-453A-9CEC-BD11840DE6BB}" destId="{3FE6F417-266F-984D-8A34-4BDC12C8E585}" srcOrd="0" destOrd="0" presId="urn:microsoft.com/office/officeart/2008/layout/LinedList"/>
    <dgm:cxn modelId="{6B649EDE-CAA8-6F4C-834E-305129340BB4}" type="presParOf" srcId="{168D7C00-C5B1-3E4D-910B-EEFF742CC1CF}" destId="{906D957E-2B1C-404F-BC88-9CEC8274F83E}" srcOrd="0" destOrd="0" presId="urn:microsoft.com/office/officeart/2008/layout/LinedList"/>
    <dgm:cxn modelId="{1451E802-B895-A84C-B7EF-F0874D9A3DED}" type="presParOf" srcId="{168D7C00-C5B1-3E4D-910B-EEFF742CC1CF}" destId="{72776FF8-6DE1-3549-A8CC-2789C808B0CF}" srcOrd="1" destOrd="0" presId="urn:microsoft.com/office/officeart/2008/layout/LinedList"/>
    <dgm:cxn modelId="{841F44C1-92F8-FC40-A6FF-15BFE9B0069F}" type="presParOf" srcId="{72776FF8-6DE1-3549-A8CC-2789C808B0CF}" destId="{11E59BA2-8511-2241-ACF5-A6F4DF2FF9D4}" srcOrd="0" destOrd="0" presId="urn:microsoft.com/office/officeart/2008/layout/LinedList"/>
    <dgm:cxn modelId="{992F4E06-74F9-304D-B9A3-B55D65DD604D}" type="presParOf" srcId="{72776FF8-6DE1-3549-A8CC-2789C808B0CF}" destId="{18E2810C-17BB-CB4A-9797-F48F400BFDB3}" srcOrd="1" destOrd="0" presId="urn:microsoft.com/office/officeart/2008/layout/LinedList"/>
    <dgm:cxn modelId="{DC752ABA-7441-3B43-8A2C-29278CB41886}" type="presParOf" srcId="{18E2810C-17BB-CB4A-9797-F48F400BFDB3}" destId="{22BC945E-EC26-0846-BB8E-789FC5A1C54A}" srcOrd="0" destOrd="0" presId="urn:microsoft.com/office/officeart/2008/layout/LinedList"/>
    <dgm:cxn modelId="{B58DD13D-B6F9-C642-AAA7-2F813771B1F9}" type="presParOf" srcId="{18E2810C-17BB-CB4A-9797-F48F400BFDB3}" destId="{27FFB605-9E8A-6649-9762-7F6088B9458E}" srcOrd="1" destOrd="0" presId="urn:microsoft.com/office/officeart/2008/layout/LinedList"/>
    <dgm:cxn modelId="{C40EF8FE-6B58-A14A-A3C7-CEBDAFD47D3B}" type="presParOf" srcId="{27FFB605-9E8A-6649-9762-7F6088B9458E}" destId="{DE44CE1D-E5DA-0648-B114-CBD230DAE25D}" srcOrd="0" destOrd="0" presId="urn:microsoft.com/office/officeart/2008/layout/LinedList"/>
    <dgm:cxn modelId="{07F37B08-5097-294B-A4DE-9AF454C8AF15}" type="presParOf" srcId="{27FFB605-9E8A-6649-9762-7F6088B9458E}" destId="{22A82BBF-8DC5-984F-98BD-423FEB747F01}" srcOrd="1" destOrd="0" presId="urn:microsoft.com/office/officeart/2008/layout/LinedList"/>
    <dgm:cxn modelId="{CAC02D9D-77F3-0848-9C0E-19873A8BF8FD}" type="presParOf" srcId="{27FFB605-9E8A-6649-9762-7F6088B9458E}" destId="{72E24862-B7E5-2448-8F88-EEB143F6C4CB}" srcOrd="2" destOrd="0" presId="urn:microsoft.com/office/officeart/2008/layout/LinedList"/>
    <dgm:cxn modelId="{61E8CDFB-66BC-144A-A858-C97F9D4FD257}" type="presParOf" srcId="{18E2810C-17BB-CB4A-9797-F48F400BFDB3}" destId="{B0AA81E1-F480-194E-8331-01134D57CBD6}" srcOrd="2" destOrd="0" presId="urn:microsoft.com/office/officeart/2008/layout/LinedList"/>
    <dgm:cxn modelId="{E852F306-E769-A140-825A-B8B52289796D}" type="presParOf" srcId="{18E2810C-17BB-CB4A-9797-F48F400BFDB3}" destId="{9B9E1DF2-08C1-504E-83FF-DFD191D212B6}" srcOrd="3" destOrd="0" presId="urn:microsoft.com/office/officeart/2008/layout/LinedList"/>
    <dgm:cxn modelId="{FE625CD1-ACF2-A848-B1A8-55272F4B1865}" type="presParOf" srcId="{18E2810C-17BB-CB4A-9797-F48F400BFDB3}" destId="{46DD4FB4-2111-6A45-9510-7C7978518174}" srcOrd="4" destOrd="0" presId="urn:microsoft.com/office/officeart/2008/layout/LinedList"/>
    <dgm:cxn modelId="{22D2D3BA-8C17-0D49-9E2E-5D3624D9DD6E}" type="presParOf" srcId="{46DD4FB4-2111-6A45-9510-7C7978518174}" destId="{7328390A-5AC9-0E41-8348-0529612AE828}" srcOrd="0" destOrd="0" presId="urn:microsoft.com/office/officeart/2008/layout/LinedList"/>
    <dgm:cxn modelId="{38CD0331-3BC5-0B4C-84E5-914B10DFE6D4}" type="presParOf" srcId="{46DD4FB4-2111-6A45-9510-7C7978518174}" destId="{3FE6F417-266F-984D-8A34-4BDC12C8E585}" srcOrd="1" destOrd="0" presId="urn:microsoft.com/office/officeart/2008/layout/LinedList"/>
    <dgm:cxn modelId="{C95A25F3-85AE-874B-B14A-03B318D8FCE5}" type="presParOf" srcId="{46DD4FB4-2111-6A45-9510-7C7978518174}" destId="{69BDF503-AD07-4E43-9E4C-414ACDC5EA36}" srcOrd="2" destOrd="0" presId="urn:microsoft.com/office/officeart/2008/layout/LinedList"/>
    <dgm:cxn modelId="{F8DA1905-98BA-DF42-9E1D-4A21576248C2}" type="presParOf" srcId="{18E2810C-17BB-CB4A-9797-F48F400BFDB3}" destId="{D0B1B7D8-E7F3-A14E-B8A2-06B4AD79BF42}" srcOrd="5" destOrd="0" presId="urn:microsoft.com/office/officeart/2008/layout/LinedList"/>
    <dgm:cxn modelId="{25FB1D23-2E1A-DB4B-8C5E-84CAE176FE54}" type="presParOf" srcId="{18E2810C-17BB-CB4A-9797-F48F400BFDB3}" destId="{9C7978ED-DB7A-5F42-8C93-43AEE935D1DD}" srcOrd="6" destOrd="0" presId="urn:microsoft.com/office/officeart/2008/layout/LinedList"/>
    <dgm:cxn modelId="{BC08502B-5E04-7D4B-9A76-A112D27A34C8}" type="presParOf" srcId="{18E2810C-17BB-CB4A-9797-F48F400BFDB3}" destId="{8EEDB226-AA62-3F41-8027-96351E2C7F05}" srcOrd="7" destOrd="0" presId="urn:microsoft.com/office/officeart/2008/layout/LinedList"/>
    <dgm:cxn modelId="{429637CD-2FEF-7048-BF67-A5DE65776406}" type="presParOf" srcId="{8EEDB226-AA62-3F41-8027-96351E2C7F05}" destId="{66275A27-7A47-A548-AA8F-FDBB1A105E5A}" srcOrd="0" destOrd="0" presId="urn:microsoft.com/office/officeart/2008/layout/LinedList"/>
    <dgm:cxn modelId="{FFE4E846-9BD5-6A46-B56C-D3A3CE0DF539}" type="presParOf" srcId="{8EEDB226-AA62-3F41-8027-96351E2C7F05}" destId="{E28449D7-345C-2047-8AA2-4C7CA5F74486}" srcOrd="1" destOrd="0" presId="urn:microsoft.com/office/officeart/2008/layout/LinedList"/>
    <dgm:cxn modelId="{3B93A97D-A7B2-4C4E-983B-C604854D95E6}" type="presParOf" srcId="{8EEDB226-AA62-3F41-8027-96351E2C7F05}" destId="{843F540D-46BC-574E-8AC0-36F5139B3884}" srcOrd="2" destOrd="0" presId="urn:microsoft.com/office/officeart/2008/layout/LinedList"/>
    <dgm:cxn modelId="{2A2207AB-D904-6940-91F7-CAEFE35312A5}" type="presParOf" srcId="{18E2810C-17BB-CB4A-9797-F48F400BFDB3}" destId="{74B44544-3DCD-4A4A-9CC2-A75715D813AA}" srcOrd="8" destOrd="0" presId="urn:microsoft.com/office/officeart/2008/layout/LinedList"/>
    <dgm:cxn modelId="{8DBB3900-4234-454F-8C3D-821EB2117A71}" type="presParOf" srcId="{18E2810C-17BB-CB4A-9797-F48F400BFDB3}" destId="{113FAE82-79B7-194F-8636-0FA1BE8D0E3B}" srcOrd="9" destOrd="0" presId="urn:microsoft.com/office/officeart/2008/layout/LinedList"/>
    <dgm:cxn modelId="{758E4E4B-6005-044C-8CE1-F45197C7BE8E}" type="presParOf" srcId="{18E2810C-17BB-CB4A-9797-F48F400BFDB3}" destId="{DC46BECC-63DD-6048-9D23-1574689C8969}" srcOrd="10" destOrd="0" presId="urn:microsoft.com/office/officeart/2008/layout/LinedList"/>
    <dgm:cxn modelId="{E58D3207-FE54-EF4E-A91F-259F548F5AE9}" type="presParOf" srcId="{DC46BECC-63DD-6048-9D23-1574689C8969}" destId="{E4DB4089-6043-044F-8BFF-43119E50A3A5}" srcOrd="0" destOrd="0" presId="urn:microsoft.com/office/officeart/2008/layout/LinedList"/>
    <dgm:cxn modelId="{12316BE7-814B-EF42-BCDA-D63C64521BA5}" type="presParOf" srcId="{DC46BECC-63DD-6048-9D23-1574689C8969}" destId="{2B5E55FE-0F32-A448-B523-4D24316BD724}" srcOrd="1" destOrd="0" presId="urn:microsoft.com/office/officeart/2008/layout/LinedList"/>
    <dgm:cxn modelId="{74186952-D44E-BF44-9BD5-EEE01E60DEB3}" type="presParOf" srcId="{DC46BECC-63DD-6048-9D23-1574689C8969}" destId="{9B92B7C8-F99C-9F44-A905-B1449BB35CF1}" srcOrd="2" destOrd="0" presId="urn:microsoft.com/office/officeart/2008/layout/LinedList"/>
    <dgm:cxn modelId="{0DBC3C30-BA0A-254A-8E09-EBC1D984F032}" type="presParOf" srcId="{18E2810C-17BB-CB4A-9797-F48F400BFDB3}" destId="{9CD8EF68-B009-024D-AE7A-91165A5CCD12}" srcOrd="11" destOrd="0" presId="urn:microsoft.com/office/officeart/2008/layout/LinedList"/>
    <dgm:cxn modelId="{B073513A-617B-8040-BCE2-B7D7A8E87D8C}" type="presParOf" srcId="{18E2810C-17BB-CB4A-9797-F48F400BFDB3}" destId="{B12FE0F2-6BD7-AB46-81D1-AAF701CDBDF6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BFC809-FA7B-1B47-9B52-F805E60C90DE}">
      <dsp:nvSpPr>
        <dsp:cNvPr id="0" name=""/>
        <dsp:cNvSpPr/>
      </dsp:nvSpPr>
      <dsp:spPr>
        <a:xfrm>
          <a:off x="8167" y="302048"/>
          <a:ext cx="2637727" cy="79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39" tIns="208439" rIns="208439" bIns="20843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Plan</a:t>
          </a:r>
        </a:p>
      </dsp:txBody>
      <dsp:txXfrm>
        <a:off x="8167" y="302048"/>
        <a:ext cx="2637727" cy="791318"/>
      </dsp:txXfrm>
    </dsp:sp>
    <dsp:sp modelId="{B3680DAA-050C-D940-89A3-FC332C87E520}">
      <dsp:nvSpPr>
        <dsp:cNvPr id="0" name=""/>
        <dsp:cNvSpPr/>
      </dsp:nvSpPr>
      <dsp:spPr>
        <a:xfrm>
          <a:off x="8167" y="1093366"/>
          <a:ext cx="2637727" cy="2170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549" tIns="260549" rIns="260549" bIns="26054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Plan earlier for the infant and toddler years, when weekly costs are highest</a:t>
          </a:r>
        </a:p>
      </dsp:txBody>
      <dsp:txXfrm>
        <a:off x="8167" y="1093366"/>
        <a:ext cx="2637727" cy="2170745"/>
      </dsp:txXfrm>
    </dsp:sp>
    <dsp:sp modelId="{B14139A7-C30A-F349-B033-FDC8A823EE72}">
      <dsp:nvSpPr>
        <dsp:cNvPr id="0" name=""/>
        <dsp:cNvSpPr/>
      </dsp:nvSpPr>
      <dsp:spPr>
        <a:xfrm>
          <a:off x="2753789" y="302048"/>
          <a:ext cx="2637727" cy="79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39" tIns="208439" rIns="208439" bIns="20843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Compare</a:t>
          </a:r>
        </a:p>
      </dsp:txBody>
      <dsp:txXfrm>
        <a:off x="2753789" y="302048"/>
        <a:ext cx="2637727" cy="791318"/>
      </dsp:txXfrm>
    </dsp:sp>
    <dsp:sp modelId="{1C175031-EC3A-AD49-9746-6787E5C46A34}">
      <dsp:nvSpPr>
        <dsp:cNvPr id="0" name=""/>
        <dsp:cNvSpPr/>
      </dsp:nvSpPr>
      <dsp:spPr>
        <a:xfrm>
          <a:off x="2753789" y="1093366"/>
          <a:ext cx="2637727" cy="2170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549" tIns="260549" rIns="260549" bIns="26054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Compare provider types, not just one advertised price</a:t>
          </a:r>
        </a:p>
      </dsp:txBody>
      <dsp:txXfrm>
        <a:off x="2753789" y="1093366"/>
        <a:ext cx="2637727" cy="2170745"/>
      </dsp:txXfrm>
    </dsp:sp>
    <dsp:sp modelId="{3C362E6F-2BD5-C44B-92CC-02FD9258F673}">
      <dsp:nvSpPr>
        <dsp:cNvPr id="0" name=""/>
        <dsp:cNvSpPr/>
      </dsp:nvSpPr>
      <dsp:spPr>
        <a:xfrm>
          <a:off x="5499411" y="302048"/>
          <a:ext cx="2637727" cy="79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39" tIns="208439" rIns="208439" bIns="20843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</a:t>
          </a:r>
        </a:p>
      </dsp:txBody>
      <dsp:txXfrm>
        <a:off x="5499411" y="302048"/>
        <a:ext cx="2637727" cy="791318"/>
      </dsp:txXfrm>
    </dsp:sp>
    <dsp:sp modelId="{4521DCDA-751B-D043-ABE8-2E7AD48EAC20}">
      <dsp:nvSpPr>
        <dsp:cNvPr id="0" name=""/>
        <dsp:cNvSpPr/>
      </dsp:nvSpPr>
      <dsp:spPr>
        <a:xfrm>
          <a:off x="5499411" y="1093366"/>
          <a:ext cx="2637727" cy="2170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549" tIns="260549" rIns="260549" bIns="26054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county-level price data when planning work schedules and childcare transitions</a:t>
          </a:r>
        </a:p>
      </dsp:txBody>
      <dsp:txXfrm>
        <a:off x="5499411" y="1093366"/>
        <a:ext cx="2637727" cy="2170745"/>
      </dsp:txXfrm>
    </dsp:sp>
    <dsp:sp modelId="{2BAD2C4B-D3F6-2E4C-9FB9-B28C54B9F64F}">
      <dsp:nvSpPr>
        <dsp:cNvPr id="0" name=""/>
        <dsp:cNvSpPr/>
      </dsp:nvSpPr>
      <dsp:spPr>
        <a:xfrm>
          <a:off x="8245032" y="302048"/>
          <a:ext cx="2637727" cy="791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439" tIns="208439" rIns="208439" bIns="208439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Bring</a:t>
          </a:r>
        </a:p>
      </dsp:txBody>
      <dsp:txXfrm>
        <a:off x="8245032" y="302048"/>
        <a:ext cx="2637727" cy="791318"/>
      </dsp:txXfrm>
    </dsp:sp>
    <dsp:sp modelId="{DACF1030-9480-124D-B477-2C227BF4D0CC}">
      <dsp:nvSpPr>
        <dsp:cNvPr id="0" name=""/>
        <dsp:cNvSpPr/>
      </dsp:nvSpPr>
      <dsp:spPr>
        <a:xfrm>
          <a:off x="8245032" y="1093366"/>
          <a:ext cx="2637727" cy="21707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0549" tIns="260549" rIns="260549" bIns="260549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Bring local numbers into conversations about flexibility, family budgets, and support needs</a:t>
          </a:r>
        </a:p>
      </dsp:txBody>
      <dsp:txXfrm>
        <a:off x="8245032" y="1093366"/>
        <a:ext cx="2637727" cy="2170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D957E-2B1C-404F-BC88-9CEC8274F83E}">
      <dsp:nvSpPr>
        <dsp:cNvPr id="0" name=""/>
        <dsp:cNvSpPr/>
      </dsp:nvSpPr>
      <dsp:spPr>
        <a:xfrm>
          <a:off x="0" y="0"/>
          <a:ext cx="1089092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59BA2-8511-2241-ACF5-A6F4DF2FF9D4}">
      <dsp:nvSpPr>
        <dsp:cNvPr id="0" name=""/>
        <dsp:cNvSpPr/>
      </dsp:nvSpPr>
      <dsp:spPr>
        <a:xfrm>
          <a:off x="0" y="0"/>
          <a:ext cx="2178185" cy="356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When childcare prices are highest in the early years and vary widely by county, support options matter. Possible responses include:</a:t>
          </a:r>
        </a:p>
      </dsp:txBody>
      <dsp:txXfrm>
        <a:off x="0" y="0"/>
        <a:ext cx="2178185" cy="3566160"/>
      </dsp:txXfrm>
    </dsp:sp>
    <dsp:sp modelId="{22A82BBF-8DC5-984F-98BD-423FEB747F01}">
      <dsp:nvSpPr>
        <dsp:cNvPr id="0" name=""/>
        <dsp:cNvSpPr/>
      </dsp:nvSpPr>
      <dsp:spPr>
        <a:xfrm>
          <a:off x="2341549" y="41921"/>
          <a:ext cx="8549378" cy="838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Flexible scheduling for parents of infants and toddlers</a:t>
          </a:r>
        </a:p>
      </dsp:txBody>
      <dsp:txXfrm>
        <a:off x="2341549" y="41921"/>
        <a:ext cx="8549378" cy="838430"/>
      </dsp:txXfrm>
    </dsp:sp>
    <dsp:sp modelId="{B0AA81E1-F480-194E-8331-01134D57CBD6}">
      <dsp:nvSpPr>
        <dsp:cNvPr id="0" name=""/>
        <dsp:cNvSpPr/>
      </dsp:nvSpPr>
      <dsp:spPr>
        <a:xfrm>
          <a:off x="2178185" y="880352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6F417-266F-984D-8A34-4BDC12C8E585}">
      <dsp:nvSpPr>
        <dsp:cNvPr id="0" name=""/>
        <dsp:cNvSpPr/>
      </dsp:nvSpPr>
      <dsp:spPr>
        <a:xfrm>
          <a:off x="2341549" y="922273"/>
          <a:ext cx="8549378" cy="838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Dependent-care benefits and pre-tax accounts</a:t>
          </a:r>
        </a:p>
      </dsp:txBody>
      <dsp:txXfrm>
        <a:off x="2341549" y="922273"/>
        <a:ext cx="8549378" cy="838430"/>
      </dsp:txXfrm>
    </dsp:sp>
    <dsp:sp modelId="{D0B1B7D8-E7F3-A14E-B8A2-06B4AD79BF42}">
      <dsp:nvSpPr>
        <dsp:cNvPr id="0" name=""/>
        <dsp:cNvSpPr/>
      </dsp:nvSpPr>
      <dsp:spPr>
        <a:xfrm>
          <a:off x="2178185" y="1760704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449D7-345C-2047-8AA2-4C7CA5F74486}">
      <dsp:nvSpPr>
        <dsp:cNvPr id="0" name=""/>
        <dsp:cNvSpPr/>
      </dsp:nvSpPr>
      <dsp:spPr>
        <a:xfrm>
          <a:off x="2341549" y="1802625"/>
          <a:ext cx="8549378" cy="838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Childcare assistance programs</a:t>
          </a:r>
        </a:p>
      </dsp:txBody>
      <dsp:txXfrm>
        <a:off x="2341549" y="1802625"/>
        <a:ext cx="8549378" cy="838430"/>
      </dsp:txXfrm>
    </dsp:sp>
    <dsp:sp modelId="{74B44544-3DCD-4A4A-9CC2-A75715D813AA}">
      <dsp:nvSpPr>
        <dsp:cNvPr id="0" name=""/>
        <dsp:cNvSpPr/>
      </dsp:nvSpPr>
      <dsp:spPr>
        <a:xfrm>
          <a:off x="2178185" y="2641056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E55FE-0F32-A448-B523-4D24316BD724}">
      <dsp:nvSpPr>
        <dsp:cNvPr id="0" name=""/>
        <dsp:cNvSpPr/>
      </dsp:nvSpPr>
      <dsp:spPr>
        <a:xfrm>
          <a:off x="2341549" y="2682978"/>
          <a:ext cx="8549378" cy="838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Stronger local attention where prices are highest</a:t>
          </a:r>
        </a:p>
      </dsp:txBody>
      <dsp:txXfrm>
        <a:off x="2341549" y="2682978"/>
        <a:ext cx="8549378" cy="838430"/>
      </dsp:txXfrm>
    </dsp:sp>
    <dsp:sp modelId="{9CD8EF68-B009-024D-AE7A-91165A5CCD12}">
      <dsp:nvSpPr>
        <dsp:cNvPr id="0" name=""/>
        <dsp:cNvSpPr/>
      </dsp:nvSpPr>
      <dsp:spPr>
        <a:xfrm>
          <a:off x="2178185" y="3521408"/>
          <a:ext cx="871274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042B7-E78E-CF47-8872-C9D146A8884C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42677-334F-964A-B3BB-48C0D025C4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17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42677-334F-964A-B3BB-48C0D025C4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3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42677-334F-964A-B3BB-48C0D025C4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54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453C-C822-8598-BC78-10DACC3A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88106-A939-283C-7C8E-C3BFE2623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4788D-282B-5322-3FD1-A81D71F00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7778D-FB21-71F3-E9D0-333DA8842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42677-334F-964A-B3BB-48C0D025C4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68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042677-334F-964A-B3BB-48C0D025C4F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45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5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67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53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4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8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7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6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5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78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9C751-F7E1-FBDE-C9AA-300CF9CDC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5756" y="204955"/>
            <a:ext cx="4308672" cy="322404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 dirty="0"/>
              <a:t>Childcare Prices Change Fast in the Early Years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C01DA-006B-8BC0-23E7-A62F9AE71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0"/>
            <a:ext cx="4308672" cy="1606749"/>
          </a:xfrm>
        </p:spPr>
        <p:txBody>
          <a:bodyPr anchor="t">
            <a:normAutofit fontScale="55000" lnSpcReduction="20000"/>
          </a:bodyPr>
          <a:lstStyle/>
          <a:p>
            <a:r>
              <a:rPr lang="en-US" dirty="0"/>
              <a:t>Jon Steen</a:t>
            </a:r>
          </a:p>
          <a:p>
            <a:r>
              <a:rPr lang="en-US" dirty="0"/>
              <a:t>MSDS, Bellevue University</a:t>
            </a:r>
          </a:p>
          <a:p>
            <a:r>
              <a:rPr lang="en-US" dirty="0"/>
              <a:t>DSC 640: Data Presentation and Visualization</a:t>
            </a:r>
          </a:p>
          <a:p>
            <a:r>
              <a:rPr lang="en-US" dirty="0"/>
              <a:t>Instructor: Benjamin Schneider</a:t>
            </a:r>
          </a:p>
          <a:p>
            <a:r>
              <a:rPr lang="en-US" dirty="0"/>
              <a:t>Mar 8, 2026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609A446-2601-60FC-36E8-D2194A1B7B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50" r="30017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8702D06-22A2-13D1-AEED-33496A02F10F}"/>
              </a:ext>
            </a:extLst>
          </p:cNvPr>
          <p:cNvSpPr txBox="1">
            <a:spLocks/>
          </p:cNvSpPr>
          <p:nvPr/>
        </p:nvSpPr>
        <p:spPr>
          <a:xfrm>
            <a:off x="7535756" y="3065232"/>
            <a:ext cx="4308672" cy="11724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 county-level look at weekly full-time childcare prices in 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29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2C29C-9084-1FCC-1527-E3654087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/>
              <a:t>What the Data Measures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4E7C5CE-591B-5D68-2CBF-C98CE6A05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/>
              <a:t>County-level weekly childcare price estimates</a:t>
            </a:r>
          </a:p>
          <a:p>
            <a:pPr>
              <a:lnSpc>
                <a:spcPct val="110000"/>
              </a:lnSpc>
            </a:pPr>
            <a:r>
              <a:rPr lang="en-US" sz="1900"/>
              <a:t>Four age groups: infant, toddler, preschool, and school-age</a:t>
            </a:r>
          </a:p>
          <a:p>
            <a:pPr>
              <a:lnSpc>
                <a:spcPct val="110000"/>
              </a:lnSpc>
            </a:pPr>
            <a:r>
              <a:rPr lang="en-US" sz="1900"/>
              <a:t>Two provider types: center-based and family childcare</a:t>
            </a:r>
          </a:p>
          <a:p>
            <a:pPr>
              <a:lnSpc>
                <a:spcPct val="110000"/>
              </a:lnSpc>
            </a:pPr>
            <a:r>
              <a:rPr lang="en-US" sz="1900"/>
              <a:t>Main story year shown here: 2018</a:t>
            </a:r>
          </a:p>
          <a:p>
            <a:pPr>
              <a:lnSpc>
                <a:spcPct val="110000"/>
              </a:lnSpc>
            </a:pPr>
            <a:r>
              <a:rPr lang="en-US" sz="1900"/>
              <a:t>Data spans 2008 to 2018 across U.S. counties</a:t>
            </a:r>
          </a:p>
          <a:p>
            <a:pPr>
              <a:lnSpc>
                <a:spcPct val="110000"/>
              </a:lnSpc>
            </a:pPr>
            <a:r>
              <a:rPr lang="en-US" sz="1900"/>
              <a:t>3,142 counties in 2018; price data available for 2,360 (center-based) and 2,348 (family)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81F0C7-BFEF-EA6D-0C52-30964FCF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60" r="2749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EDC4F3-9DB4-8D6E-4B37-536695133651}"/>
              </a:ext>
            </a:extLst>
          </p:cNvPr>
          <p:cNvSpPr txBox="1"/>
          <p:nvPr/>
        </p:nvSpPr>
        <p:spPr>
          <a:xfrm>
            <a:off x="716281" y="6297921"/>
            <a:ext cx="53797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/>
            </a:pPr>
            <a:r>
              <a:rPr sz="700" dirty="0"/>
              <a:t>Note: Prices are standardized to a weekly basis, and some values are imputed or derived during dataset construction (U.S. DOL Women's Bureau, 2020).</a:t>
            </a:r>
          </a:p>
        </p:txBody>
      </p:sp>
    </p:spTree>
    <p:extLst>
      <p:ext uri="{BB962C8B-B14F-4D97-AF65-F5344CB8AC3E}">
        <p14:creationId xmlns:p14="http://schemas.microsoft.com/office/powerpoint/2010/main" val="327026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D22C4-FCAB-8128-E918-71774554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Earliest Years Cost the Most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0E53C-408A-6CD7-34A0-F0D2D15ADF69}"/>
              </a:ext>
            </a:extLst>
          </p:cNvPr>
          <p:cNvSpPr txBox="1"/>
          <p:nvPr/>
        </p:nvSpPr>
        <p:spPr>
          <a:xfrm>
            <a:off x="7557570" y="2256287"/>
            <a:ext cx="3921197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  <a:defRPr sz="1600" i="1"/>
            </a:pPr>
            <a:r>
              <a:rPr lang="en-US" sz="1600" dirty="0"/>
              <a:t>Median weekly childcare prices by age group at the median county, 2018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A3807D-DF7B-1049-FF50-9DD59A131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5333731"/>
              </p:ext>
            </p:extLst>
          </p:nvPr>
        </p:nvGraphicFramePr>
        <p:xfrm>
          <a:off x="713232" y="2256287"/>
          <a:ext cx="6844338" cy="3760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52288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9ACE1-0114-64DA-3590-70FE7544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4C46DB-2077-BC81-FB92-5E7AD2950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190BB-8C90-0EFB-2CF7-926BBAB4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3200" b="1"/>
            </a:pPr>
            <a:r>
              <a:rPr lang="en-US" dirty="0"/>
              <a:t>Center-Based Care Usually Costs More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71028-914E-5E74-AF95-1AC8F8BAE219}"/>
              </a:ext>
            </a:extLst>
          </p:cNvPr>
          <p:cNvSpPr txBox="1"/>
          <p:nvPr/>
        </p:nvSpPr>
        <p:spPr>
          <a:xfrm>
            <a:off x="7557570" y="2256287"/>
            <a:ext cx="3921197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 i="1"/>
            </a:pPr>
            <a:r>
              <a:rPr lang="en-US" dirty="0"/>
              <a:t>Price gap between center-based and family childcare by age group, 2018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F2491B-4F3A-09A3-5CAB-F64E9555F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F823F4B-7305-3F8C-2DDF-115056842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355364"/>
              </p:ext>
            </p:extLst>
          </p:nvPr>
        </p:nvGraphicFramePr>
        <p:xfrm>
          <a:off x="640081" y="2054245"/>
          <a:ext cx="691749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9871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76FEA-673E-3DB1-D6B9-312E0487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9CD76E-7927-3FF5-D133-078CBF5E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269F3-2F91-375B-3B16-5BE64ADF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3200" b="1"/>
            </a:pPr>
            <a:r>
              <a:rPr lang="en-US" dirty="0"/>
              <a:t>Where You Live Changes What Families Pay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058CE-553F-FFF6-E01A-FA8646FCC4D3}"/>
              </a:ext>
            </a:extLst>
          </p:cNvPr>
          <p:cNvSpPr txBox="1"/>
          <p:nvPr/>
        </p:nvSpPr>
        <p:spPr>
          <a:xfrm>
            <a:off x="7557570" y="2256287"/>
            <a:ext cx="3921197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 i="1"/>
            </a:pPr>
            <a:r>
              <a:rPr lang="en-US" dirty="0"/>
              <a:t>Center-based infant care: county price distribution, 2018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620DA2-F136-EC7C-EE9F-808C32F5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8D4F99C-B897-6472-3954-72DCD5AB4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474379"/>
              </p:ext>
            </p:extLst>
          </p:nvPr>
        </p:nvGraphicFramePr>
        <p:xfrm>
          <a:off x="713233" y="1671072"/>
          <a:ext cx="6844337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F3823C3-7B93-93FF-0FAB-C9E40B1B61E9}"/>
              </a:ext>
            </a:extLst>
          </p:cNvPr>
          <p:cNvSpPr txBox="1"/>
          <p:nvPr/>
        </p:nvSpPr>
        <p:spPr>
          <a:xfrm>
            <a:off x="713233" y="641908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/>
            </a:pPr>
            <a:r>
              <a:rPr dirty="0"/>
              <a:t>The gap between lower-cost and higher-cost counties is more than $127 per week for center-based infant care alone.</a:t>
            </a:r>
          </a:p>
        </p:txBody>
      </p:sp>
    </p:spTree>
    <p:extLst>
      <p:ext uri="{BB962C8B-B14F-4D97-AF65-F5344CB8AC3E}">
        <p14:creationId xmlns:p14="http://schemas.microsoft.com/office/powerpoint/2010/main" val="62303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F4EC6-FF0B-039F-9864-212B817A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0511883-62D7-7C95-59AF-500AE903A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D9C81-F033-3658-7385-EF615BAF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3200" b="1"/>
            </a:pPr>
            <a:r>
              <a:rPr lang="en-US" dirty="0"/>
              <a:t>Where You Live Changes What Families Pay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9EE08-4873-ECC2-8DB0-3C02B1014D1C}"/>
              </a:ext>
            </a:extLst>
          </p:cNvPr>
          <p:cNvSpPr txBox="1"/>
          <p:nvPr/>
        </p:nvSpPr>
        <p:spPr>
          <a:xfrm>
            <a:off x="7557570" y="2256287"/>
            <a:ext cx="3921197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 i="1"/>
            </a:pPr>
            <a:r>
              <a:rPr lang="en-US" dirty="0"/>
              <a:t>Infant care as a share of estimated weekly median household income, 2018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7C8122-4A85-35D7-5BA8-074676223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F8E234-B93E-CFBA-842C-04D34947AB5A}"/>
              </a:ext>
            </a:extLst>
          </p:cNvPr>
          <p:cNvSpPr txBox="1"/>
          <p:nvPr/>
        </p:nvSpPr>
        <p:spPr>
          <a:xfrm>
            <a:off x="713233" y="6419088"/>
            <a:ext cx="103628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 dirty="0"/>
              <a:t>Even one childcare payment can take a meaningful share of local household earnings.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F50F909-D7B3-0112-8919-149BECE4E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183993"/>
              </p:ext>
            </p:extLst>
          </p:nvPr>
        </p:nvGraphicFramePr>
        <p:xfrm>
          <a:off x="640081" y="2085468"/>
          <a:ext cx="691749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BA0F56-3811-D27A-5781-FD7201E2452E}"/>
              </a:ext>
            </a:extLst>
          </p:cNvPr>
          <p:cNvSpPr txBox="1"/>
          <p:nvPr/>
        </p:nvSpPr>
        <p:spPr>
          <a:xfrm>
            <a:off x="713232" y="581558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/>
            </a:pPr>
            <a:r>
              <a:rPr dirty="0"/>
              <a:t>Based on county median household income ($49,888 annually / ~$959 weekly). This is county-level context, not a household-specific affordability calculation.</a:t>
            </a:r>
          </a:p>
        </p:txBody>
      </p:sp>
    </p:spTree>
    <p:extLst>
      <p:ext uri="{BB962C8B-B14F-4D97-AF65-F5344CB8AC3E}">
        <p14:creationId xmlns:p14="http://schemas.microsoft.com/office/powerpoint/2010/main" val="145352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BC04-8195-78E2-F356-0813A5B7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Parents Can Do with This Information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A3467A0E-0E47-1A39-7FA3-BC1F50AB60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48B9CF-37D7-4EA6-48F6-0E924F50FECC}"/>
              </a:ext>
            </a:extLst>
          </p:cNvPr>
          <p:cNvSpPr txBox="1"/>
          <p:nvPr/>
        </p:nvSpPr>
        <p:spPr>
          <a:xfrm>
            <a:off x="640079" y="6179557"/>
            <a:ext cx="10890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lang="en-US" dirty="0"/>
              <a:t>Knowing the local price pattern helps families plan, compare, and advocate earlier.</a:t>
            </a:r>
          </a:p>
        </p:txBody>
      </p:sp>
    </p:spTree>
    <p:extLst>
      <p:ext uri="{BB962C8B-B14F-4D97-AF65-F5344CB8AC3E}">
        <p14:creationId xmlns:p14="http://schemas.microsoft.com/office/powerpoint/2010/main" val="148762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2EB5C-11EE-99E9-A80A-D933231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Employers and Local Leaders Should Hear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638F8D5-B8C7-AB9C-C9C3-084063B0C3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" y="263347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89DA7C-9C20-5471-C1B8-B815A0DB8FD8}"/>
              </a:ext>
            </a:extLst>
          </p:cNvPr>
          <p:cNvSpPr txBox="1"/>
          <p:nvPr/>
        </p:nvSpPr>
        <p:spPr>
          <a:xfrm>
            <a:off x="640079" y="6364223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504D"/>
                </a:solidFill>
              </a:defRPr>
            </a:pPr>
            <a:r>
              <a:rPr dirty="0"/>
              <a:t>Childcare affordability acts like a work constraint for many families.</a:t>
            </a:r>
          </a:p>
        </p:txBody>
      </p:sp>
    </p:spTree>
    <p:extLst>
      <p:ext uri="{BB962C8B-B14F-4D97-AF65-F5344CB8AC3E}">
        <p14:creationId xmlns:p14="http://schemas.microsoft.com/office/powerpoint/2010/main" val="3192053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FA4B0-FE28-BC50-F106-0DF9489A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412998" cy="1839433"/>
          </a:xfrm>
        </p:spPr>
        <p:txBody>
          <a:bodyPr>
            <a:normAutofit/>
          </a:bodyPr>
          <a:lstStyle/>
          <a:p>
            <a:r>
              <a:rPr lang="en-US" sz="3600"/>
              <a:t>What This Dataset Does Not Show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BEC63-BB81-C02E-E04C-C718A2175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670" y="1014984"/>
            <a:ext cx="7029274" cy="5314686"/>
          </a:xfrm>
        </p:spPr>
        <p:txBody>
          <a:bodyPr>
            <a:normAutofit/>
          </a:bodyPr>
          <a:lstStyle/>
          <a:p>
            <a:r>
              <a:rPr lang="en-US"/>
              <a:t>These data show prices, not childcare slot availability</a:t>
            </a:r>
          </a:p>
          <a:p>
            <a:r>
              <a:rPr lang="en-US"/>
              <a:t>They do not include informal care from relatives or friends</a:t>
            </a:r>
          </a:p>
          <a:p>
            <a:r>
              <a:rPr lang="en-US"/>
              <a:t>Some values were standardized or imputed during dataset construction</a:t>
            </a:r>
          </a:p>
          <a:p>
            <a:r>
              <a:rPr lang="en-US"/>
              <a:t>County estimates do not equal every family's exact experience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The technical guide notes that price standardization and imputation can overestimate or underestimate true prices in some cases (U.S. DOL Women's Bureau, 2020).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93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B3B8-AD93-46D0-9415-B706E607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Dashboard for Your County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2066B-3A60-ED49-26AF-4D4585571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presentation shows the broad pattern. The dashboard lets users explore:</a:t>
            </a:r>
          </a:p>
          <a:p>
            <a:r>
              <a:rPr lang="en-US" dirty="0"/>
              <a:t>State and county selection</a:t>
            </a:r>
          </a:p>
          <a:p>
            <a:r>
              <a:rPr lang="en-US" dirty="0"/>
              <a:t>Year-over-year trends (2008–2018)</a:t>
            </a:r>
          </a:p>
          <a:p>
            <a:r>
              <a:rPr lang="en-US" dirty="0"/>
              <a:t>Provider type comparison</a:t>
            </a:r>
          </a:p>
          <a:p>
            <a:r>
              <a:rPr lang="en-US" dirty="0"/>
              <a:t>Age group breakdown</a:t>
            </a:r>
          </a:p>
          <a:p>
            <a:r>
              <a:rPr lang="en-US" dirty="0"/>
              <a:t>Price percentile views</a:t>
            </a:r>
          </a:p>
          <a:p>
            <a:r>
              <a:rPr lang="en-US" dirty="0"/>
              <a:t>Imputation notes and data quality flags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7EEE2-4BA0-D56E-F871-F156DD5CAD9E}"/>
              </a:ext>
            </a:extLst>
          </p:cNvPr>
          <p:cNvSpPr txBox="1"/>
          <p:nvPr/>
        </p:nvSpPr>
        <p:spPr>
          <a:xfrm>
            <a:off x="640079" y="6277596"/>
            <a:ext cx="8725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rPr dirty="0"/>
              <a:t>Use local childcare price data when asking for flexibility, benefits, or support.</a:t>
            </a:r>
          </a:p>
        </p:txBody>
      </p:sp>
      <p:pic>
        <p:nvPicPr>
          <p:cNvPr id="5" name="Picture 4" descr="QR Code Image">
            <a:extLst>
              <a:ext uri="{FF2B5EF4-FFF2-40B4-BE49-F238E27FC236}">
                <a16:creationId xmlns:a16="http://schemas.microsoft.com/office/drawing/2014/main" id="{051EFB25-A74C-1EEF-6B07-1785CDA7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444" y="3349592"/>
            <a:ext cx="2279985" cy="2279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0B97E8-81FC-5147-A325-97AF008B2480}"/>
              </a:ext>
            </a:extLst>
          </p:cNvPr>
          <p:cNvSpPr txBox="1"/>
          <p:nvPr/>
        </p:nvSpPr>
        <p:spPr>
          <a:xfrm>
            <a:off x="8225445" y="5729938"/>
            <a:ext cx="22799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Dashboard QR Code </a:t>
            </a:r>
            <a:r>
              <a:rPr lang="en-US" sz="900" dirty="0"/>
              <a:t>(mock)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578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567</Words>
  <Application>Microsoft Macintosh PowerPoint</Application>
  <PresentationFormat>Widescreen</PresentationFormat>
  <Paragraphs>71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Bierstadt</vt:lpstr>
      <vt:lpstr>Grandview Display</vt:lpstr>
      <vt:lpstr>DashVTI</vt:lpstr>
      <vt:lpstr>Childcare Prices Change Fast in the Early Years</vt:lpstr>
      <vt:lpstr>What the Data Measures</vt:lpstr>
      <vt:lpstr>The Earliest Years Cost the Most</vt:lpstr>
      <vt:lpstr>Center-Based Care Usually Costs More</vt:lpstr>
      <vt:lpstr>Where You Live Changes What Families Pay</vt:lpstr>
      <vt:lpstr>Where You Live Changes What Families Pay</vt:lpstr>
      <vt:lpstr>What Parents Can Do with This Information</vt:lpstr>
      <vt:lpstr>What Employers and Local Leaders Should Hear</vt:lpstr>
      <vt:lpstr>What This Dataset Does Not Show</vt:lpstr>
      <vt:lpstr>Use the Dashboard for Your County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Steen, Jonathan E</dc:creator>
  <cp:lastModifiedBy>Steen, Jonathan E</cp:lastModifiedBy>
  <cp:revision>3</cp:revision>
  <dcterms:created xsi:type="dcterms:W3CDTF">2026-03-09T02:58:21Z</dcterms:created>
  <dcterms:modified xsi:type="dcterms:W3CDTF">2026-03-09T04:18:45Z</dcterms:modified>
</cp:coreProperties>
</file>